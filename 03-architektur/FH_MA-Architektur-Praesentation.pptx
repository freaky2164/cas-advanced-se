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Entscheidungsmatrix (gewichtet)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Gewichtete Bewertung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3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DEE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Spring Boot / Java 21</c:v>
                  </c:pt>
                  <c:pt idx="1">
                    <c:v>ASP.NET Core / C#</c:v>
                  </c:pt>
                  <c:pt idx="2">
                    <c:v>Django / Python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4.65</c:v>
                </c:pt>
                <c:pt idx="1">
                  <c:v>3.85</c:v>
                </c:pt>
                <c:pt idx="2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44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</c:scaling>
        <c:delete val="0"/>
        <c:axPos val="b"/>
        <c:majorGridlines>
          <c:spPr>
            <a:ln w="6350" cap="flat">
              <a:solidFill>
                <a:srgbClr val="E1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image" Target="../media/image-9-8.png"/><Relationship Id="rId10" Type="http://schemas.openxmlformats.org/officeDocument/2006/relationships/image" Target="../media/image-9-9.png"/><Relationship Id="rId11" Type="http://schemas.openxmlformats.org/officeDocument/2006/relationships/image" Target="../media/image-9-1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914400"/>
            <a:ext cx="310896" cy="5029200"/>
          </a:xfrm>
          <a:prstGeom prst="rect">
            <a:avLst/>
          </a:prstGeom>
          <a:solidFill>
            <a:srgbClr val="CADCFC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36608" y="914400"/>
            <a:ext cx="310896" cy="4206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10003536" y="914400"/>
            <a:ext cx="310896" cy="338328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FH_MA MODERNISIERUNG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2331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Fat-Client zur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modernen Web-Architektur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 · Architekturentscheidungen · neuer Technologie-Stack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die finale Systemarchitektur im Detailvergleich zum Alt-System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45720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Frauenhaus e.V.  ·  Backend-/Frontend-Neuentwicklung  ·  Juli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Sie erwartet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53312" y="17647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53312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Qualitätsmerkmale, funktionale &amp; nicht-funktionale Anforderungen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386584"/>
            <a:ext cx="5074920" cy="0"/>
          </a:xfrm>
          <a:prstGeom prst="line">
            <a:avLst/>
          </a:prstGeom>
          <a:noFill/>
          <a:ln w="12700">
            <a:solidFill>
              <a:srgbClr val="2E37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3288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53312" y="25146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Alt-System FH_MA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53312" y="280720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IST-Zustand des bestehenden Java-Swing-Fat-Clients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136392"/>
            <a:ext cx="5074920" cy="0"/>
          </a:xfrm>
          <a:prstGeom prst="line">
            <a:avLst/>
          </a:prstGeom>
          <a:noFill/>
          <a:ln w="12700">
            <a:solidFill>
              <a:srgbClr val="2E37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8269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53312" y="32644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Architekturentscheidungen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53312" y="35570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zentralen ADRs: Architekturstil, Tech-Stack, Auth &amp; RBAC, Backup, Deployment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72200" y="178308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85432" y="17647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Technologie-Stack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85432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Angular, PostgreSQL – mit Anforderungsbezug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2386584"/>
            <a:ext cx="5074920" cy="0"/>
          </a:xfrm>
          <a:prstGeom prst="line">
            <a:avLst/>
          </a:prstGeom>
          <a:noFill/>
          <a:ln w="12700">
            <a:solidFill>
              <a:srgbClr val="2E37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53288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85432" y="25146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Architektur im Detail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885432" y="280720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Komponenten und ihre Beziehungen zueinander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136392"/>
            <a:ext cx="5074920" cy="0"/>
          </a:xfrm>
          <a:prstGeom prst="line">
            <a:avLst/>
          </a:prstGeom>
          <a:noFill/>
          <a:ln w="12700">
            <a:solidFill>
              <a:srgbClr val="2E37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282696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85432" y="32644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885432" y="35570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im Vergleich zum Alt-System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 · QUALITÄTSMERKMALE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Qualitätsmerkmale nach Stakeholder (ISO/IEC 25010)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166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810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2" y="1875892"/>
            <a:ext cx="372161" cy="3721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1828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Sicht Benutzer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" y="2514600"/>
            <a:ext cx="6400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468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Funktionale Eignung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96112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Spenden korrekt &amp; zuverlässig speichern, Reports korrekt erzeugen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3081528"/>
            <a:ext cx="6400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3035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Benutzerfreundlichkeit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96112" y="3282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Bedienung auch ohne technischen Hintergrund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3648456"/>
            <a:ext cx="6400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36027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96112" y="38496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Verarbeitung personenbezogener Daten gemäß DSGVO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4215384"/>
            <a:ext cx="64008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896112" y="41696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Wartbarkeit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96112" y="4416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sekundäre Priorität für Endbenutzer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80760" y="1554480"/>
            <a:ext cx="5166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336792" y="1810512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172" y="1875892"/>
            <a:ext cx="372161" cy="37216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76872" y="1828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Sicht Administrator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355080" y="2514600"/>
            <a:ext cx="64008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Text 24"/>
          <p:cNvSpPr/>
          <p:nvPr/>
        </p:nvSpPr>
        <p:spPr>
          <a:xfrm>
            <a:off x="6519672" y="2468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Zuverlässigkeit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519672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Verfügbarkeit und Fehlertoleranz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355080" y="3081528"/>
            <a:ext cx="64008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Text 27"/>
          <p:cNvSpPr/>
          <p:nvPr/>
        </p:nvSpPr>
        <p:spPr>
          <a:xfrm>
            <a:off x="6519672" y="3035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519672" y="3282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Sicherstellung der DSGVO-Einhaltung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355080" y="3648456"/>
            <a:ext cx="64008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4" name="Text 30"/>
          <p:cNvSpPr/>
          <p:nvPr/>
        </p:nvSpPr>
        <p:spPr>
          <a:xfrm>
            <a:off x="6519672" y="36027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Wartbarkeit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6519672" y="38496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Wartung, minimaler Administrationsaufwand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5720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tragende Säulen der Architektur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457200" y="5349240"/>
            <a:ext cx="2606040" cy="960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21792" y="5568696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2" y="5634076"/>
            <a:ext cx="372161" cy="372161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234440" y="53492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Funktionale Eignung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3200400" y="5349240"/>
            <a:ext cx="2606040" cy="960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3364992" y="5568696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72" y="5634076"/>
            <a:ext cx="372161" cy="372161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3977640" y="53492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Zuverlässigkeit</a:t>
            </a:r>
            <a:endParaRPr lang="en-US" sz="1250" dirty="0"/>
          </a:p>
        </p:txBody>
      </p:sp>
      <p:sp>
        <p:nvSpPr>
          <p:cNvPr id="45" name="Shape 39"/>
          <p:cNvSpPr/>
          <p:nvPr/>
        </p:nvSpPr>
        <p:spPr>
          <a:xfrm>
            <a:off x="5943600" y="5349240"/>
            <a:ext cx="2606040" cy="960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6108192" y="5568696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572" y="5634076"/>
            <a:ext cx="372161" cy="372161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720840" y="53492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Wartbarkeit</a:t>
            </a:r>
            <a:endParaRPr lang="en-US" sz="1250" dirty="0"/>
          </a:p>
        </p:txBody>
      </p:sp>
      <p:sp>
        <p:nvSpPr>
          <p:cNvPr id="49" name="Shape 42"/>
          <p:cNvSpPr/>
          <p:nvPr/>
        </p:nvSpPr>
        <p:spPr>
          <a:xfrm>
            <a:off x="8686800" y="5349240"/>
            <a:ext cx="2606040" cy="960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8851392" y="5568696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6772" y="5634076"/>
            <a:ext cx="372161" cy="372161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9464040" y="53492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(DSGVO)</a:t>
            </a:r>
            <a:endParaRPr lang="en-US" sz="1250" dirty="0"/>
          </a:p>
        </p:txBody>
      </p:sp>
      <p:sp>
        <p:nvSpPr>
          <p:cNvPr id="53" name="Text 4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 · FUNKTIONAL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Funktionale Anforderungen FR-1 – FR-12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36192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1673352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718" y="1723278"/>
            <a:ext cx="284196" cy="2841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" y="2066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Benutzerverwaltung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1792" y="2340864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+ Rollen (Admin/Sachbearbeiter)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3282696" y="153619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82696" y="1536192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3447288" y="1673352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214" y="1723278"/>
            <a:ext cx="284196" cy="2841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04488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47288" y="2066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Mitglieder &amp; Adressen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447288" y="2340864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Anlegen, bearbeiten, löschen, suchen, filtern</a:t>
            </a:r>
            <a:endParaRPr lang="en-US" sz="870" dirty="0"/>
          </a:p>
        </p:txBody>
      </p:sp>
      <p:sp>
        <p:nvSpPr>
          <p:cNvPr id="21" name="Shape 17"/>
          <p:cNvSpPr/>
          <p:nvPr/>
        </p:nvSpPr>
        <p:spPr>
          <a:xfrm>
            <a:off x="6108192" y="153619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08192" y="1536192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19"/>
          <p:cNvSpPr/>
          <p:nvPr/>
        </p:nvSpPr>
        <p:spPr>
          <a:xfrm>
            <a:off x="6272784" y="1673352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710" y="1723278"/>
            <a:ext cx="284196" cy="2841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29984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272784" y="2066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Spenden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272784" y="2340864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Geldspenden erfassen, ändern, löschen, anzeigen</a:t>
            </a:r>
            <a:endParaRPr lang="en-US" sz="870" dirty="0"/>
          </a:p>
        </p:txBody>
      </p:sp>
      <p:sp>
        <p:nvSpPr>
          <p:cNvPr id="28" name="Shape 23"/>
          <p:cNvSpPr/>
          <p:nvPr/>
        </p:nvSpPr>
        <p:spPr>
          <a:xfrm>
            <a:off x="8933688" y="153619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933688" y="1536192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5"/>
          <p:cNvSpPr/>
          <p:nvPr/>
        </p:nvSpPr>
        <p:spPr>
          <a:xfrm>
            <a:off x="9098280" y="1673352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206" y="1723278"/>
            <a:ext cx="284196" cy="2841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555480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9098280" y="2066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Bußgelder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098280" y="2340864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Verwaltung inkl. Status offen/teilw./bezahlt</a:t>
            </a:r>
            <a:endParaRPr lang="en-US" sz="870" dirty="0"/>
          </a:p>
        </p:txBody>
      </p:sp>
      <p:sp>
        <p:nvSpPr>
          <p:cNvPr id="35" name="Shape 29"/>
          <p:cNvSpPr/>
          <p:nvPr/>
        </p:nvSpPr>
        <p:spPr>
          <a:xfrm>
            <a:off x="457200" y="296265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7200" y="2962656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1"/>
          <p:cNvSpPr/>
          <p:nvPr/>
        </p:nvSpPr>
        <p:spPr>
          <a:xfrm>
            <a:off x="621792" y="3099816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18" y="3149742"/>
            <a:ext cx="284196" cy="28419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078992" y="3072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621792" y="34930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Zahlungseingänge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621792" y="376732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viele je Bußgeld, Rest automatisch</a:t>
            </a:r>
            <a:endParaRPr lang="en-US" sz="870" dirty="0"/>
          </a:p>
        </p:txBody>
      </p:sp>
      <p:sp>
        <p:nvSpPr>
          <p:cNvPr id="42" name="Shape 35"/>
          <p:cNvSpPr/>
          <p:nvPr/>
        </p:nvSpPr>
        <p:spPr>
          <a:xfrm>
            <a:off x="3282696" y="296265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282696" y="2962656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Shape 37"/>
          <p:cNvSpPr/>
          <p:nvPr/>
        </p:nvSpPr>
        <p:spPr>
          <a:xfrm>
            <a:off x="3447288" y="3099816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214" y="3149742"/>
            <a:ext cx="284196" cy="28419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904488" y="3072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3447288" y="34930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Gerichtsverwaltung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3447288" y="376732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Anlegen, bearbeiten, löschen, suchen</a:t>
            </a:r>
            <a:endParaRPr lang="en-US" sz="870" dirty="0"/>
          </a:p>
        </p:txBody>
      </p:sp>
      <p:sp>
        <p:nvSpPr>
          <p:cNvPr id="49" name="Shape 41"/>
          <p:cNvSpPr/>
          <p:nvPr/>
        </p:nvSpPr>
        <p:spPr>
          <a:xfrm>
            <a:off x="6108192" y="296265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6108192" y="2962656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1" name="Shape 43"/>
          <p:cNvSpPr/>
          <p:nvPr/>
        </p:nvSpPr>
        <p:spPr>
          <a:xfrm>
            <a:off x="6272784" y="3099816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2710" y="3149742"/>
            <a:ext cx="284196" cy="284196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6729984" y="3072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6272784" y="34930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 (Admin)</a:t>
            </a:r>
            <a:endParaRPr lang="en-US" sz="1150" dirty="0"/>
          </a:p>
        </p:txBody>
      </p:sp>
      <p:sp>
        <p:nvSpPr>
          <p:cNvPr id="55" name="Text 46"/>
          <p:cNvSpPr/>
          <p:nvPr/>
        </p:nvSpPr>
        <p:spPr>
          <a:xfrm>
            <a:off x="6272784" y="376732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Spendenarten, Anreden, Status, Vereine, Gerichte</a:t>
            </a:r>
            <a:endParaRPr lang="en-US" sz="870" dirty="0"/>
          </a:p>
        </p:txBody>
      </p:sp>
      <p:sp>
        <p:nvSpPr>
          <p:cNvPr id="56" name="Shape 47"/>
          <p:cNvSpPr/>
          <p:nvPr/>
        </p:nvSpPr>
        <p:spPr>
          <a:xfrm>
            <a:off x="8933688" y="2962656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8933688" y="2962656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8" name="Shape 49"/>
          <p:cNvSpPr/>
          <p:nvPr/>
        </p:nvSpPr>
        <p:spPr>
          <a:xfrm>
            <a:off x="9098280" y="3099816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8206" y="3149742"/>
            <a:ext cx="284196" cy="284196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9555480" y="3072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FR-8</a:t>
            </a:r>
            <a:endParaRPr lang="en-US" sz="1000" dirty="0"/>
          </a:p>
        </p:txBody>
      </p:sp>
      <p:sp>
        <p:nvSpPr>
          <p:cNvPr id="61" name="Text 51"/>
          <p:cNvSpPr/>
          <p:nvPr/>
        </p:nvSpPr>
        <p:spPr>
          <a:xfrm>
            <a:off x="9098280" y="34930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Auswertungen</a:t>
            </a:r>
            <a:endParaRPr lang="en-US" sz="1150" dirty="0"/>
          </a:p>
        </p:txBody>
      </p:sp>
      <p:sp>
        <p:nvSpPr>
          <p:cNvPr id="62" name="Text 52"/>
          <p:cNvSpPr/>
          <p:nvPr/>
        </p:nvSpPr>
        <p:spPr>
          <a:xfrm>
            <a:off x="9098280" y="376732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Spenden-, Bußgeld-, Vereinsstatistiken</a:t>
            </a:r>
            <a:endParaRPr lang="en-US" sz="870" dirty="0"/>
          </a:p>
        </p:txBody>
      </p:sp>
      <p:sp>
        <p:nvSpPr>
          <p:cNvPr id="63" name="Shape 53"/>
          <p:cNvSpPr/>
          <p:nvPr/>
        </p:nvSpPr>
        <p:spPr>
          <a:xfrm>
            <a:off x="457200" y="438912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64" name="Shape 54"/>
          <p:cNvSpPr/>
          <p:nvPr/>
        </p:nvSpPr>
        <p:spPr>
          <a:xfrm>
            <a:off x="457200" y="4389120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5" name="Shape 55"/>
          <p:cNvSpPr/>
          <p:nvPr/>
        </p:nvSpPr>
        <p:spPr>
          <a:xfrm>
            <a:off x="621792" y="4526280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718" y="4576206"/>
            <a:ext cx="284196" cy="284196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1078992" y="4498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FR-9</a:t>
            </a:r>
            <a:endParaRPr lang="en-US" sz="1000" dirty="0"/>
          </a:p>
        </p:txBody>
      </p:sp>
      <p:sp>
        <p:nvSpPr>
          <p:cNvPr id="68" name="Text 57"/>
          <p:cNvSpPr/>
          <p:nvPr/>
        </p:nvSpPr>
        <p:spPr>
          <a:xfrm>
            <a:off x="621792" y="491947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Spendenbescheinigungen</a:t>
            </a:r>
            <a:endParaRPr lang="en-US" sz="1150" dirty="0"/>
          </a:p>
        </p:txBody>
      </p:sp>
      <p:sp>
        <p:nvSpPr>
          <p:cNvPr id="69" name="Text 58"/>
          <p:cNvSpPr/>
          <p:nvPr/>
        </p:nvSpPr>
        <p:spPr>
          <a:xfrm>
            <a:off x="621792" y="51937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Automatisiert, je Verein &amp; Spendenart</a:t>
            </a:r>
            <a:endParaRPr lang="en-US" sz="870" dirty="0"/>
          </a:p>
        </p:txBody>
      </p:sp>
      <p:sp>
        <p:nvSpPr>
          <p:cNvPr id="70" name="Shape 59"/>
          <p:cNvSpPr/>
          <p:nvPr/>
        </p:nvSpPr>
        <p:spPr>
          <a:xfrm>
            <a:off x="3282696" y="438912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71" name="Shape 60"/>
          <p:cNvSpPr/>
          <p:nvPr/>
        </p:nvSpPr>
        <p:spPr>
          <a:xfrm>
            <a:off x="3282696" y="4389120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2" name="Shape 61"/>
          <p:cNvSpPr/>
          <p:nvPr/>
        </p:nvSpPr>
        <p:spPr>
          <a:xfrm>
            <a:off x="3447288" y="4526280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7214" y="4576206"/>
            <a:ext cx="284196" cy="284196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3904488" y="4498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</a:t>
            </a:r>
            <a:endParaRPr lang="en-US" sz="1000" dirty="0"/>
          </a:p>
        </p:txBody>
      </p:sp>
      <p:sp>
        <p:nvSpPr>
          <p:cNvPr id="75" name="Text 63"/>
          <p:cNvSpPr/>
          <p:nvPr/>
        </p:nvSpPr>
        <p:spPr>
          <a:xfrm>
            <a:off x="3447288" y="491947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Serienbriefe</a:t>
            </a:r>
            <a:endParaRPr lang="en-US" sz="1150" dirty="0"/>
          </a:p>
        </p:txBody>
      </p:sp>
      <p:sp>
        <p:nvSpPr>
          <p:cNvPr id="76" name="Text 64"/>
          <p:cNvSpPr/>
          <p:nvPr/>
        </p:nvSpPr>
        <p:spPr>
          <a:xfrm>
            <a:off x="3447288" y="51937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Kontakt, Briefanrede, Vereinszugehörigkeit</a:t>
            </a:r>
            <a:endParaRPr lang="en-US" sz="870" dirty="0"/>
          </a:p>
        </p:txBody>
      </p:sp>
      <p:sp>
        <p:nvSpPr>
          <p:cNvPr id="77" name="Shape 65"/>
          <p:cNvSpPr/>
          <p:nvPr/>
        </p:nvSpPr>
        <p:spPr>
          <a:xfrm>
            <a:off x="6108192" y="438912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78" name="Shape 66"/>
          <p:cNvSpPr/>
          <p:nvPr/>
        </p:nvSpPr>
        <p:spPr>
          <a:xfrm>
            <a:off x="6108192" y="4389120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9" name="Shape 67"/>
          <p:cNvSpPr/>
          <p:nvPr/>
        </p:nvSpPr>
        <p:spPr>
          <a:xfrm>
            <a:off x="6272784" y="4526280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8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2710" y="4576206"/>
            <a:ext cx="284196" cy="284196"/>
          </a:xfrm>
          <a:prstGeom prst="rect">
            <a:avLst/>
          </a:prstGeom>
        </p:spPr>
      </p:pic>
      <p:sp>
        <p:nvSpPr>
          <p:cNvPr id="81" name="Text 68"/>
          <p:cNvSpPr/>
          <p:nvPr/>
        </p:nvSpPr>
        <p:spPr>
          <a:xfrm>
            <a:off x="6729984" y="4498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</a:t>
            </a:r>
            <a:endParaRPr lang="en-US" sz="1000" dirty="0"/>
          </a:p>
        </p:txBody>
      </p:sp>
      <p:sp>
        <p:nvSpPr>
          <p:cNvPr id="82" name="Text 69"/>
          <p:cNvSpPr/>
          <p:nvPr/>
        </p:nvSpPr>
        <p:spPr>
          <a:xfrm>
            <a:off x="6272784" y="491947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</a:t>
            </a:r>
            <a:endParaRPr lang="en-US" sz="1150" dirty="0"/>
          </a:p>
        </p:txBody>
      </p:sp>
      <p:sp>
        <p:nvSpPr>
          <p:cNvPr id="83" name="Text 70"/>
          <p:cNvSpPr/>
          <p:nvPr/>
        </p:nvSpPr>
        <p:spPr>
          <a:xfrm>
            <a:off x="6272784" y="51937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Pflichtfelder, gültige Werte</a:t>
            </a:r>
            <a:endParaRPr lang="en-US" sz="870" dirty="0"/>
          </a:p>
        </p:txBody>
      </p:sp>
      <p:sp>
        <p:nvSpPr>
          <p:cNvPr id="84" name="Shape 71"/>
          <p:cNvSpPr/>
          <p:nvPr/>
        </p:nvSpPr>
        <p:spPr>
          <a:xfrm>
            <a:off x="8933688" y="4389120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10000"/>
              </a:srgbClr>
            </a:outerShdw>
          </a:effectLst>
        </p:spPr>
      </p:sp>
      <p:sp>
        <p:nvSpPr>
          <p:cNvPr id="85" name="Shape 72"/>
          <p:cNvSpPr/>
          <p:nvPr/>
        </p:nvSpPr>
        <p:spPr>
          <a:xfrm>
            <a:off x="8933688" y="4389120"/>
            <a:ext cx="54864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6" name="Shape 73"/>
          <p:cNvSpPr/>
          <p:nvPr/>
        </p:nvSpPr>
        <p:spPr>
          <a:xfrm>
            <a:off x="9098280" y="4526280"/>
            <a:ext cx="384048" cy="384048"/>
          </a:xfrm>
          <a:prstGeom prst="ellipse">
            <a:avLst/>
          </a:prstGeom>
          <a:solidFill>
            <a:srgbClr val="E9F2F4"/>
          </a:solidFill>
          <a:ln/>
        </p:spPr>
      </p:sp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8206" y="4576206"/>
            <a:ext cx="284196" cy="284196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9555480" y="4498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</a:t>
            </a:r>
            <a:endParaRPr lang="en-US" sz="1000" dirty="0"/>
          </a:p>
        </p:txBody>
      </p:sp>
      <p:sp>
        <p:nvSpPr>
          <p:cNvPr id="89" name="Text 75"/>
          <p:cNvSpPr/>
          <p:nvPr/>
        </p:nvSpPr>
        <p:spPr>
          <a:xfrm>
            <a:off x="9098280" y="491947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Datenkonsistenz</a:t>
            </a:r>
            <a:endParaRPr lang="en-US" sz="1150" dirty="0"/>
          </a:p>
        </p:txBody>
      </p:sp>
      <p:sp>
        <p:nvSpPr>
          <p:cNvPr id="90" name="Text 76"/>
          <p:cNvSpPr/>
          <p:nvPr/>
        </p:nvSpPr>
        <p:spPr>
          <a:xfrm>
            <a:off x="9098280" y="519379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inkonsistenten Daten zulässig</a:t>
            </a:r>
            <a:endParaRPr lang="en-US" sz="870" dirty="0"/>
          </a:p>
        </p:txBody>
      </p:sp>
      <p:sp>
        <p:nvSpPr>
          <p:cNvPr id="91" name="Text 77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92" name="Text 78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 · NICHT-FUNKTIONAL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Nicht-funktionale Anforderungen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764792"/>
            <a:ext cx="512064" cy="512064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936" y="1831360"/>
            <a:ext cx="378927" cy="3789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1911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/ DSGVO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1600200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personenbezogenen Daten werden gemäß DSGVO verarbeitet.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569464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" y="273405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36" y="2800624"/>
            <a:ext cx="378927" cy="3789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660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37160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Zuverlässigkeit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72000" y="2569464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muss stabil sein, um den Wartungsaufwand gering zu halten.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57200" y="3538728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8368" y="37033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36" y="3769888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630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37160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Modularer Aufbau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572000" y="3538728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 Struktur für einfache Wartbarkeit.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57200" y="4507992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" y="4672584"/>
            <a:ext cx="512064" cy="512064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36" y="4739152"/>
            <a:ext cx="378927" cy="37892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45994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371600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72000" y="4507992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Vollumfängliche, automatisierte, verschlüsselte Sicherung inkl. DSGVO-Fristen.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57200" y="5477256"/>
            <a:ext cx="11247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58368" y="56418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36" y="5708416"/>
            <a:ext cx="378927" cy="37892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71600" y="5568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NFR-5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371600" y="57881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Bedienbarkeit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572000" y="5477256"/>
            <a:ext cx="6949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Bedienbar für Personen ohne technischen Hintergrund.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ALT-SYSTEM · IST-ZUSTAND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FH_MA: Java-Swing-Fat-Client (ca. 2005 – 2013)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47472" cy="347472"/>
          </a:xfrm>
          <a:prstGeom prst="ellipse">
            <a:avLst/>
          </a:prstGeom>
          <a:solidFill>
            <a:srgbClr val="F6E4D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371" y="1617939"/>
            <a:ext cx="257129" cy="2571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5453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Desktop-Anwendung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2688" y="17922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Swing-UI-Framework „compucrash“ (CInfoFrame/CListFrame) für generisches CRUD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347472" cy="347472"/>
          </a:xfrm>
          <a:prstGeom prst="ellipse">
            <a:avLst/>
          </a:prstGeom>
          <a:solidFill>
            <a:srgbClr val="F6E4D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1" y="2376891"/>
            <a:ext cx="257129" cy="2571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" y="2304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pro Arbeitsplatz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32688" y="25511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Änderung erfordert Neuinstallation auf allen PCs – kein zentrales Deployment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F6E4D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71" y="3135843"/>
            <a:ext cx="257129" cy="2571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3063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Direkter Datenbankzugriff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32688" y="3310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Client spricht per JDBC direkt mit MS SQL Server Express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849624"/>
            <a:ext cx="347472" cy="347472"/>
          </a:xfrm>
          <a:prstGeom prst="ellipse">
            <a:avLst/>
          </a:prstGeom>
          <a:solidFill>
            <a:srgbClr val="F6E4D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71" y="3894795"/>
            <a:ext cx="257129" cy="2571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2688" y="3822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Zugangsdaten im Klartext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32688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DB-Credentials liegen unverschlüsselt in lokalen .ini-Dateien auf jedem PC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4608576"/>
            <a:ext cx="347472" cy="347472"/>
          </a:xfrm>
          <a:prstGeom prst="ellipse">
            <a:avLst/>
          </a:prstGeom>
          <a:solidFill>
            <a:srgbClr val="F6E4D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371" y="4653747"/>
            <a:ext cx="257129" cy="25712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2688" y="45811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per String-Konkatenation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32688" y="4828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Prepared Statements – strukturelles SQL-Injection-Risiko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57200" y="5367528"/>
            <a:ext cx="347472" cy="347472"/>
          </a:xfrm>
          <a:prstGeom prst="ellipse">
            <a:avLst/>
          </a:prstGeom>
          <a:solidFill>
            <a:srgbClr val="F6E4D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71" y="5412699"/>
            <a:ext cx="257129" cy="25712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32688" y="53400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Rollenkonzept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32688" y="55869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anwendungsseitige Zugriffskontrolle, kein zentrales Logging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92240" y="1508760"/>
            <a:ext cx="5212080" cy="4572000"/>
          </a:xfrm>
          <a:prstGeom prst="rect">
            <a:avLst/>
          </a:prstGeom>
          <a:solidFill>
            <a:srgbClr val="FBF3F0"/>
          </a:solidFill>
          <a:ln w="12700">
            <a:solidFill>
              <a:srgbClr val="EAD2C9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6656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2-Schichten-Architektur (Alt)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766560" y="2148840"/>
            <a:ext cx="21488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5533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876288" y="2240280"/>
            <a:ext cx="320040" cy="3200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7893" y="2281885"/>
            <a:ext cx="236830" cy="23683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278624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Fat-Client PC 1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8915400" y="2400300"/>
            <a:ext cx="960120" cy="0"/>
          </a:xfrm>
          <a:prstGeom prst="line">
            <a:avLst/>
          </a:prstGeom>
          <a:noFill/>
          <a:ln w="19050">
            <a:solidFill>
              <a:srgbClr val="B5533C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6766560" y="2807208"/>
            <a:ext cx="21488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5533C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876288" y="2898648"/>
            <a:ext cx="320040" cy="3200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7893" y="2940253"/>
            <a:ext cx="236830" cy="23683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278624" y="28072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Fat-Client PC 2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915400" y="3058668"/>
            <a:ext cx="960120" cy="0"/>
          </a:xfrm>
          <a:prstGeom prst="line">
            <a:avLst/>
          </a:prstGeom>
          <a:noFill/>
          <a:ln w="19050">
            <a:solidFill>
              <a:srgbClr val="B5533C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6766560" y="3465576"/>
            <a:ext cx="21488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5533C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876288" y="3557016"/>
            <a:ext cx="320040" cy="3200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7893" y="3598621"/>
            <a:ext cx="236830" cy="23683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278624" y="34655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Fat-Client PC …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8915400" y="3717036"/>
            <a:ext cx="960120" cy="0"/>
          </a:xfrm>
          <a:prstGeom prst="line">
            <a:avLst/>
          </a:prstGeom>
          <a:noFill/>
          <a:ln w="19050">
            <a:solidFill>
              <a:srgbClr val="B5533C"/>
            </a:solidFill>
            <a:prstDash val="solid"/>
            <a:tailEnd type="triangle"/>
          </a:ln>
        </p:spPr>
      </p:sp>
      <p:sp>
        <p:nvSpPr>
          <p:cNvPr id="48" name="Text 37"/>
          <p:cNvSpPr/>
          <p:nvPr/>
        </p:nvSpPr>
        <p:spPr>
          <a:xfrm>
            <a:off x="8869680" y="19568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· Klartext-Credentials</a:t>
            </a:r>
            <a:endParaRPr lang="en-US" sz="750" dirty="0"/>
          </a:p>
        </p:txBody>
      </p:sp>
      <p:sp>
        <p:nvSpPr>
          <p:cNvPr id="49" name="Shape 38"/>
          <p:cNvSpPr/>
          <p:nvPr/>
        </p:nvSpPr>
        <p:spPr>
          <a:xfrm>
            <a:off x="9966960" y="2880360"/>
            <a:ext cx="1463040" cy="1005840"/>
          </a:xfrm>
          <a:prstGeom prst="rect">
            <a:avLst/>
          </a:prstGeom>
          <a:solidFill>
            <a:srgbClr val="B5533C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10469880" y="3035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9316" y="3095244"/>
            <a:ext cx="338328" cy="33832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1005840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850" dirty="0"/>
          </a:p>
        </p:txBody>
      </p:sp>
      <p:sp>
        <p:nvSpPr>
          <p:cNvPr id="53" name="Text 41"/>
          <p:cNvSpPr/>
          <p:nvPr/>
        </p:nvSpPr>
        <p:spPr>
          <a:xfrm>
            <a:off x="676656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Ergänzend: Outlook-COM-Interop für Serienbrief-Versand, ImportExcel-Modul verwaist/ungenutzt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ALT-SYSTEM · ABLEITUNG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Probleme des Alt-Systems als Architektur-Treiber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64008" cy="713232"/>
          </a:xfrm>
          <a:prstGeom prst="rect">
            <a:avLst/>
          </a:prstGeom>
          <a:solidFill>
            <a:srgbClr val="B5533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002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zentraler Sicherheitsfilter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81965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0" y="160020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SQL-Injection möglich, DSGVO-Risiko bei jedem Client-Zugriff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441448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441448"/>
            <a:ext cx="64008" cy="713232"/>
          </a:xfrm>
          <a:prstGeom prst="rect">
            <a:avLst/>
          </a:prstGeom>
          <a:solidFill>
            <a:srgbClr val="B5533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44144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Client-seitige Installation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26480" y="244144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nur manuell, PC für PC – hoher Wartungsaufwand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282696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282696"/>
            <a:ext cx="64008" cy="713232"/>
          </a:xfrm>
          <a:prstGeom prst="rect">
            <a:avLst/>
          </a:prstGeom>
          <a:solidFill>
            <a:srgbClr val="B5533C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3282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anwendungsseitiges Rollenkonzept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50215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282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nachweisbare rollenbasierte Zugriffskontrolle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123944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4123944"/>
            <a:ext cx="64008" cy="713232"/>
          </a:xfrm>
          <a:prstGeom prst="rect">
            <a:avLst/>
          </a:prstGeom>
          <a:solidFill>
            <a:srgbClr val="B5533C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412394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zentrales Logging</a:t>
            </a:r>
            <a:endParaRPr lang="en-US" sz="12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34340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26480" y="412394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Fehleranalyse, Nachvollziehbarkeit &amp; Audit kaum möglich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965192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4965192"/>
            <a:ext cx="64008" cy="713232"/>
          </a:xfrm>
          <a:prstGeom prst="rect">
            <a:avLst/>
          </a:prstGeom>
          <a:solidFill>
            <a:srgbClr val="B5533C"/>
          </a:solidFill>
          <a:ln/>
        </p:spPr>
      </p:sp>
      <p:sp>
        <p:nvSpPr>
          <p:cNvPr id="29" name="Text 23"/>
          <p:cNvSpPr/>
          <p:nvPr/>
        </p:nvSpPr>
        <p:spPr>
          <a:xfrm>
            <a:off x="685800" y="49651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Monolithischer Swing-Client</a:t>
            </a:r>
            <a:endParaRPr lang="en-US" sz="12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18464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26480" y="496519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 erfordert seltenes Swing-Spezialwissen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57200" y="5852160"/>
            <a:ext cx="112471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26"/>
          <p:cNvSpPr/>
          <p:nvPr/>
        </p:nvSpPr>
        <p:spPr>
          <a:xfrm>
            <a:off x="685800" y="585216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Anwendungsschicht mit Authentifizierung, Validierung &amp; Zugriffskontrolle → 3-Schichten-Architektur (ADR-001)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 · ARCHITEKTURENTSCHEIDUNG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Architekturstil: 3-Schichten statt Fat-Client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246120" cy="11430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55571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6916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(SPA)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794760" y="2263140"/>
            <a:ext cx="7772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84048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1691640"/>
            <a:ext cx="3246120" cy="1143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23" y="2055571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6916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(Windows-Dienst)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7818120" y="2263140"/>
            <a:ext cx="7772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7863840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595360" y="1691640"/>
            <a:ext cx="3246120" cy="11430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823960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283" y="2055571"/>
            <a:ext cx="405994" cy="4059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09760" y="16916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48640" y="29992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 → Anwendungslogik → Daten – jede Schicht mit klar getrennter Verantwortung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0156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70632"/>
                <a:gridCol w="2770632"/>
                <a:gridCol w="27797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Client (2-Schichten)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3-Schichten ✓ gewählt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Install je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kein Client-Install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nur Browser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Sicherheit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DB-Credentials am 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zentral je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zentrale Sicherheitsbarriere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Betriebskomplexität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einfach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Orchestrierung nötig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ein Server, beherrschbar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Passend für kleines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Wartung aufwändig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überdimensioniert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optimaler Kompromiss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1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· ARCHITEKTURENTSCHEIDUNG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Tech-Stack Backend: Spring Boot 3.4 · Java 21 LTS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50876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Spring Boot?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7452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56832" y="18288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Office-Dokumente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56832" y="20665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 / docx4j als ausgereiftestes Open-Source-Ökosystem (25%)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877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56832" y="2542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Teamkompetenz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656832" y="27797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Legacy-System bereits in Java – direkter Wissenstransfer (20%)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30098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56832" y="32552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Sicherheits-Framework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656832" y="34930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6: JWT/BCrypt/RBAC, produktionserprobt (15%)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01421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56832" y="39684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Langlebigkeit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656832" y="4206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LTS-Support bis mind. 2031 (10%)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57200" y="507492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20293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32688" y="50749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2331720" y="507492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448" y="5202936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807208" y="50749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4206240" y="507492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5968" y="5202936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681728" y="50749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50" dirty="0"/>
          </a:p>
        </p:txBody>
      </p:sp>
      <p:sp>
        <p:nvSpPr>
          <p:cNvPr id="30" name="Shape 20"/>
          <p:cNvSpPr/>
          <p:nvPr/>
        </p:nvSpPr>
        <p:spPr>
          <a:xfrm>
            <a:off x="6080760" y="507492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88" y="5202936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556248" y="50749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950" dirty="0"/>
          </a:p>
        </p:txBody>
      </p:sp>
      <p:sp>
        <p:nvSpPr>
          <p:cNvPr id="33" name="Shape 22"/>
          <p:cNvSpPr/>
          <p:nvPr/>
        </p:nvSpPr>
        <p:spPr>
          <a:xfrm>
            <a:off x="7955280" y="507492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008" y="5202936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8430768" y="50749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6" name="Shape 24"/>
          <p:cNvSpPr/>
          <p:nvPr/>
        </p:nvSpPr>
        <p:spPr>
          <a:xfrm>
            <a:off x="9829800" y="507492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9528" y="5202936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0305288" y="50749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950" dirty="0"/>
          </a:p>
        </p:txBody>
      </p:sp>
      <p:sp>
        <p:nvSpPr>
          <p:cNvPr id="39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40" name="Text 27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 · ARCHITEKTURENTSCHEIDUNG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Authentifizierung &amp; RBAC: HTTP-Basic-Auth + BCrypt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246120" cy="11430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55571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6916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794760" y="2263140"/>
            <a:ext cx="7772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813048" y="13990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(HTTPS)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0" y="1691640"/>
            <a:ext cx="3246120" cy="1143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23" y="2055571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6916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 (STATELESS)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2263140"/>
            <a:ext cx="7772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7836408" y="13990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DB-Lookup (Rolle)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8595360" y="1691640"/>
            <a:ext cx="3246120" cy="11430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1E2761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823960" y="19842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283" y="2055571"/>
            <a:ext cx="405994" cy="4059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09760" y="169164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app_user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(BCrypt-Hash)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29992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Zustandslos (kein Session-Speicher) · Rollen ADMIN / SACHBEARBEITUNG · Passwörter ausschließlich als BCrypt-Hash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01568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06040"/>
                <a:gridCol w="26060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(Bearer)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+ Cookie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Basic + BCrypt ✓ gewählt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Implementierungsaufwand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Signing-Key, Refresh-Flow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CSRF-Schutz nötig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minimal, native Unterstützung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Widerruf / Logout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Blacklist erforderlich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sofort serverseitig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kein serverseitiger Logout nötig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zustandslos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Session-Speicher nötig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zustandslos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Eignung für Kleinstsystem (1 Server, LAN)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überdimensioniert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unnötige Komplexität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proportional zum Bedrohungskontext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1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 · ARCHITEKTURENTSCHEIDUNG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Backup-Strategie: pgBackRest &amp; 3-2-1-Regel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30936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37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Automatisierter Backup-Fluss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2121408"/>
            <a:ext cx="32004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2240280" y="21899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7829" y="2237537"/>
            <a:ext cx="270662" cy="2706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97480" y="2121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(frauenhaus)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03320" y="2651760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" y="2926080"/>
            <a:ext cx="5760720" cy="1417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05840" y="30358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pgBackRest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3649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3337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Vollbackup sonntags 02:00 Uhr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1246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685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Differenziell Mo–Sa 02:00 Uhr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05993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0325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verschlüsselt, zst-komprimiert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468880" y="4370832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4937760" y="4370832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22960" y="4663440"/>
            <a:ext cx="2743200" cy="8229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87552" y="4800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4848149"/>
            <a:ext cx="270662" cy="2706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44752" y="4663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repo1 – lokal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(getrenntes Volume)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840480" y="4663440"/>
            <a:ext cx="2743200" cy="82296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1E2761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005072" y="4800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2621" y="4848149"/>
            <a:ext cx="270662" cy="2706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462272" y="4663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repo2 – extern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(USB-Rotation, 2. Standort)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822960" y="5623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Cloud-Ziel für repo2 – konsistent mit ADR-005 (On-Premises, kein Internetzugang im Regelbetrieb)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71323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nicht pg_dump / manuell?</a:t>
            </a:r>
            <a:endParaRPr lang="en-US" sz="13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920240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479792" y="1883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Manuelles Skript (IST-Zustand): kein Zeitplan, abhängig von menschlicher Disziplin</a:t>
            </a:r>
            <a:endParaRPr lang="en-US" sz="10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2633472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479792" y="25968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bietet kein Point-in-Time-Recovery – nur letzter Dump-Zeitpunkt wiederherstellbar</a:t>
            </a:r>
            <a:endParaRPr lang="en-US" sz="10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3346704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79792" y="33101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wächst linear mit der DB-Größe, keine inkrementellen Backups</a:t>
            </a:r>
            <a:endParaRPr lang="en-US" sz="105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4059936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479792" y="4023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pgBackRest: native Verschlüsselung, Kompression &amp; Retention-Verwaltung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7132320" y="4864608"/>
            <a:ext cx="457200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43" name="Text 31"/>
          <p:cNvSpPr/>
          <p:nvPr/>
        </p:nvSpPr>
        <p:spPr>
          <a:xfrm>
            <a:off x="7360920" y="4983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Wiederherstellung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7360920" y="527608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Voll · 14 Differenz  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Monat PITR-Fenster
</a:t>
            </a:r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Quartalsweise  </a:t>
            </a:r>
            <a:endParaRPr lang="en-US" sz="17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Pflicht-Restore-Test in Staging</a:t>
            </a:r>
            <a:endParaRPr lang="en-US" sz="1700" dirty="0"/>
          </a:p>
        </p:txBody>
      </p:sp>
      <p:sp>
        <p:nvSpPr>
          <p:cNvPr id="45" name="Text 33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 · ARCHITEKTURENTSCHEIDUNG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On-Premises statt Cloud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30936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37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Vereinsbüro – physisch geschützter Raum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5760720" cy="2468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267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2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25694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 (WinSW-Dienst)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1729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136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PostgreSQL-Datenbank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398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703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Verschlüsselte Backups (lokal + USB)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03320" y="4617720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2468880" y="4782312"/>
            <a:ext cx="246888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47823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– kein Internetzugang nötig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240280" y="5303520"/>
            <a:ext cx="292608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6"/>
          <p:cNvSpPr/>
          <p:nvPr/>
        </p:nvSpPr>
        <p:spPr>
          <a:xfrm>
            <a:off x="2377440" y="541324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989" y="5460797"/>
            <a:ext cx="270662" cy="2706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80360" y="5303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(Browser im LAN)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323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kein Cloud-Hosting?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9202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79792" y="18836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 sensible Daten (Art. 9 DSGVO) – physische Datenhoheit bleibt beim Verein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60604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79792" y="25694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Auftragsverarbeiter, kein Drittlandtransfer, keine AVV nötig</a:t>
            </a:r>
            <a:endParaRPr lang="en-US" sz="10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329184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79792" y="3255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Internet-Zugriffspunkt → minimale Angriffsfläche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977640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79792" y="39410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 Verein ohne IT-Personal – keine laufenden Cloud-Kosten tragbar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7132320" y="4800600"/>
            <a:ext cx="4572000" cy="1417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4" name="Text 24"/>
          <p:cNvSpPr/>
          <p:nvPr/>
        </p:nvSpPr>
        <p:spPr>
          <a:xfrm>
            <a:off x="7360920" y="4919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5-Jahres-TCO im Vergleich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7360920" y="51937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~1.050 € 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
</a:t>
            </a:r>
            <a:pPr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~3.000 – 4.800 €  </a:t>
            </a:r>
            <a:endParaRPr lang="en-US" sz="2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(Hetzner / Azure)</a:t>
            </a:r>
            <a:endParaRPr lang="en-US" sz="2000" dirty="0"/>
          </a:p>
        </p:txBody>
      </p:sp>
      <p:sp>
        <p:nvSpPr>
          <p:cNvPr id="36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TECHNOLOGIE-STACK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neue Stack – mit Bezug zu den Anforderungen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00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760220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664208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(SPA)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195681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0080" y="228600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Usability-Anforderung, browserbasiert ohne Client-Install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78808" y="1536192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61688" y="1700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1760220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56048" y="1664208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 / Java 21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56048" y="195681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ANWENDUNGSLOGIK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361688" y="228600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· Basis für alle FR-1…FR-12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900416" y="1536192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83296" y="17007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732" y="1760220"/>
            <a:ext cx="338328" cy="3383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77656" y="1664208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BCrypt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677656" y="195681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083296" y="228600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 · NFR-1 (Sicherheit/DSGVO)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081528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305556"/>
            <a:ext cx="338328" cy="3383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3209544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234440" y="35021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PERSISTENZSCHICHT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40080" y="38313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FR-2…FR-7 · strukturell SQL-Injection-frei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178808" y="3081528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361688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3305556"/>
            <a:ext cx="338328" cy="33832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956048" y="3209544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956048" y="35021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4361688" y="38313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· keine Lizenzkosten, keine Limits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7900416" y="3081528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083296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2732" y="3305556"/>
            <a:ext cx="338328" cy="33832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77656" y="3209544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677656" y="35021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DB-MIGRATIONEN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8083296" y="3831336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NFR-2 Zuverlässigkeit · NFR-3 Modularität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457200" y="4626864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40080" y="4791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4850892"/>
            <a:ext cx="338328" cy="33832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234440" y="475488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Envers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234440" y="504748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ÄNDERUNGSHISTORIE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640080" y="5376672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Ersetzt CDisplayFieldHistoryBean/CHistoryDialog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4178808" y="4626864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361688" y="4791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1124" y="4850892"/>
            <a:ext cx="338328" cy="33832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956048" y="475488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 / docx4j</a:t>
            </a:r>
            <a:endParaRPr lang="en-US" sz="1200" dirty="0"/>
          </a:p>
        </p:txBody>
      </p:sp>
      <p:sp>
        <p:nvSpPr>
          <p:cNvPr id="53" name="Text 43"/>
          <p:cNvSpPr/>
          <p:nvPr/>
        </p:nvSpPr>
        <p:spPr>
          <a:xfrm>
            <a:off x="4956048" y="504748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DOKUMENTGENERIERUNG</a:t>
            </a:r>
            <a:endParaRPr lang="en-US" sz="800" dirty="0"/>
          </a:p>
        </p:txBody>
      </p:sp>
      <p:sp>
        <p:nvSpPr>
          <p:cNvPr id="54" name="Text 44"/>
          <p:cNvSpPr/>
          <p:nvPr/>
        </p:nvSpPr>
        <p:spPr>
          <a:xfrm>
            <a:off x="4361688" y="5376672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FR-8 Auswertungen · FR-9/FR-10 Bescheinigungen &amp; Serienbriefe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7900416" y="4626864"/>
            <a:ext cx="362102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63500" dist="25400" dir="8100000">
              <a:srgbClr val="1E2761">
                <a:alpha val="9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8083296" y="47914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2732" y="4850892"/>
            <a:ext cx="338328" cy="338328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8677656" y="475488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WinSW</a:t>
            </a:r>
            <a:endParaRPr lang="en-US" sz="1200" dirty="0"/>
          </a:p>
        </p:txBody>
      </p:sp>
      <p:sp>
        <p:nvSpPr>
          <p:cNvPr id="59" name="Text 48"/>
          <p:cNvSpPr/>
          <p:nvPr/>
        </p:nvSpPr>
        <p:spPr>
          <a:xfrm>
            <a:off x="8677656" y="504748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800" dirty="0"/>
          </a:p>
        </p:txBody>
      </p:sp>
      <p:sp>
        <p:nvSpPr>
          <p:cNvPr id="60" name="Text 49"/>
          <p:cNvSpPr/>
          <p:nvPr/>
        </p:nvSpPr>
        <p:spPr>
          <a:xfrm>
            <a:off x="8083296" y="5376672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 On-Premises · NFR-2/NFR-3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ARCHITEKTUR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Komponenten &amp; Beziehungen im Überblick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47120" cy="10515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 (Browser)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706880" cy="603504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161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484120" y="1828800"/>
            <a:ext cx="1706880" cy="603504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9840" y="1828800"/>
            <a:ext cx="161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</a:t>
            </a:r>
            <a:endParaRPr lang="en-US" sz="78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(Mitglieder/Spenden/</a:t>
            </a:r>
            <a:endParaRPr lang="en-US" sz="78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Bußgelder/Verwaltung)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282440" y="1828800"/>
            <a:ext cx="1706880" cy="603504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8160" y="1828800"/>
            <a:ext cx="161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Stichwortsuche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1706880" cy="603504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828800"/>
            <a:ext cx="161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879080" y="1828800"/>
            <a:ext cx="1706880" cy="603504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4800" y="1828800"/>
            <a:ext cx="161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Benutzer-</a:t>
            </a:r>
            <a:endParaRPr lang="en-US" sz="78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verwaltung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677400" y="1828800"/>
            <a:ext cx="1706880" cy="603504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3120" y="1828800"/>
            <a:ext cx="1615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Dokumente/</a:t>
            </a:r>
            <a:endParaRPr lang="en-US" sz="78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Verlauf-Panels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080760" y="2514600"/>
            <a:ext cx="0" cy="29260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200400" y="254203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REST/JSON · HTTP Basic Auth (BCrypt) via auth.interceptor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11247120" cy="2331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29352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 (Windows-Dienst)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3282696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FB3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Controller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375818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MitgliedController · SpendeController · BussgeldController</a:t>
            </a:r>
            <a:endParaRPr lang="en-US" sz="750" dirty="0"/>
          </a:p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GerichtController · ReportController · DokumentController …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19272" y="3895344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92424" y="3282696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FB3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(Geschäftslogik)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375818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MitgliedService · SpendeService · WordTemplateService</a:t>
            </a:r>
            <a:endParaRPr lang="en-US" sz="750" dirty="0"/>
          </a:p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ExcelUtil · StichwortsucheService · AuditService …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25896" y="3895344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99048" y="3282696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FB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0488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(Spring Data JPA)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0488" y="375818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MitgliedRepository · SpendeRepository · BussgeldRepository …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732520" y="3895344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05672" y="3282696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FB3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97112" y="3355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Entities (JPA)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897112" y="375818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 · Verein · Spende · Bussgeld · Eingang · Gericht …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5800" y="4882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A9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Querschnitt: Spring Security (RBAC) · Hibernate Envers (Audit) · Flyway (Migrationen: db/migration + db/testdata)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2194560" y="5175504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57200" y="51846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(Prepared Statements)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5486400"/>
            <a:ext cx="4206240" cy="7772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1E2761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58368" y="56327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5692140"/>
            <a:ext cx="338328" cy="33832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243584" y="5486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frauenhaus.* Schema + *_aud Audit-Tabellen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863840" y="5175504"/>
            <a:ext cx="0" cy="310896"/>
          </a:xfrm>
          <a:prstGeom prst="line">
            <a:avLst/>
          </a:prstGeom>
          <a:noFill/>
          <a:ln w="25400">
            <a:solidFill>
              <a:srgbClr val="D4A017"/>
            </a:solidFill>
            <a:prstDash val="dash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5669280" y="5486400"/>
            <a:ext cx="5394960" cy="77724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1E2761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870448" y="56327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4" y="5692140"/>
            <a:ext cx="338328" cy="338328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6455664" y="54864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Dokumentgenerierung: Apache POI (.xlsx) · docx4j (.docx)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Word-Vorlagen aus backend/vorlagen-alt/ – Serienbriefe &amp; Spendenquittungen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 ARCHITEKTUR · DETAIL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im Detail: Schichten, Verantwortung, Klassen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160520"/>
                <a:gridCol w="5120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Schicht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Verantwortung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Beispielhafte Komponenten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REST-Endpunkte, HTTP-Statuscodes, Exception-Mapping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MitgliedController, SpendeController, BussgeldController, GerichtController,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VereinController, ReportController, DokumentController, AppUserController,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ApiExceptionHandler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Geschäftslogik, Validierung, Transaktionsgrenzen (@Transactional)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MitgliedService, SpendeService, BussgeldService, VerteilerService,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WordTemplateService, DocumentCreationService, ExcelUtil, StichwortsucheService,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AuditService, AppUserService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Datenzugriff über Spring Data JPA (Prepared Statements, kein SQL-Injection-Risiko)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MitgliedRepository, SpendeRepository, BussgeldRepository, GerichtRepository,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VereinRepository, DokumentRepository, AppUserRepository,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(JPA-Entities)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Fachliches Datenmodell inkl. Beziehungen (FK, @ManyToMany, @OneToMany)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Mitglied, Verein, Spende, Bussgeld, Eingang, Gericht, Anrede,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Spendenart, Spendentyp, Stichwort, Dokument, AppUser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(Querschnitt)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Authentifizierung &amp; rollenbasierte Autorisierung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SecurityConfig, DbUserDetailsService, AdminBootstrap – Rollen ADMIN / SACHBEARBEITUNG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(Querschnitt)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Automatische Änderungshistorie je Entität (Hibernate Envers)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AuditRevisionListener, Revision, *_aud-Tabellen – ersetzt CDisplayFieldHistoryBean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Migrationen (Querschnitt)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Versionierte, automatische DB-Schemaentwicklung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Flyway: db/migration (V1–V4, immer aktiv) + db/testdata (V5, nur Profil „dev“)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10896" cy="685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21208"/>
            <a:ext cx="310896" cy="685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310896" cy="68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429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ANFORDERUNGS-MAPPING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Alt-System vs. neue Architektur je Anforderung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297680"/>
              </a:tblGrid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Anforderung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Alt-System (FH_MA)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 Architektur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Benutzerverwaltung (FR-1)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Rollenkonzept auf Anwendungsebene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+ BCrypt, RBAC (ADMIN/SACHBEARBEITUNG)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Stammdaten-CRUD (FR-2,3,4,6,7)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Generisches CInfoFrame/CListFrame (Swing)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REST-Controller + Angular-Komponente je Entität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Zahlungseingänge (FR-5)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Manuelle Berechnung im Bußgeld-Datensatz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Eingang-Entity, automatische Summen-/Restbetragsberechnung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Auswertungen (FR-8)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Swing-Reports, direkter DB-Export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ReportController + Apache POI (.xlsx)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Spendenbescheinigungen (FR-9)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CCommandSpendenQuittung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WordTemplateService + docx4j (.docx, je Verein/Art)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Serienbriefe (FR-10)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CCommandBriefFrauenhaus / -Foerderverein + Outlook-COM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Word-Template-Service, Batch-Generierung ohne Outlook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Änderungshistorie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CDisplayFieldHistoryBean / CHistoryDialog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 Envers – automatisch, *_aud-Tabellen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Dokumenten-Anhänge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CDisplayFieldDocumentBean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Dokument-Entity (bytea) + Upload-/Download-API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Validierung/Konsistenz (FR-11,12)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Vereinzelte Swing-Feldvalidierung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Jakarta Validation + FK-Constraints + zentrale Fehlerbehandlung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&amp; Recovery (NFR-4)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Manuelles Ad-hoc-Skript, kein Zeitplan, unverschlüsselt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4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pgBackRest, automatisiert, AES-256, PITR (ADR-004)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 im Vergleich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920240"/>
          </a:xfrm>
          <a:prstGeom prst="rect">
            <a:avLst/>
          </a:prstGeom>
          <a:solidFill>
            <a:srgbClr val="232B5C"/>
          </a:solidFill>
          <a:ln w="12700">
            <a:solidFill>
              <a:srgbClr val="353E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Schichten statt 2 –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Sicherheitsbarriere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783080"/>
            <a:ext cx="2606040" cy="1920240"/>
          </a:xfrm>
          <a:prstGeom prst="rect">
            <a:avLst/>
          </a:prstGeom>
          <a:solidFill>
            <a:srgbClr val="232B5C"/>
          </a:solidFill>
          <a:ln w="12700">
            <a:solidFill>
              <a:srgbClr val="353E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47872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Klartext-Zugangsdaten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Clients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783080"/>
            <a:ext cx="2606040" cy="1920240"/>
          </a:xfrm>
          <a:prstGeom prst="rect">
            <a:avLst/>
          </a:prstGeom>
          <a:solidFill>
            <a:srgbClr val="232B5C"/>
          </a:solidFill>
          <a:ln w="12700">
            <a:solidFill>
              <a:srgbClr val="353E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18504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Alt-Funktionen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migriert bzw. verbessert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51976" y="1783080"/>
            <a:ext cx="2606040" cy="1920240"/>
          </a:xfrm>
          <a:prstGeom prst="rect">
            <a:avLst/>
          </a:prstGeom>
          <a:solidFill>
            <a:srgbClr val="232B5C"/>
          </a:solidFill>
          <a:ln w="12700">
            <a:solidFill>
              <a:srgbClr val="353E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1976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89136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–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DSGVO-Datenhoheit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einem monolithischen Swing-Fat-Client mit direktem Datenbankzugriff wurde eine sichere, wartbare 3-Schichten-Webarchitektur – vollständig on-premises betrieben, DSGVO-konform und mit klarer Rückverfolgbarkeit auf jede dokumentierte Anforderung.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45720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FH_MA Modernisierung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8735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25603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651760"/>
            <a:ext cx="256032" cy="6126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2651760"/>
            <a:ext cx="256032" cy="4480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 Ihre Aufmerksamkeit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zur Architektur, den ADRs oder dem Migrationsplan?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Referenzen: 03-architektur/01-requirements.md · 03-architektur/adrs/001–005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FH_MA Modernisierung – Architekturvergleich</dc:title>
  <dc:subject>PptxGenJS Presentation</dc:subject>
  <dc:creator>FH_MA Modernisierungsprojekt</dc:creator>
  <cp:lastModifiedBy>FH_MA Modernisierungsprojekt</cp:lastModifiedBy>
  <cp:revision>1</cp:revision>
  <dcterms:created xsi:type="dcterms:W3CDTF">2026-07-13T19:00:37Z</dcterms:created>
  <dcterms:modified xsi:type="dcterms:W3CDTF">2026-07-13T19:00:37Z</dcterms:modified>
</cp:coreProperties>
</file>