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1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de-DE" sz="1200" b="0" i="0" u="none" strike="noStrike">
                <a:solidFill>
                  <a:srgbClr val="1E2761"/>
                </a:solidFill>
                <a:latin typeface="Arial"/>
              </a:rPr>
              <a:t>Entscheidungsmatrix (gewichtet)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Gewichtete Bewertung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B4E-4E58-AE6B-43F6344B38EF}"/>
              </c:ext>
            </c:extLst>
          </c:dPt>
          <c:dPt>
            <c:idx val="1"/>
            <c:invertIfNegative val="0"/>
            <c:bubble3D val="0"/>
            <c:spPr>
              <a:solidFill>
                <a:srgbClr val="8FB3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B4E-4E58-AE6B-43F6344B38EF}"/>
              </c:ext>
            </c:extLst>
          </c:dPt>
          <c:dPt>
            <c:idx val="2"/>
            <c:invertIfNegative val="0"/>
            <c:bubble3D val="0"/>
            <c:spPr>
              <a:solidFill>
                <a:srgbClr val="D8DE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B4E-4E58-AE6B-43F6344B38E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Spring Boot / Java 21</c:v>
                </c:pt>
                <c:pt idx="1">
                  <c:v>ASP.NET Core / C#</c:v>
                </c:pt>
                <c:pt idx="2">
                  <c:v>Django / Python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4.6500000000000004</c:v>
                </c:pt>
                <c:pt idx="1">
                  <c:v>3.85</c:v>
                </c:pt>
                <c:pt idx="2">
                  <c:v>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B4E-4E58-AE6B-43F6344B38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4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5"/>
        </c:scaling>
        <c:delete val="0"/>
        <c:axPos val="b"/>
        <c:majorGridlines>
          <c:spPr>
            <a:ln w="6350" cap="flat">
              <a:solidFill>
                <a:srgbClr val="E1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de-DE" sz="1200" b="0" i="0" u="none" strike="noStrike">
                <a:solidFill>
                  <a:srgbClr val="1E2761"/>
                </a:solidFill>
                <a:latin typeface="Arial"/>
              </a:rPr>
              <a:t>Frontend-Framework-Vergleich (gewichtet)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Gewichtete Bewertung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634-449E-9F2D-4419530ACE67}"/>
              </c:ext>
            </c:extLst>
          </c:dPt>
          <c:dPt>
            <c:idx val="1"/>
            <c:invertIfNegative val="0"/>
            <c:bubble3D val="0"/>
            <c:spPr>
              <a:solidFill>
                <a:srgbClr val="8FB3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634-449E-9F2D-4419530ACE67}"/>
              </c:ext>
            </c:extLst>
          </c:dPt>
          <c:dPt>
            <c:idx val="2"/>
            <c:invertIfNegative val="0"/>
            <c:bubble3D val="0"/>
            <c:spPr>
              <a:solidFill>
                <a:srgbClr val="D8DE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634-449E-9F2D-4419530ACE67}"/>
              </c:ext>
            </c:extLst>
          </c:dPt>
          <c:dPt>
            <c:idx val="3"/>
            <c:invertIfNegative val="0"/>
            <c:bubble3D val="0"/>
            <c:spPr>
              <a:solidFill>
                <a:srgbClr val="C9D3E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634-449E-9F2D-4419530ACE6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Vaadin (Full-Stack Java)</c:v>
                </c:pt>
                <c:pt idx="1">
                  <c:v>Angular (TypeScript)</c:v>
                </c:pt>
                <c:pt idx="2">
                  <c:v>React (JavaScript/TS)</c:v>
                </c:pt>
                <c:pt idx="3">
                  <c:v>Next.js (React + SSR)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4.75</c:v>
                </c:pt>
                <c:pt idx="1">
                  <c:v>3.5</c:v>
                </c:pt>
                <c:pt idx="2">
                  <c:v>3.35</c:v>
                </c:pt>
                <c:pt idx="3">
                  <c:v>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634-449E-9F2D-4419530ACE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4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5"/>
        </c:scaling>
        <c:delete val="0"/>
        <c:axPos val="b"/>
        <c:majorGridlines>
          <c:spPr>
            <a:ln w="6350" cap="flat">
              <a:solidFill>
                <a:srgbClr val="E1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02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2.png"/><Relationship Id="rId10" Type="http://schemas.openxmlformats.org/officeDocument/2006/relationships/image" Target="../media/image37.png"/><Relationship Id="rId4" Type="http://schemas.openxmlformats.org/officeDocument/2006/relationships/image" Target="../media/image25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914400"/>
            <a:ext cx="310896" cy="5029200"/>
          </a:xfrm>
          <a:prstGeom prst="rect">
            <a:avLst/>
          </a:prstGeom>
          <a:solidFill>
            <a:srgbClr val="CADCFC">
              <a:alpha val="9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9436608" y="914400"/>
            <a:ext cx="310896" cy="4206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0003536" y="914400"/>
            <a:ext cx="310896" cy="3383280"/>
          </a:xfrm>
          <a:prstGeom prst="rect">
            <a:avLst/>
          </a:prstGeom>
          <a:solidFill>
            <a:srgbClr val="1C7293">
              <a:alpha val="9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FH_MA MODERNISIERUNG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233172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Fat-Client zur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modernen Web-Architektur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Architekturentscheidungen · neuer Technologie-Stack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die finale Systemarchitektur im Detailvergleich zum Alt-System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457200" cy="411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Frauenhaus e.V.  ·  Backend-/Frontend-Neuentwicklung  ·  Juli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21792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Sie erwartet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53312" y="17647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53312" y="20574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Qualitätsmerkmale, funktionale &amp; nicht-funktionale Anforderungen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386584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40080" y="253288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53312" y="2514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FH_MA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53312" y="280720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IST-Zustand des bestehenden Java-Swing-Fat-Clients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136392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40080" y="3282696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53312" y="326440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Architekturentscheidungen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53312" y="355701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zentralen ADRs: Architekturstil, Tech-Stack, Auth &amp; RBAC, Backup, Deployment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178308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885432" y="17647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Neuer Technologie-Stack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885432" y="20574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Boot, Vaadin, PostgreSQL – mit Anforderungsbezug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2386584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172200" y="253288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85432" y="2514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 im Detail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885432" y="280720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Komponenten und ihre Beziehungen zueinander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3136392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172200" y="3282696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85432" y="326440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885432" y="355701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im Vergleich zum Alt-System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QUALITÄTSMERKMALE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Qualitätsmerkmale nach Stakeholder (ISO/IEC 25010)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166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13232" y="181051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12" y="1875892"/>
            <a:ext cx="372161" cy="37216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53312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Sicht Benutzer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31520" y="2514600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896112" y="2468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Funktionale Eignung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96112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 korrekt &amp; zuverlässig speichern, Reports korrekt erzeugen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" y="3081528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896112" y="3035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Benutzerfreundlichkeit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96112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Bedienung auch ohne technischen Hintergrund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1520" y="3648456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96112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6112" y="38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Verarbeitung personenbezogener Daten gemäß DSGVO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1520" y="4215384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896112" y="41696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96112" y="4416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sekundäre Priorität für Endbenutzer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80760" y="1554480"/>
            <a:ext cx="5166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1"/>
          <p:cNvSpPr/>
          <p:nvPr/>
        </p:nvSpPr>
        <p:spPr>
          <a:xfrm>
            <a:off x="6336792" y="1810512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172" y="1875892"/>
            <a:ext cx="372161" cy="372161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976872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Sicht Administrator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355080" y="2514600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4"/>
          <p:cNvSpPr/>
          <p:nvPr/>
        </p:nvSpPr>
        <p:spPr>
          <a:xfrm>
            <a:off x="6519672" y="2468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6519672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 Verfügbarkeit und Fehlertoleranz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355080" y="3081528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Text 27"/>
          <p:cNvSpPr/>
          <p:nvPr/>
        </p:nvSpPr>
        <p:spPr>
          <a:xfrm>
            <a:off x="6519672" y="3035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519672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Sicherstellung der DSGVO-Einhaltung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355080" y="3648456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4" name="Text 30"/>
          <p:cNvSpPr/>
          <p:nvPr/>
        </p:nvSpPr>
        <p:spPr>
          <a:xfrm>
            <a:off x="6519672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6519672" y="38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Wartung, minimaler Administrationsaufwand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45720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tragende Säulen der Architektur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4572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Shape 34"/>
          <p:cNvSpPr/>
          <p:nvPr/>
        </p:nvSpPr>
        <p:spPr>
          <a:xfrm>
            <a:off x="6217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172" y="5634076"/>
            <a:ext cx="372161" cy="372161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12344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Funktionale Eignung</a:t>
            </a:r>
            <a:endParaRPr lang="en-US" sz="1250" dirty="0"/>
          </a:p>
        </p:txBody>
      </p:sp>
      <p:sp>
        <p:nvSpPr>
          <p:cNvPr id="41" name="Shape 36"/>
          <p:cNvSpPr/>
          <p:nvPr/>
        </p:nvSpPr>
        <p:spPr>
          <a:xfrm>
            <a:off x="32004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2" name="Shape 37"/>
          <p:cNvSpPr/>
          <p:nvPr/>
        </p:nvSpPr>
        <p:spPr>
          <a:xfrm>
            <a:off x="33649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0372" y="5634076"/>
            <a:ext cx="372161" cy="372161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39776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250" dirty="0"/>
          </a:p>
        </p:txBody>
      </p:sp>
      <p:sp>
        <p:nvSpPr>
          <p:cNvPr id="45" name="Shape 39"/>
          <p:cNvSpPr/>
          <p:nvPr/>
        </p:nvSpPr>
        <p:spPr>
          <a:xfrm>
            <a:off x="59436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6" name="Shape 40"/>
          <p:cNvSpPr/>
          <p:nvPr/>
        </p:nvSpPr>
        <p:spPr>
          <a:xfrm>
            <a:off x="61081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3572" y="5634076"/>
            <a:ext cx="372161" cy="372161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67208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49" name="Shape 42"/>
          <p:cNvSpPr/>
          <p:nvPr/>
        </p:nvSpPr>
        <p:spPr>
          <a:xfrm>
            <a:off x="86868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3"/>
          <p:cNvSpPr/>
          <p:nvPr/>
        </p:nvSpPr>
        <p:spPr>
          <a:xfrm>
            <a:off x="88513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6772" y="5634076"/>
            <a:ext cx="372161" cy="372161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4640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(DSGVO)</a:t>
            </a:r>
            <a:endParaRPr lang="en-US" sz="1250" dirty="0"/>
          </a:p>
        </p:txBody>
      </p:sp>
      <p:sp>
        <p:nvSpPr>
          <p:cNvPr id="53" name="Text 4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FUNKTIONAL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Funktionale Anforderungen FR-1 – FR-12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621792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18" y="1723278"/>
            <a:ext cx="284196" cy="2841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78992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1792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Benutzerverwaltung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1792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+ Rollen (Admin/Sachbearbeiter)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3282696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3282696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3447288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214" y="1723278"/>
            <a:ext cx="284196" cy="28419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904488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3447288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Mitglieder &amp; Adressen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447288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Anlegen, bearbeiten, löschen, suchen, filtern</a:t>
            </a:r>
            <a:endParaRPr lang="en-US" sz="870" dirty="0"/>
          </a:p>
        </p:txBody>
      </p:sp>
      <p:sp>
        <p:nvSpPr>
          <p:cNvPr id="21" name="Shape 17"/>
          <p:cNvSpPr/>
          <p:nvPr/>
        </p:nvSpPr>
        <p:spPr>
          <a:xfrm>
            <a:off x="6108192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8"/>
          <p:cNvSpPr/>
          <p:nvPr/>
        </p:nvSpPr>
        <p:spPr>
          <a:xfrm>
            <a:off x="6108192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Shape 19"/>
          <p:cNvSpPr/>
          <p:nvPr/>
        </p:nvSpPr>
        <p:spPr>
          <a:xfrm>
            <a:off x="6272784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710" y="1723278"/>
            <a:ext cx="284196" cy="28419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729984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FR-3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6272784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272784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Geldspenden erfassen, ändern, löschen, anzeigen</a:t>
            </a:r>
            <a:endParaRPr lang="en-US" sz="870" dirty="0"/>
          </a:p>
        </p:txBody>
      </p:sp>
      <p:sp>
        <p:nvSpPr>
          <p:cNvPr id="28" name="Shape 23"/>
          <p:cNvSpPr/>
          <p:nvPr/>
        </p:nvSpPr>
        <p:spPr>
          <a:xfrm>
            <a:off x="8933688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Shape 24"/>
          <p:cNvSpPr/>
          <p:nvPr/>
        </p:nvSpPr>
        <p:spPr>
          <a:xfrm>
            <a:off x="8933688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Shape 25"/>
          <p:cNvSpPr/>
          <p:nvPr/>
        </p:nvSpPr>
        <p:spPr>
          <a:xfrm>
            <a:off x="9098280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8206" y="1723278"/>
            <a:ext cx="284196" cy="28419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555480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FR-4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9098280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Bußgelder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9098280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 inkl. Status offen/teilw./bezahlt</a:t>
            </a:r>
            <a:endParaRPr lang="en-US" sz="870" dirty="0"/>
          </a:p>
        </p:txBody>
      </p:sp>
      <p:sp>
        <p:nvSpPr>
          <p:cNvPr id="35" name="Shape 29"/>
          <p:cNvSpPr/>
          <p:nvPr/>
        </p:nvSpPr>
        <p:spPr>
          <a:xfrm>
            <a:off x="457200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6" name="Shape 30"/>
          <p:cNvSpPr/>
          <p:nvPr/>
        </p:nvSpPr>
        <p:spPr>
          <a:xfrm>
            <a:off x="457200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7" name="Shape 31"/>
          <p:cNvSpPr/>
          <p:nvPr/>
        </p:nvSpPr>
        <p:spPr>
          <a:xfrm>
            <a:off x="621792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718" y="3149742"/>
            <a:ext cx="284196" cy="284196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078992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FR-5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621792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Zahlungseingänge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621792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viele je Bußgeld, Rest automatisch</a:t>
            </a:r>
            <a:endParaRPr lang="en-US" sz="870" dirty="0"/>
          </a:p>
        </p:txBody>
      </p:sp>
      <p:sp>
        <p:nvSpPr>
          <p:cNvPr id="42" name="Shape 35"/>
          <p:cNvSpPr/>
          <p:nvPr/>
        </p:nvSpPr>
        <p:spPr>
          <a:xfrm>
            <a:off x="3282696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3" name="Shape 36"/>
          <p:cNvSpPr/>
          <p:nvPr/>
        </p:nvSpPr>
        <p:spPr>
          <a:xfrm>
            <a:off x="3282696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4" name="Shape 37"/>
          <p:cNvSpPr/>
          <p:nvPr/>
        </p:nvSpPr>
        <p:spPr>
          <a:xfrm>
            <a:off x="3447288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7214" y="3149742"/>
            <a:ext cx="284196" cy="284196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3904488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FR-6</a:t>
            </a:r>
            <a:endParaRPr lang="en-US" sz="1000" dirty="0"/>
          </a:p>
        </p:txBody>
      </p:sp>
      <p:sp>
        <p:nvSpPr>
          <p:cNvPr id="47" name="Text 39"/>
          <p:cNvSpPr/>
          <p:nvPr/>
        </p:nvSpPr>
        <p:spPr>
          <a:xfrm>
            <a:off x="3447288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Gerichtsverwaltung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3447288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Anlegen, bearbeiten, löschen, suchen</a:t>
            </a:r>
            <a:endParaRPr lang="en-US" sz="870" dirty="0"/>
          </a:p>
        </p:txBody>
      </p:sp>
      <p:sp>
        <p:nvSpPr>
          <p:cNvPr id="49" name="Shape 41"/>
          <p:cNvSpPr/>
          <p:nvPr/>
        </p:nvSpPr>
        <p:spPr>
          <a:xfrm>
            <a:off x="6108192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2"/>
          <p:cNvSpPr/>
          <p:nvPr/>
        </p:nvSpPr>
        <p:spPr>
          <a:xfrm>
            <a:off x="6108192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1" name="Shape 43"/>
          <p:cNvSpPr/>
          <p:nvPr/>
        </p:nvSpPr>
        <p:spPr>
          <a:xfrm>
            <a:off x="6272784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2710" y="3149742"/>
            <a:ext cx="284196" cy="284196"/>
          </a:xfrm>
          <a:prstGeom prst="rect">
            <a:avLst/>
          </a:prstGeom>
        </p:spPr>
      </p:pic>
      <p:sp>
        <p:nvSpPr>
          <p:cNvPr id="53" name="Text 44"/>
          <p:cNvSpPr/>
          <p:nvPr/>
        </p:nvSpPr>
        <p:spPr>
          <a:xfrm>
            <a:off x="6729984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6272784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 (Admin)</a:t>
            </a:r>
            <a:endParaRPr lang="en-US" sz="1150" dirty="0"/>
          </a:p>
        </p:txBody>
      </p:sp>
      <p:sp>
        <p:nvSpPr>
          <p:cNvPr id="55" name="Text 46"/>
          <p:cNvSpPr/>
          <p:nvPr/>
        </p:nvSpPr>
        <p:spPr>
          <a:xfrm>
            <a:off x="6272784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Spendenarten, Anreden, Status, Vereine, Gerichte</a:t>
            </a:r>
            <a:endParaRPr lang="en-US" sz="870" dirty="0"/>
          </a:p>
        </p:txBody>
      </p:sp>
      <p:sp>
        <p:nvSpPr>
          <p:cNvPr id="56" name="Shape 47"/>
          <p:cNvSpPr/>
          <p:nvPr/>
        </p:nvSpPr>
        <p:spPr>
          <a:xfrm>
            <a:off x="8933688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7" name="Shape 48"/>
          <p:cNvSpPr/>
          <p:nvPr/>
        </p:nvSpPr>
        <p:spPr>
          <a:xfrm>
            <a:off x="8933688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8" name="Shape 49"/>
          <p:cNvSpPr/>
          <p:nvPr/>
        </p:nvSpPr>
        <p:spPr>
          <a:xfrm>
            <a:off x="9098280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8206" y="3149742"/>
            <a:ext cx="284196" cy="284196"/>
          </a:xfrm>
          <a:prstGeom prst="rect">
            <a:avLst/>
          </a:prstGeom>
        </p:spPr>
      </p:pic>
      <p:sp>
        <p:nvSpPr>
          <p:cNvPr id="60" name="Text 50"/>
          <p:cNvSpPr/>
          <p:nvPr/>
        </p:nvSpPr>
        <p:spPr>
          <a:xfrm>
            <a:off x="9555480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FR-8</a:t>
            </a:r>
            <a:endParaRPr lang="en-US" sz="1000" dirty="0"/>
          </a:p>
        </p:txBody>
      </p:sp>
      <p:sp>
        <p:nvSpPr>
          <p:cNvPr id="61" name="Text 51"/>
          <p:cNvSpPr/>
          <p:nvPr/>
        </p:nvSpPr>
        <p:spPr>
          <a:xfrm>
            <a:off x="9098280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Auswertungen</a:t>
            </a:r>
            <a:endParaRPr lang="en-US" sz="1150" dirty="0"/>
          </a:p>
        </p:txBody>
      </p:sp>
      <p:sp>
        <p:nvSpPr>
          <p:cNvPr id="62" name="Text 52"/>
          <p:cNvSpPr/>
          <p:nvPr/>
        </p:nvSpPr>
        <p:spPr>
          <a:xfrm>
            <a:off x="9098280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Spenden-, Bußgeld-, Vereinsstatistiken</a:t>
            </a:r>
            <a:endParaRPr lang="en-US" sz="870" dirty="0"/>
          </a:p>
        </p:txBody>
      </p:sp>
      <p:sp>
        <p:nvSpPr>
          <p:cNvPr id="63" name="Shape 53"/>
          <p:cNvSpPr/>
          <p:nvPr/>
        </p:nvSpPr>
        <p:spPr>
          <a:xfrm>
            <a:off x="457200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4" name="Shape 54"/>
          <p:cNvSpPr/>
          <p:nvPr/>
        </p:nvSpPr>
        <p:spPr>
          <a:xfrm>
            <a:off x="457200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5" name="Shape 55"/>
          <p:cNvSpPr/>
          <p:nvPr/>
        </p:nvSpPr>
        <p:spPr>
          <a:xfrm>
            <a:off x="621792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718" y="4576206"/>
            <a:ext cx="284196" cy="284196"/>
          </a:xfrm>
          <a:prstGeom prst="rect">
            <a:avLst/>
          </a:prstGeom>
        </p:spPr>
      </p:pic>
      <p:sp>
        <p:nvSpPr>
          <p:cNvPr id="67" name="Text 56"/>
          <p:cNvSpPr/>
          <p:nvPr/>
        </p:nvSpPr>
        <p:spPr>
          <a:xfrm>
            <a:off x="1078992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FR-9</a:t>
            </a:r>
            <a:endParaRPr lang="en-US" sz="1000" dirty="0"/>
          </a:p>
        </p:txBody>
      </p:sp>
      <p:sp>
        <p:nvSpPr>
          <p:cNvPr id="68" name="Text 57"/>
          <p:cNvSpPr/>
          <p:nvPr/>
        </p:nvSpPr>
        <p:spPr>
          <a:xfrm>
            <a:off x="621792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Spendenbescheinigungen</a:t>
            </a:r>
            <a:endParaRPr lang="en-US" sz="1150" dirty="0"/>
          </a:p>
        </p:txBody>
      </p:sp>
      <p:sp>
        <p:nvSpPr>
          <p:cNvPr id="69" name="Text 58"/>
          <p:cNvSpPr/>
          <p:nvPr/>
        </p:nvSpPr>
        <p:spPr>
          <a:xfrm>
            <a:off x="621792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Automatisiert, je Verein &amp; Spendenart</a:t>
            </a:r>
            <a:endParaRPr lang="en-US" sz="870" dirty="0"/>
          </a:p>
        </p:txBody>
      </p:sp>
      <p:sp>
        <p:nvSpPr>
          <p:cNvPr id="70" name="Shape 59"/>
          <p:cNvSpPr/>
          <p:nvPr/>
        </p:nvSpPr>
        <p:spPr>
          <a:xfrm>
            <a:off x="3282696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1" name="Shape 60"/>
          <p:cNvSpPr/>
          <p:nvPr/>
        </p:nvSpPr>
        <p:spPr>
          <a:xfrm>
            <a:off x="3282696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2" name="Shape 61"/>
          <p:cNvSpPr/>
          <p:nvPr/>
        </p:nvSpPr>
        <p:spPr>
          <a:xfrm>
            <a:off x="3447288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7214" y="4576206"/>
            <a:ext cx="284196" cy="284196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3904488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FR-10</a:t>
            </a:r>
            <a:endParaRPr lang="en-US" sz="1000" dirty="0"/>
          </a:p>
        </p:txBody>
      </p:sp>
      <p:sp>
        <p:nvSpPr>
          <p:cNvPr id="75" name="Text 63"/>
          <p:cNvSpPr/>
          <p:nvPr/>
        </p:nvSpPr>
        <p:spPr>
          <a:xfrm>
            <a:off x="3447288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Serienbriefe</a:t>
            </a:r>
            <a:endParaRPr lang="en-US" sz="1150" dirty="0"/>
          </a:p>
        </p:txBody>
      </p:sp>
      <p:sp>
        <p:nvSpPr>
          <p:cNvPr id="76" name="Text 64"/>
          <p:cNvSpPr/>
          <p:nvPr/>
        </p:nvSpPr>
        <p:spPr>
          <a:xfrm>
            <a:off x="3447288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Kontakt, Briefanrede, Vereinszugehörigkeit</a:t>
            </a:r>
            <a:endParaRPr lang="en-US" sz="870" dirty="0"/>
          </a:p>
        </p:txBody>
      </p:sp>
      <p:sp>
        <p:nvSpPr>
          <p:cNvPr id="77" name="Shape 65"/>
          <p:cNvSpPr/>
          <p:nvPr/>
        </p:nvSpPr>
        <p:spPr>
          <a:xfrm>
            <a:off x="6108192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8" name="Shape 66"/>
          <p:cNvSpPr/>
          <p:nvPr/>
        </p:nvSpPr>
        <p:spPr>
          <a:xfrm>
            <a:off x="6108192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9" name="Shape 67"/>
          <p:cNvSpPr/>
          <p:nvPr/>
        </p:nvSpPr>
        <p:spPr>
          <a:xfrm>
            <a:off x="6272784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2710" y="4576206"/>
            <a:ext cx="284196" cy="284196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6729984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FR-11</a:t>
            </a:r>
            <a:endParaRPr lang="en-US" sz="1000" dirty="0"/>
          </a:p>
        </p:txBody>
      </p:sp>
      <p:sp>
        <p:nvSpPr>
          <p:cNvPr id="82" name="Text 69"/>
          <p:cNvSpPr/>
          <p:nvPr/>
        </p:nvSpPr>
        <p:spPr>
          <a:xfrm>
            <a:off x="6272784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</a:t>
            </a:r>
            <a:endParaRPr lang="en-US" sz="1150" dirty="0"/>
          </a:p>
        </p:txBody>
      </p:sp>
      <p:sp>
        <p:nvSpPr>
          <p:cNvPr id="83" name="Text 70"/>
          <p:cNvSpPr/>
          <p:nvPr/>
        </p:nvSpPr>
        <p:spPr>
          <a:xfrm>
            <a:off x="6272784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Pflichtfelder, gültige Werte</a:t>
            </a:r>
            <a:endParaRPr lang="en-US" sz="870" dirty="0"/>
          </a:p>
        </p:txBody>
      </p:sp>
      <p:sp>
        <p:nvSpPr>
          <p:cNvPr id="84" name="Shape 71"/>
          <p:cNvSpPr/>
          <p:nvPr/>
        </p:nvSpPr>
        <p:spPr>
          <a:xfrm>
            <a:off x="8933688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5" name="Shape 72"/>
          <p:cNvSpPr/>
          <p:nvPr/>
        </p:nvSpPr>
        <p:spPr>
          <a:xfrm>
            <a:off x="8933688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6" name="Shape 73"/>
          <p:cNvSpPr/>
          <p:nvPr/>
        </p:nvSpPr>
        <p:spPr>
          <a:xfrm>
            <a:off x="9098280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7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8206" y="4576206"/>
            <a:ext cx="284196" cy="284196"/>
          </a:xfrm>
          <a:prstGeom prst="rect">
            <a:avLst/>
          </a:prstGeom>
        </p:spPr>
      </p:pic>
      <p:sp>
        <p:nvSpPr>
          <p:cNvPr id="88" name="Text 74"/>
          <p:cNvSpPr/>
          <p:nvPr/>
        </p:nvSpPr>
        <p:spPr>
          <a:xfrm>
            <a:off x="9555480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FR-12</a:t>
            </a:r>
            <a:endParaRPr lang="en-US" sz="1000" dirty="0"/>
          </a:p>
        </p:txBody>
      </p:sp>
      <p:sp>
        <p:nvSpPr>
          <p:cNvPr id="89" name="Text 75"/>
          <p:cNvSpPr/>
          <p:nvPr/>
        </p:nvSpPr>
        <p:spPr>
          <a:xfrm>
            <a:off x="9098280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Datenkonsistenz</a:t>
            </a:r>
            <a:endParaRPr lang="en-US" sz="1150" dirty="0"/>
          </a:p>
        </p:txBody>
      </p:sp>
      <p:sp>
        <p:nvSpPr>
          <p:cNvPr id="90" name="Text 76"/>
          <p:cNvSpPr/>
          <p:nvPr/>
        </p:nvSpPr>
        <p:spPr>
          <a:xfrm>
            <a:off x="9098280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inkonsistenten Daten zulässig</a:t>
            </a:r>
            <a:endParaRPr lang="en-US" sz="870" dirty="0"/>
          </a:p>
        </p:txBody>
      </p:sp>
      <p:sp>
        <p:nvSpPr>
          <p:cNvPr id="91" name="Text 77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2" name="Text 78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NICHT-FUNKTIONAL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Nicht-funktionale Anforderungen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658368" y="1764792"/>
            <a:ext cx="512064" cy="512064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36" y="1831360"/>
            <a:ext cx="378927" cy="37892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371600" y="1911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/ DSGVO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0" y="1600200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personenbezogenen Daten werden gemäß DSGVO verarbeitet.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569464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658368" y="273405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36" y="2800624"/>
            <a:ext cx="378927" cy="37892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71600" y="26609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37160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0" y="2569464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stabil sein, um den Wartungsaufwand gering zu halten.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57200" y="3538728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658368" y="370332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6" y="3769888"/>
            <a:ext cx="378927" cy="37892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71600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3716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Modularer Aufbau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572000" y="3538728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Modulare Struktur für einfache Wartbarkeit.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57200" y="4507992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1"/>
          <p:cNvSpPr/>
          <p:nvPr/>
        </p:nvSpPr>
        <p:spPr>
          <a:xfrm>
            <a:off x="658368" y="4672584"/>
            <a:ext cx="512064" cy="512064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936" y="4739152"/>
            <a:ext cx="378927" cy="37892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371600" y="45994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371600" y="4818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4572000" y="4507992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Vollumfängliche, automatisierte, verschlüsselte Sicherung inkl. DSGVO-Fristen.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457200" y="5477256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6"/>
          <p:cNvSpPr/>
          <p:nvPr/>
        </p:nvSpPr>
        <p:spPr>
          <a:xfrm>
            <a:off x="658368" y="56418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936" y="5708416"/>
            <a:ext cx="378927" cy="37892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71600" y="55686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NFR-5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1371600" y="5788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Bedienbarkeit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4572000" y="5477256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Bedienbar für Personen ohne technischen Hintergrund.</a:t>
            </a:r>
            <a:endParaRPr lang="en-US" sz="1150" dirty="0"/>
          </a:p>
        </p:txBody>
      </p:sp>
      <p:sp>
        <p:nvSpPr>
          <p:cNvPr id="37" name="Text 3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· IST-ZUSTAND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FH_MA: Java-Swing-Fat-Client (ca. 2005 – 2013)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1617939"/>
            <a:ext cx="257129" cy="25712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1545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Desktop-Anwendung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179222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Swing-UI-Framework „compucrash“ (CInfoFrame/CListFrame) für generisches CRUD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31720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2376891"/>
            <a:ext cx="257129" cy="2571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32688" y="23042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pro Arbeitsplatz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932688" y="2551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Änderung erfordert Neuinstallation auf allen PCs – kein zentrales Deployment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3090672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3135843"/>
            <a:ext cx="257129" cy="2571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2688" y="30632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Datenbankzugriff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32688" y="3310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Client spricht per JDBC direkt mit MS SQL Server Express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849624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3894795"/>
            <a:ext cx="257129" cy="25712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2688" y="38221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Zugangsdaten im Klartext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932688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DB-Credentials liegen unverschlüsselt in lokalen .ini-Dateien auf jedem PC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08576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4653747"/>
            <a:ext cx="257129" cy="257129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32688" y="45811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per String-Konkatenation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932688" y="4828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Prepared Statements – strukturelles SQL-Injection-Risiko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457200" y="5367528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5412699"/>
            <a:ext cx="257129" cy="257129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32688" y="534009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Rollenkonzept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932688" y="55869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anwendungsseitige Zugriffskontrolle, kein zentrales Logging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solidFill>
            <a:srgbClr val="FBF3F0"/>
          </a:solidFill>
          <a:ln w="12700">
            <a:solidFill>
              <a:srgbClr val="EAD2C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24"/>
          <p:cNvSpPr/>
          <p:nvPr/>
        </p:nvSpPr>
        <p:spPr>
          <a:xfrm>
            <a:off x="6766560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2-Schichten-Architektur (Alt)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6766560" y="2148840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26"/>
          <p:cNvSpPr/>
          <p:nvPr/>
        </p:nvSpPr>
        <p:spPr>
          <a:xfrm>
            <a:off x="6876288" y="2240280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2281885"/>
            <a:ext cx="236830" cy="23683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278624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1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8915400" y="2400300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29"/>
          <p:cNvSpPr/>
          <p:nvPr/>
        </p:nvSpPr>
        <p:spPr>
          <a:xfrm>
            <a:off x="6766560" y="2807208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0"/>
          <p:cNvSpPr/>
          <p:nvPr/>
        </p:nvSpPr>
        <p:spPr>
          <a:xfrm>
            <a:off x="6876288" y="2898648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2940253"/>
            <a:ext cx="236830" cy="23683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278624" y="28072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2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915400" y="3058668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33"/>
          <p:cNvSpPr/>
          <p:nvPr/>
        </p:nvSpPr>
        <p:spPr>
          <a:xfrm>
            <a:off x="6766560" y="3465576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34"/>
          <p:cNvSpPr/>
          <p:nvPr/>
        </p:nvSpPr>
        <p:spPr>
          <a:xfrm>
            <a:off x="6876288" y="3557016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3598621"/>
            <a:ext cx="236830" cy="236830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278624" y="34655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…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8915400" y="3717036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8" name="Text 37"/>
          <p:cNvSpPr/>
          <p:nvPr/>
        </p:nvSpPr>
        <p:spPr>
          <a:xfrm>
            <a:off x="8869680" y="19568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· Klartext-Credentials</a:t>
            </a:r>
            <a:endParaRPr lang="en-US" sz="750" dirty="0"/>
          </a:p>
        </p:txBody>
      </p:sp>
      <p:sp>
        <p:nvSpPr>
          <p:cNvPr id="49" name="Shape 38"/>
          <p:cNvSpPr/>
          <p:nvPr/>
        </p:nvSpPr>
        <p:spPr>
          <a:xfrm>
            <a:off x="9966960" y="2880360"/>
            <a:ext cx="1463040" cy="1005840"/>
          </a:xfrm>
          <a:prstGeom prst="rect">
            <a:avLst/>
          </a:prstGeom>
          <a:solidFill>
            <a:srgbClr val="B5533C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39"/>
          <p:cNvSpPr/>
          <p:nvPr/>
        </p:nvSpPr>
        <p:spPr>
          <a:xfrm>
            <a:off x="10469880" y="3035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9316" y="3095244"/>
            <a:ext cx="338328" cy="338328"/>
          </a:xfrm>
          <a:prstGeom prst="rect">
            <a:avLst/>
          </a:prstGeom>
        </p:spPr>
      </p:pic>
      <p:sp>
        <p:nvSpPr>
          <p:cNvPr id="52" name="Text 40"/>
          <p:cNvSpPr/>
          <p:nvPr/>
        </p:nvSpPr>
        <p:spPr>
          <a:xfrm>
            <a:off x="100584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850" dirty="0"/>
          </a:p>
        </p:txBody>
      </p:sp>
      <p:sp>
        <p:nvSpPr>
          <p:cNvPr id="53" name="Text 41"/>
          <p:cNvSpPr/>
          <p:nvPr/>
        </p:nvSpPr>
        <p:spPr>
          <a:xfrm>
            <a:off x="6766560" y="5349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Ergänzend: Outlook-COM-Interop für Serienbrief-Versand, ImportExcel-Modul verwaist/ungenutzt</a:t>
            </a:r>
            <a:endParaRPr lang="en-US" sz="950" dirty="0"/>
          </a:p>
        </p:txBody>
      </p:sp>
      <p:sp>
        <p:nvSpPr>
          <p:cNvPr id="54" name="Text 4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5" name="Text 43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· ABLEITUNG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Probleme des Alt-Systems als Architektur-Treiber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85800" y="1600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zentraler Sicherheitsfilter</a:t>
            </a:r>
            <a:endParaRPr lang="en-US" sz="12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819656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26480" y="160020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SQL-Injection möglich, DSGVO-Risiko bei jedem Client-Zugriff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441448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457200" y="2441448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85800" y="2441448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Client-seitige Installation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660904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2441448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nur manuell, PC für PC – hoher Wartungsaufwand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282696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457200" y="3282696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685800" y="3282696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anwendungsseitiges Rollenkonzept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50215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126480" y="3282696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nachweisbare rollenbasierte Zugriffskontrolle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123944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18"/>
          <p:cNvSpPr/>
          <p:nvPr/>
        </p:nvSpPr>
        <p:spPr>
          <a:xfrm>
            <a:off x="457200" y="4123944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685800" y="4123944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zentrales Logging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434340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126480" y="4123944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Fehleranalyse, Nachvollziehbarkeit &amp; Audit kaum möglich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57200" y="4965192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2"/>
          <p:cNvSpPr/>
          <p:nvPr/>
        </p:nvSpPr>
        <p:spPr>
          <a:xfrm>
            <a:off x="457200" y="4965192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9" name="Text 23"/>
          <p:cNvSpPr/>
          <p:nvPr/>
        </p:nvSpPr>
        <p:spPr>
          <a:xfrm>
            <a:off x="685800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Monolithischer Swing-Client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5184648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126480" y="4965192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Wartung erfordert seltenes Swing-Spezialwissen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57200" y="5852160"/>
            <a:ext cx="11247120" cy="5669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3" name="Text 26"/>
          <p:cNvSpPr/>
          <p:nvPr/>
        </p:nvSpPr>
        <p:spPr>
          <a:xfrm>
            <a:off x="685800" y="585216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Anwendungsschicht mit Authentifizierung, Validierung &amp; Zugriffskontrolle → 3-Schichten-Architektur (ADR-001)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Architekturstil: 3-Schichten statt Fat-Client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7724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" y="2055571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(SPA)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79476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3840480" y="1399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0" y="1691640"/>
            <a:ext cx="3246120" cy="114300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80060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923" y="2055571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(Windows-Dienst)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781812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4"/>
          <p:cNvSpPr/>
          <p:nvPr/>
        </p:nvSpPr>
        <p:spPr>
          <a:xfrm>
            <a:off x="7863840" y="1399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59536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882396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5283" y="2055571"/>
            <a:ext cx="405994" cy="4059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50976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548640" y="299923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→ Anwendungslogik → Daten – jede Schicht mit klar getrennter Verantwortung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01568"/>
          <a:ext cx="11064240" cy="22860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Client (2-Schichten)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3-Schichten ✓ gewählt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Client-Deployment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Install je 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kein Client-Install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nur Browser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Sicherheit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DB-Credentials am Client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zentral je Service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zentrale Sicherheitsbarriere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Betriebskomplexität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einfach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Orchestrierung nötig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Server, beherrschbar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Passend für kleines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Wartung aufwändig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überdimensioniert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optimaler Kompromiss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1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Tech-Stack Backend: Spring Boot 3.4 · Java 21 LTS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508760"/>
          <a:ext cx="55778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Spring Boot?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56832" y="18288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Office-Dokumente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656832" y="20665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POI / docx4j als ausgereiftestes Open-Source-Ökosystem (25%)</a:t>
            </a:r>
            <a:endParaRPr lang="en-US" sz="9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58775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56832" y="25420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Teamkompetenz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656832" y="277977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Legacy-System bereits in Java – direkter Wissenstransfer (20%)</a:t>
            </a:r>
            <a:endParaRPr lang="en-US" sz="9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30098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56832" y="325526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Sicherheits-Framework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6656832" y="34930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6: JWT/BCrypt/RBAC, produktionserprobt (15%)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014216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56832" y="39684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Langlebigkeit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6656832" y="42062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LTS-Support bis mind. 2031 (10%)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4572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5202936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326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233172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1448" y="5202936"/>
            <a:ext cx="310896" cy="310896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280720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420624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5202936"/>
            <a:ext cx="310896" cy="310896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68172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608076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5202936"/>
            <a:ext cx="310896" cy="310896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55624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795528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5202936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843076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98298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9528" y="5202936"/>
            <a:ext cx="310896" cy="310896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103052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950" dirty="0"/>
          </a:p>
        </p:txBody>
      </p:sp>
      <p:sp>
        <p:nvSpPr>
          <p:cNvPr id="39" name="Text 2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40" name="Text 2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Tech-Stack Frontend: Vaadin (Full-Stack Java)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508760"/>
          <a:ext cx="55778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Vaadin?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7452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56832" y="18288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Wiederverwendbarkeit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656832" y="20665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Wiederverwendung von Services, Datenzugriff &amp; Security der Desktopanwendung (35%)</a:t>
            </a:r>
            <a:endParaRPr lang="en-US" sz="9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8775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56832" y="25420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UI-Komponenten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656832" y="277977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Formulare, Tabellen &amp; Dialoge "out of the box", wenig Boilerplate-Code (25%)</a:t>
            </a:r>
            <a:endParaRPr lang="en-US" sz="9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0098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56832" y="325526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Sicherheitsintegration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6656832" y="34930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Nahtlose Anbindung an Spring Security aus ADR-002 (20%)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014216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56832" y="39684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Geringere Komplexität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6656832" y="42062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REST notwendig – weniger Schnittstellen als Angular/React/Next.js (20%)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4572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202936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326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233172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5202936"/>
            <a:ext cx="310896" cy="310896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280720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 Flow</a:t>
            </a:r>
            <a:endParaRPr 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420624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5202936"/>
            <a:ext cx="310896" cy="310896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68172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 Grid</a:t>
            </a:r>
            <a:endParaRPr 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608076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5202936"/>
            <a:ext cx="310896" cy="310896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55624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(integriert)</a:t>
            </a:r>
            <a:endParaRPr 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795528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5008" y="5202936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843076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98298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9528" y="5202936"/>
            <a:ext cx="310896" cy="310896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103052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950" dirty="0"/>
          </a:p>
        </p:txBody>
      </p:sp>
      <p:sp>
        <p:nvSpPr>
          <p:cNvPr id="39" name="Text 2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40" name="Text 2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Authentifizierung &amp; RBAC: HTTP-Basic-Auth + BCrypt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7724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" y="2055571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 UI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9476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3813048" y="1399032"/>
            <a:ext cx="832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 (HTTPS)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0" y="1691640"/>
            <a:ext cx="3246120" cy="114300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80060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923" y="2055571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12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Chain (STATELESS)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1812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4"/>
          <p:cNvSpPr/>
          <p:nvPr/>
        </p:nvSpPr>
        <p:spPr>
          <a:xfrm>
            <a:off x="7836408" y="1399032"/>
            <a:ext cx="832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DB-Lookup (Rolle)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859536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882396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5283" y="2055571"/>
            <a:ext cx="405994" cy="4059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50976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app_user</a:t>
            </a:r>
            <a:endParaRPr lang="en-US" sz="12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(BCrypt-Hash)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48640" y="299923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Zustandslos (kein Session-Speicher) · Rollen ADMIN / SACHBEARBEITUNG · Passwörter ausschließlich als BCrypt-Hash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01568"/>
          <a:ext cx="11064240" cy="22860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(Bearer)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+ Cookie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Basic + BCrypt ✓ gewählt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Implementierungsaufwand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Signing-Key, Refresh-Flow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CSRF-Schutz nötig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minimal, native Unterstützung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Widerruf / Logout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Blacklist erforderlich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sofort serverseitig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kein serverseitiger Logout nötig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zustandslos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Session-Speicher nötig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zustandslos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Eignung für Kleinstsystem (1 Server, LAN)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überdimensioniert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unnötige Komplexität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proportional zum Bedrohungskontext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1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ADR-005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Backup-Strategie: pgBackRest &amp; 3-2-1-Regel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63093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Automatisierter Backup-Fluss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03120" y="2121408"/>
            <a:ext cx="320040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2240280" y="2189988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829" y="2237537"/>
            <a:ext cx="270662" cy="27066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697480" y="21214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(frauenhaus)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703320" y="2651760"/>
            <a:ext cx="0" cy="25603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822960" y="2926080"/>
            <a:ext cx="5760720" cy="14173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1005840" y="30358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pgBackRest</a:t>
            </a:r>
            <a:endParaRPr lang="en-US" sz="125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463040" y="33375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Vollbackup sonntags 02:00 Uhr</a:t>
            </a:r>
            <a:endParaRPr lang="en-US" sz="1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712464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3685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Differenziell Mo–Sa 02:00 Uhr</a:t>
            </a:r>
            <a:endParaRPr lang="en-US" sz="10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405993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32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verschlüsselt, zst-komprimiert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2468880" y="4370832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17"/>
          <p:cNvSpPr/>
          <p:nvPr/>
        </p:nvSpPr>
        <p:spPr>
          <a:xfrm>
            <a:off x="4937760" y="4370832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18"/>
          <p:cNvSpPr/>
          <p:nvPr/>
        </p:nvSpPr>
        <p:spPr>
          <a:xfrm>
            <a:off x="822960" y="4663440"/>
            <a:ext cx="27432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19"/>
          <p:cNvSpPr/>
          <p:nvPr/>
        </p:nvSpPr>
        <p:spPr>
          <a:xfrm>
            <a:off x="987552" y="48006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101" y="4848149"/>
            <a:ext cx="270662" cy="2706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44752" y="4663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repo1 – lokal</a:t>
            </a:r>
            <a:endParaRPr lang="en-US" sz="10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(getrenntes Volume)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3840480" y="4663440"/>
            <a:ext cx="2743200" cy="822960"/>
          </a:xfrm>
          <a:prstGeom prst="rect">
            <a:avLst/>
          </a:prstGeom>
          <a:solidFill>
            <a:srgbClr val="D4A017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Shape 22"/>
          <p:cNvSpPr/>
          <p:nvPr/>
        </p:nvSpPr>
        <p:spPr>
          <a:xfrm>
            <a:off x="4005072" y="48006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2621" y="4848149"/>
            <a:ext cx="270662" cy="27066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462272" y="4663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repo2 – extern</a:t>
            </a:r>
            <a:endParaRPr lang="en-US" sz="10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(USB-Rotation, 2. Standort)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822960" y="5623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Cloud-Ziel für repo2 – konsistent mit ADR-006 (On-Premises, kein Internetzugang im Regelbetrieb)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713232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nicht pg_dump / manuell?</a:t>
            </a:r>
            <a:endParaRPr lang="en-US" sz="13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0" y="1920240"/>
            <a:ext cx="237744" cy="23774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479792" y="1883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Manuelles Skript (IST-Zustand): kein Zeitplan, abhängig von menschlicher Disziplin</a:t>
            </a:r>
            <a:endParaRPr lang="en-US" sz="105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0" y="2633472"/>
            <a:ext cx="237744" cy="237744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479792" y="25968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pg_dump bietet kein Point-in-Time-Recovery – nur letzter Dump-Zeitpunkt wiederherstellbar</a:t>
            </a:r>
            <a:endParaRPr lang="en-US" sz="105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0" y="3346704"/>
            <a:ext cx="237744" cy="237744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79792" y="33101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pg_dump wächst linear mit der DB-Größe, keine inkrementellen Backups</a:t>
            </a:r>
            <a:endParaRPr lang="en-US" sz="1050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0" y="4059936"/>
            <a:ext cx="237744" cy="237744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7479792" y="40233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pgBackRest: native Verschlüsselung, Kompression &amp; Retention-Verwaltung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132320" y="4864608"/>
            <a:ext cx="4572000" cy="146304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3" name="Text 31"/>
          <p:cNvSpPr/>
          <p:nvPr/>
        </p:nvSpPr>
        <p:spPr>
          <a:xfrm>
            <a:off x="7360920" y="4983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Wiederherstellung</a:t>
            </a:r>
            <a:endParaRPr lang="en-US" sz="1100" dirty="0"/>
          </a:p>
        </p:txBody>
      </p:sp>
      <p:sp>
        <p:nvSpPr>
          <p:cNvPr id="44" name="Text 32"/>
          <p:cNvSpPr/>
          <p:nvPr/>
        </p:nvSpPr>
        <p:spPr>
          <a:xfrm>
            <a:off x="7360920" y="52760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Voll · 14 Differenz  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Monat PITR-Fenster
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Quartalsweise  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Pflicht-Restore-Test in Staging</a:t>
            </a:r>
            <a:endParaRPr lang="en-US" sz="1700" dirty="0"/>
          </a:p>
        </p:txBody>
      </p:sp>
      <p:sp>
        <p:nvSpPr>
          <p:cNvPr id="45" name="Text 33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46" name="Text 34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ADR-006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Deployment: On-Premises statt Cloud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63093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Vereinsbüro – physisch geschützter Raum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5760720" cy="246888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</a:t>
            </a:r>
            <a:endParaRPr lang="en-US" sz="12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0604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63040" y="25694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 (WinSW-Dienst)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17296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3136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PostgreSQL-Datenbank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73989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37033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Verschlüsselte Backups (lokal + USB)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3703320" y="4617720"/>
            <a:ext cx="0" cy="5029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3"/>
          <p:cNvSpPr/>
          <p:nvPr/>
        </p:nvSpPr>
        <p:spPr>
          <a:xfrm>
            <a:off x="2468880" y="4782312"/>
            <a:ext cx="246888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4"/>
          <p:cNvSpPr/>
          <p:nvPr/>
        </p:nvSpPr>
        <p:spPr>
          <a:xfrm>
            <a:off x="822960" y="4782312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– kein Internetzugang nötig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2240280" y="5303520"/>
            <a:ext cx="2926080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Shape 16"/>
          <p:cNvSpPr/>
          <p:nvPr/>
        </p:nvSpPr>
        <p:spPr>
          <a:xfrm>
            <a:off x="2377440" y="5413248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4989" y="5460797"/>
            <a:ext cx="270662" cy="2706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880360" y="5303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(Browser im LAN)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713232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kein Cloud-Hosting?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192024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79792" y="18836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 sensible Daten (Art. 9 DSGVO) – physische Datenhoheit bleibt beim Verein</a:t>
            </a:r>
            <a:endParaRPr lang="en-US" sz="10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2606040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479792" y="25694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Auftragsverarbeiter, kein Drittlandtransfer, keine AVV nötig</a:t>
            </a:r>
            <a:endParaRPr lang="en-US" sz="105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3291840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479792" y="32552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Internet-Zugriffspunkt → minimale Angriffsfläche</a:t>
            </a:r>
            <a:endParaRPr lang="en-US" sz="105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3977640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479792" y="39410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Verein ohne IT-Personal – keine laufenden Cloud-Kosten tragbar</a:t>
            </a:r>
            <a:endParaRPr lang="en-US" sz="1050" dirty="0"/>
          </a:p>
        </p:txBody>
      </p:sp>
      <p:sp>
        <p:nvSpPr>
          <p:cNvPr id="33" name="Shape 23"/>
          <p:cNvSpPr/>
          <p:nvPr/>
        </p:nvSpPr>
        <p:spPr>
          <a:xfrm>
            <a:off x="7132320" y="4800600"/>
            <a:ext cx="4572000" cy="14173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Text 24"/>
          <p:cNvSpPr/>
          <p:nvPr/>
        </p:nvSpPr>
        <p:spPr>
          <a:xfrm>
            <a:off x="7360920" y="4919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5-Jahres-TCO im Vergleich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7360920" y="519379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~1.050 €  </a:t>
            </a: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
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~3.000 – 4.800 €  </a:t>
            </a:r>
            <a:endParaRPr lang="en-US" sz="20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(Hetzner / Azure)</a:t>
            </a:r>
            <a:endParaRPr lang="en-US" sz="2000" dirty="0"/>
          </a:p>
        </p:txBody>
      </p:sp>
      <p:sp>
        <p:nvSpPr>
          <p:cNvPr id="36" name="Text 2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NEUER TECHNOLOGIE-STACK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neue Stack – mit Bezug zu den Anforderungen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1760220"/>
            <a:ext cx="338328" cy="3383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 (Full-Stack Java)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34440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 · Usability-Anforderung, browserbasiert ohne Client-Install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78808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361688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1124" y="1760220"/>
            <a:ext cx="338328" cy="33832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56048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3.4 / Java 21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56048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ANWENDUNGSLOGIK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361688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Basis für alle FR-1…FR-12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900416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8083296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1760220"/>
            <a:ext cx="338328" cy="33832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677656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+ BCrypt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677656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RBAC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8083296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 · NFR-1 (Sicherheit/DSGVO)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1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" y="3305556"/>
            <a:ext cx="338328" cy="33832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1234440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PERSISTENZSCHICHT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640080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FR-2…FR-7 · strukturell SQL-Injection-frei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178808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6"/>
          <p:cNvSpPr/>
          <p:nvPr/>
        </p:nvSpPr>
        <p:spPr>
          <a:xfrm>
            <a:off x="4361688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1124" y="3305556"/>
            <a:ext cx="338328" cy="33832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956048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4956048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4361688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keine Lizenzkosten, keine Limits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7900416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Shape 31"/>
          <p:cNvSpPr/>
          <p:nvPr/>
        </p:nvSpPr>
        <p:spPr>
          <a:xfrm>
            <a:off x="8083296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42732" y="3305556"/>
            <a:ext cx="338328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677656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8677656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DB-MIGRATIONEN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8083296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NFR-2 Zuverlässigkeit · NFR-3 Modularität</a:t>
            </a:r>
            <a:endParaRPr lang="en-US" sz="900" dirty="0"/>
          </a:p>
        </p:txBody>
      </p:sp>
      <p:sp>
        <p:nvSpPr>
          <p:cNvPr id="43" name="Shape 35"/>
          <p:cNvSpPr/>
          <p:nvPr/>
        </p:nvSpPr>
        <p:spPr>
          <a:xfrm>
            <a:off x="457200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Shape 36"/>
          <p:cNvSpPr/>
          <p:nvPr/>
        </p:nvSpPr>
        <p:spPr>
          <a:xfrm>
            <a:off x="640080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" y="4850892"/>
            <a:ext cx="338328" cy="33832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234440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Envers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1234440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ÄNDERUNGSHISTORIE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640080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Ersetzt CDisplayFieldHistoryBean/CHistoryDialog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4178808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1"/>
          <p:cNvSpPr/>
          <p:nvPr/>
        </p:nvSpPr>
        <p:spPr>
          <a:xfrm>
            <a:off x="4361688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1124" y="4850892"/>
            <a:ext cx="338328" cy="33832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4956048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POI / docx4j</a:t>
            </a:r>
            <a:endParaRPr lang="en-US" sz="1200" dirty="0"/>
          </a:p>
        </p:txBody>
      </p:sp>
      <p:sp>
        <p:nvSpPr>
          <p:cNvPr id="53" name="Text 43"/>
          <p:cNvSpPr/>
          <p:nvPr/>
        </p:nvSpPr>
        <p:spPr>
          <a:xfrm>
            <a:off x="4956048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DOKUMENTGENERIERUNG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4361688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FR-8 Auswertungen · FR-9/FR-10 Bescheinigungen &amp; Serienbriefe</a:t>
            </a:r>
            <a:endParaRPr lang="en-US" sz="900" dirty="0"/>
          </a:p>
        </p:txBody>
      </p:sp>
      <p:sp>
        <p:nvSpPr>
          <p:cNvPr id="55" name="Shape 45"/>
          <p:cNvSpPr/>
          <p:nvPr/>
        </p:nvSpPr>
        <p:spPr>
          <a:xfrm>
            <a:off x="7900416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6" name="Shape 46"/>
          <p:cNvSpPr/>
          <p:nvPr/>
        </p:nvSpPr>
        <p:spPr>
          <a:xfrm>
            <a:off x="8083296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2732" y="4850892"/>
            <a:ext cx="338328" cy="338328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8677656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+ WinSW</a:t>
            </a:r>
            <a:endParaRPr lang="en-US" sz="1200" dirty="0"/>
          </a:p>
        </p:txBody>
      </p:sp>
      <p:sp>
        <p:nvSpPr>
          <p:cNvPr id="59" name="Text 48"/>
          <p:cNvSpPr/>
          <p:nvPr/>
        </p:nvSpPr>
        <p:spPr>
          <a:xfrm>
            <a:off x="8677656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</a:t>
            </a:r>
            <a:endParaRPr lang="en-US" sz="800" dirty="0"/>
          </a:p>
        </p:txBody>
      </p:sp>
      <p:sp>
        <p:nvSpPr>
          <p:cNvPr id="60" name="Text 49"/>
          <p:cNvSpPr/>
          <p:nvPr/>
        </p:nvSpPr>
        <p:spPr>
          <a:xfrm>
            <a:off x="8083296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ADR-006 On-Premises · NFR-2/NFR-3</a:t>
            </a:r>
            <a:endParaRPr lang="en-US" sz="900" dirty="0"/>
          </a:p>
        </p:txBody>
      </p:sp>
      <p:sp>
        <p:nvSpPr>
          <p:cNvPr id="61" name="Text 5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62" name="Text 51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Komponenten &amp; Beziehungen im Überblick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105156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85800" y="1536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Vaadin UI (Browser)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48412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252984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(Mitglieder/Spenden/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Bußgelder/Verwaltung)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28244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32816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Stichwortsuche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08076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12648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787908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92480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967740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972312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Dokumente/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Verlauf-Panels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080760" y="2514600"/>
            <a:ext cx="0" cy="292608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200400" y="254203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Server-Side Rendering (Vaadin, kein REST) · HTTP Basic Auth (BCrypt) via Spring Security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843784"/>
            <a:ext cx="11247120" cy="23317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685800" y="29352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 (Windows-Dienst)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77240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Controller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MitgliedController · SpendeController · BussgeldController</a:t>
            </a:r>
            <a:endParaRPr lang="en-US" sz="750" dirty="0"/>
          </a:p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GerichtController · ReportController · DokumentController 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319272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92424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3483864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(Geschäftslogik)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83864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MitgliedService · SpendeService · WordTemplateService</a:t>
            </a:r>
            <a:endParaRPr lang="en-US" sz="750" dirty="0"/>
          </a:p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ExcelUtil · StichwortsucheService · AuditService …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025896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99048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6190488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(Spring Data JPA)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90488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MitgliedRepository · SpendeRepository · BussgeldRepository …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732520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805672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/>
          <p:cNvSpPr/>
          <p:nvPr/>
        </p:nvSpPr>
        <p:spPr>
          <a:xfrm>
            <a:off x="8897112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/ Entities (JPA)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897112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· Verein · Spende · Bussgeld · Eingang · Gericht …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85800" y="4882896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i="1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Querschnitt: Spring Security (RBAC) · Hibernate Envers (Audit) · Flyway (Migrationen: db/migration + db/testdata)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194560" y="5175504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40"/>
          <p:cNvSpPr/>
          <p:nvPr/>
        </p:nvSpPr>
        <p:spPr>
          <a:xfrm>
            <a:off x="457200" y="51846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(Prepared Statements)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5486400"/>
            <a:ext cx="4206240" cy="77724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658368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5692140"/>
            <a:ext cx="338328" cy="33832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243584" y="5486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frauenhaus.* Schema + *_aud Audit-Tabellen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7863840" y="5175504"/>
            <a:ext cx="0" cy="310896"/>
          </a:xfrm>
          <a:prstGeom prst="line">
            <a:avLst/>
          </a:prstGeom>
          <a:noFill/>
          <a:ln w="25400">
            <a:solidFill>
              <a:srgbClr val="D4A017"/>
            </a:solidFill>
            <a:prstDash val="dash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5"/>
          <p:cNvSpPr/>
          <p:nvPr/>
        </p:nvSpPr>
        <p:spPr>
          <a:xfrm>
            <a:off x="5669280" y="5486400"/>
            <a:ext cx="5394960" cy="777240"/>
          </a:xfrm>
          <a:prstGeom prst="rect">
            <a:avLst/>
          </a:prstGeom>
          <a:solidFill>
            <a:srgbClr val="D4A017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Shape 46"/>
          <p:cNvSpPr/>
          <p:nvPr/>
        </p:nvSpPr>
        <p:spPr>
          <a:xfrm>
            <a:off x="5870448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84" y="5692140"/>
            <a:ext cx="338328" cy="338328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6455664" y="54864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Dokumentgenerierung: Apache POI (.xlsx) · docx4j (.docx)</a:t>
            </a:r>
            <a:endParaRPr lang="en-US" sz="900" dirty="0"/>
          </a:p>
          <a:p>
            <a:pPr marL="0" indent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Word-Vorlagen aus backend/vorlagen-alt/ – Serienbriefe &amp; Spendenquittungen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3" name="Text 49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 · DETAIL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im Detail: Schichten, Verantwortung, Klassen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Schicht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Beispielhafte Komponenten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/ Controller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REST-Endpunkte, HTTP-Statuscodes, Exception-Mapping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MitgliedController, SpendeController, BussgeldController, GerichtController,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VereinController, ReportController, DokumentController, AppUserController,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ApiExceptionHandler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Geschäftslogik, Validierung, Transaktionsgrenzen (@Transactional)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MitgliedService, SpendeService, BussgeldService, VerteilerService,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WordTemplateService, DocumentCreationService, ExcelUtil, StichwortsucheService,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AuditService, AppUserService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Datenzugriff über Spring Data JPA (Prepared Statements, kein SQL-Injection-Risiko)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MitgliedRepository, SpendeRepository, BussgeldRepository, GerichtRepository,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VereinRepository, DokumentRepository, AppUserRepository, 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(JPA-Entities)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Fachliches Datenmodell inkl. Beziehungen (FK, @ManyToMany, @OneToMany)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Mitglied, Verein, Spende, Bussgeld, Eingang, Gericht, Anrede,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Spendenart, Spendentyp, Stichwort, Dokument, AppUser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Authentifizierung &amp; rollenbasierte Autorisierung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SecurityConfig, DbUserDetailsService, AdminBootstrap – Rollen ADMIN / SACHBEARBEITUNG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Automatische Änderungshistorie je Entität (Hibernate Envers)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AuditRevisionListener, Revision, *_aud-Tabellen – ersetzt CDisplayFieldHistoryBean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Migrationen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Versionierte, automatische DB-Schemaentwicklung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Flyway: db/migration (V1–V4, immer aktiv) + db/testdata (V5, nur Profil „dev“)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ANFORDERUNGS-MAPPING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Alt-System vs. neue Architektur je Anforderung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4978908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Anforderung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Alt-System (FH_MA)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 Architektur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Benutzerverwaltung (FR-1)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 Rollenkonzept auf Anwendungsebene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 + BCrypt, RBAC (ADMIN/SACHBEARBEITUNG)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Stammdaten-CRUD (FR-2,3,4,6,7)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Generisches CInfoFrame/CListFrame (Swing)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Vaadin-View + direkter Service-Aufruf je Entität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Zahlungseingänge (FR-5)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Manuelle Berechnung im Bußgeld-Datensatz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Eingang-Entity, automatische Summen-/Restbetragsberechnung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Auswertungen (FR-8)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Swing-Reports, direkter DB-Export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ReportController + Apache POI (.xlsx)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Spendenbescheinigungen (FR-9)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CCommandSpendenQuittung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WordTemplateService + docx4j (.docx, je Verein/Art)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Serienbriefe (FR-10)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CCommandBriefFrauenhaus / -Foerderverein + Outlook-COM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Word-Template-Service, Batch-Generierung ohne Outlook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Änderungshistorie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CDisplayFieldHistoryBean / CHistoryDialog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Hibernate Envers – automatisch, *_aud-Tabellen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Dokumenten-Anhänge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CDisplayFieldDocumentBean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Dokument-Entity (bytea) + Upload-/Download-API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Validierung/Konsistenz (FR-11,12)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Vereinzelte Swing-Feldvalidierung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Validation + FK-Constraints + zentrale Fehlerbehandlung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&amp; Recovery (NFR-4)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Manuelles Ad-hoc-Skript, kein Zeitplan, unverschlüsselt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pgBackRest, automatisiert, AES-256, PITR (ADR-005)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21792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 im Vergleich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 statt 2 –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Sicherheitsbarriere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10712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410712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47872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Klartext-Zugangsdaten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Clients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181344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12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Alt-Funktionen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migriert bzw. verbessert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51976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8951976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89136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–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DSGVO-Datenhoheit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einem monolithischen Swing-Fat-Client mit direktem Datenbankzugriff wurde eine sichere, wartbare 3-Schichten-Webarchitektur – vollständig on-premises betrieben, DSGVO-konform und mit klarer Rückverfolgbarkeit auf jede dokumentierte Anforderung.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120640"/>
            <a:ext cx="457200" cy="411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256032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097280" y="2651760"/>
            <a:ext cx="256032" cy="6126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554480" y="2651760"/>
            <a:ext cx="256032" cy="44805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 für Ihre Aufmerksamkeit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zur Architektur, den ADRs oder dem Migrationsplan?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B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Referenzen: 03-architektur/01-requirements.md · 03-architektur/adrs/001–006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2009</Words>
  <Application>Microsoft Office PowerPoint</Application>
  <PresentationFormat>Breitbild</PresentationFormat>
  <Paragraphs>472</Paragraphs>
  <Slides>19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FH_MA Modernisierung – Architekturvergleich</dc:title>
  <dc:subject>PptxGenJS Presentation</dc:subject>
  <dc:creator>FH_MA Modernisierungsprojekt</dc:creator>
  <cp:lastModifiedBy>Faller. Paul-Louis</cp:lastModifiedBy>
  <cp:revision>1</cp:revision>
  <dcterms:created xsi:type="dcterms:W3CDTF">2026-07-13T19:00:37Z</dcterms:created>
  <dcterms:modified xsi:type="dcterms:W3CDTF">2026-07-17T14:00:12Z</dcterms:modified>
</cp:coreProperties>
</file>