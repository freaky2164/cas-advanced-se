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de-DE" sz="1200" b="0" i="0" u="none" strike="noStrike">
                <a:solidFill>
                  <a:srgbClr val="1E2761"/>
                </a:solidFill>
                <a:latin typeface="Arial"/>
              </a:rPr>
              <a:t>Entscheidungsmatrix (gewichtet)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Gewichtete Bewertung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244-4BDF-BBFC-75507557853D}"/>
              </c:ext>
            </c:extLst>
          </c:dPt>
          <c:dPt>
            <c:idx val="1"/>
            <c:invertIfNegative val="0"/>
            <c:bubble3D val="0"/>
            <c:spPr>
              <a:solidFill>
                <a:srgbClr val="8FB3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244-4BDF-BBFC-75507557853D}"/>
              </c:ext>
            </c:extLst>
          </c:dPt>
          <c:dPt>
            <c:idx val="2"/>
            <c:invertIfNegative val="0"/>
            <c:bubble3D val="0"/>
            <c:spPr>
              <a:solidFill>
                <a:srgbClr val="D8DEE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244-4BDF-BBFC-75507557853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Spring Boot / Java 21</c:v>
                </c:pt>
                <c:pt idx="1">
                  <c:v>ASP.NET Core / C#</c:v>
                </c:pt>
                <c:pt idx="2">
                  <c:v>Django / Python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4.6500000000000004</c:v>
                </c:pt>
                <c:pt idx="1">
                  <c:v>3.85</c:v>
                </c:pt>
                <c:pt idx="2">
                  <c:v>2.9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244-4BDF-BBFC-75507557853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45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5"/>
        </c:scaling>
        <c:delete val="0"/>
        <c:axPos val="b"/>
        <c:majorGridlines>
          <c:spPr>
            <a:ln w="6350" cap="flat">
              <a:solidFill>
                <a:srgbClr val="E1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671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3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4.png"/><Relationship Id="rId5" Type="http://schemas.openxmlformats.org/officeDocument/2006/relationships/image" Target="../media/image2.png"/><Relationship Id="rId10" Type="http://schemas.openxmlformats.org/officeDocument/2006/relationships/image" Target="../media/image32.png"/><Relationship Id="rId4" Type="http://schemas.openxmlformats.org/officeDocument/2006/relationships/image" Target="../media/image25.png"/><Relationship Id="rId9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914400"/>
            <a:ext cx="310896" cy="5029200"/>
          </a:xfrm>
          <a:prstGeom prst="rect">
            <a:avLst/>
          </a:prstGeom>
          <a:solidFill>
            <a:srgbClr val="CADCFC">
              <a:alpha val="90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9436608" y="914400"/>
            <a:ext cx="310896" cy="420624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10003536" y="914400"/>
            <a:ext cx="310896" cy="3383280"/>
          </a:xfrm>
          <a:prstGeom prst="rect">
            <a:avLst/>
          </a:prstGeom>
          <a:solidFill>
            <a:srgbClr val="1C7293">
              <a:alpha val="90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FH_MA MODERNISIERUNG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1792" y="233172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Fat-Client zur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modernen Web-Architektur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4251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 · Architekturentscheidungen · neuer Technologie-Stack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die finale Systemarchitektur im Detailvergleich zum Alt-System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257800"/>
            <a:ext cx="457200" cy="4114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Frauenhaus e.V.  ·  Backend-/Frontend-Neuentwicklung  ·  Juli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21792" y="868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Sie erwartet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53312" y="176479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353312" y="20574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Qualitätsmerkmale, funktionale &amp; nicht-funktionale Anforderungen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386584"/>
            <a:ext cx="5074920" cy="0"/>
          </a:xfrm>
          <a:prstGeom prst="line">
            <a:avLst/>
          </a:prstGeom>
          <a:noFill/>
          <a:ln w="12700">
            <a:solidFill>
              <a:srgbClr val="2E37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640080" y="253288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53312" y="251460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Alt-System FH_MA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53312" y="2807208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IST-Zustand des bestehenden Java-Swing-Fat-Clients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136392"/>
            <a:ext cx="5074920" cy="0"/>
          </a:xfrm>
          <a:prstGeom prst="line">
            <a:avLst/>
          </a:prstGeom>
          <a:noFill/>
          <a:ln w="12700">
            <a:solidFill>
              <a:srgbClr val="2E37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40080" y="3282696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53312" y="3264408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Architekturentscheidungen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353312" y="355701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zentralen ADRs: Architekturstil, Tech-Stack, Deployment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72200" y="1783080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885432" y="176479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Neuer Technologie-Stack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885432" y="2057400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Boot, Angular, PostgreSQL – mit Anforderungsbezug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72200" y="2386584"/>
            <a:ext cx="5074920" cy="0"/>
          </a:xfrm>
          <a:prstGeom prst="line">
            <a:avLst/>
          </a:prstGeom>
          <a:noFill/>
          <a:ln w="12700">
            <a:solidFill>
              <a:srgbClr val="2E37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6172200" y="253288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885432" y="251460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 Architektur im Detail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885432" y="2807208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Komponenten und ihre Beziehungen zueinander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2200" y="3136392"/>
            <a:ext cx="5074920" cy="0"/>
          </a:xfrm>
          <a:prstGeom prst="line">
            <a:avLst/>
          </a:prstGeom>
          <a:noFill/>
          <a:ln w="12700">
            <a:solidFill>
              <a:srgbClr val="2E37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6172200" y="3282696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85432" y="3264408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885432" y="355701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im Vergleich zum Alt-System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 · QUALITÄTSMERKMALE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Qualitätsmerkmale nach Stakeholder (ISO/IEC 25010)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166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713232" y="181051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12" y="1875892"/>
            <a:ext cx="372161" cy="37216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53312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Sicht Benutzer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31520" y="2514600"/>
            <a:ext cx="6400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896112" y="2468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Funktionale Eignung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96112" y="2715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 korrekt &amp; zuverlässig speichern, Reports korrekt erzeugen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1520" y="3081528"/>
            <a:ext cx="6400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896112" y="30358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Benutzerfreundlichkeit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96112" y="3282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Intuitive Bedienung auch ohne technischen Hintergrund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31520" y="3648456"/>
            <a:ext cx="6400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896112" y="36027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96112" y="38496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Verarbeitung personenbezogener Daten gemäß DSGVO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31520" y="4215384"/>
            <a:ext cx="6400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8"/>
          <p:cNvSpPr/>
          <p:nvPr/>
        </p:nvSpPr>
        <p:spPr>
          <a:xfrm>
            <a:off x="896112" y="41696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Wartbarkeit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96112" y="4416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sekundäre Priorität für Endbenutzer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080760" y="1554480"/>
            <a:ext cx="5166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21"/>
          <p:cNvSpPr/>
          <p:nvPr/>
        </p:nvSpPr>
        <p:spPr>
          <a:xfrm>
            <a:off x="6336792" y="1810512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172" y="1875892"/>
            <a:ext cx="372161" cy="372161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976872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Sicht Administrator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355080" y="2514600"/>
            <a:ext cx="64008" cy="4572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Text 24"/>
          <p:cNvSpPr/>
          <p:nvPr/>
        </p:nvSpPr>
        <p:spPr>
          <a:xfrm>
            <a:off x="6519672" y="2468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Zuverlässigkeit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6519672" y="27157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Hohe Verfügbarkeit und Fehlertoleranz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355080" y="3081528"/>
            <a:ext cx="64008" cy="4572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1" name="Text 27"/>
          <p:cNvSpPr/>
          <p:nvPr/>
        </p:nvSpPr>
        <p:spPr>
          <a:xfrm>
            <a:off x="6519672" y="30358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519672" y="3282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Sicherstellung der DSGVO-Einhaltung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355080" y="3648456"/>
            <a:ext cx="64008" cy="45720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4" name="Text 30"/>
          <p:cNvSpPr/>
          <p:nvPr/>
        </p:nvSpPr>
        <p:spPr>
          <a:xfrm>
            <a:off x="6519672" y="36027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Wartbarkeit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6519672" y="38496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Wartung, minimaler Administrationsaufwand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457200" y="4983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tragende Säulen der Architektur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457200" y="5349240"/>
            <a:ext cx="260604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8" name="Shape 34"/>
          <p:cNvSpPr/>
          <p:nvPr/>
        </p:nvSpPr>
        <p:spPr>
          <a:xfrm>
            <a:off x="621792" y="5568696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172" y="5634076"/>
            <a:ext cx="372161" cy="372161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1234440" y="53492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Funktionale Eignung</a:t>
            </a:r>
            <a:endParaRPr lang="en-US" sz="1250" dirty="0"/>
          </a:p>
        </p:txBody>
      </p:sp>
      <p:sp>
        <p:nvSpPr>
          <p:cNvPr id="41" name="Shape 36"/>
          <p:cNvSpPr/>
          <p:nvPr/>
        </p:nvSpPr>
        <p:spPr>
          <a:xfrm>
            <a:off x="3200400" y="5349240"/>
            <a:ext cx="260604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2" name="Shape 37"/>
          <p:cNvSpPr/>
          <p:nvPr/>
        </p:nvSpPr>
        <p:spPr>
          <a:xfrm>
            <a:off x="3364992" y="5568696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0372" y="5634076"/>
            <a:ext cx="372161" cy="372161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3977640" y="53492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Zuverlässigkeit</a:t>
            </a:r>
            <a:endParaRPr lang="en-US" sz="1250" dirty="0"/>
          </a:p>
        </p:txBody>
      </p:sp>
      <p:sp>
        <p:nvSpPr>
          <p:cNvPr id="45" name="Shape 39"/>
          <p:cNvSpPr/>
          <p:nvPr/>
        </p:nvSpPr>
        <p:spPr>
          <a:xfrm>
            <a:off x="5943600" y="5349240"/>
            <a:ext cx="260604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6" name="Shape 40"/>
          <p:cNvSpPr/>
          <p:nvPr/>
        </p:nvSpPr>
        <p:spPr>
          <a:xfrm>
            <a:off x="6108192" y="5568696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3572" y="5634076"/>
            <a:ext cx="372161" cy="372161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6720840" y="53492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Wartbarkeit</a:t>
            </a:r>
            <a:endParaRPr lang="en-US" sz="1250" dirty="0"/>
          </a:p>
        </p:txBody>
      </p:sp>
      <p:sp>
        <p:nvSpPr>
          <p:cNvPr id="49" name="Shape 42"/>
          <p:cNvSpPr/>
          <p:nvPr/>
        </p:nvSpPr>
        <p:spPr>
          <a:xfrm>
            <a:off x="8686800" y="5349240"/>
            <a:ext cx="260604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0" name="Shape 43"/>
          <p:cNvSpPr/>
          <p:nvPr/>
        </p:nvSpPr>
        <p:spPr>
          <a:xfrm>
            <a:off x="8851392" y="5568696"/>
            <a:ext cx="502920" cy="502920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6772" y="5634076"/>
            <a:ext cx="372161" cy="372161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9464040" y="534924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(DSGVO)</a:t>
            </a:r>
            <a:endParaRPr lang="en-US" sz="1250" dirty="0"/>
          </a:p>
        </p:txBody>
      </p:sp>
      <p:sp>
        <p:nvSpPr>
          <p:cNvPr id="53" name="Text 45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 · FUNKTIONAL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Funktionale Anforderungen FR-1 – FR-12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53619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621792" y="1673352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18" y="1723278"/>
            <a:ext cx="284196" cy="2841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78992" y="1645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21792" y="2066544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Benutzerverwaltung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21792" y="2340864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+ Rollen (Admin/Sachbearbeiter)</a:t>
            </a:r>
            <a:endParaRPr lang="en-US" sz="870" dirty="0"/>
          </a:p>
        </p:txBody>
      </p:sp>
      <p:sp>
        <p:nvSpPr>
          <p:cNvPr id="14" name="Shape 11"/>
          <p:cNvSpPr/>
          <p:nvPr/>
        </p:nvSpPr>
        <p:spPr>
          <a:xfrm>
            <a:off x="3282696" y="153619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2"/>
          <p:cNvSpPr/>
          <p:nvPr/>
        </p:nvSpPr>
        <p:spPr>
          <a:xfrm>
            <a:off x="3282696" y="1536192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Shape 13"/>
          <p:cNvSpPr/>
          <p:nvPr/>
        </p:nvSpPr>
        <p:spPr>
          <a:xfrm>
            <a:off x="3447288" y="1673352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7214" y="1723278"/>
            <a:ext cx="284196" cy="28419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904488" y="1645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3447288" y="2066544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Mitglieder &amp; Adressen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447288" y="2340864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Anlegen, bearbeiten, löschen, suchen, filtern</a:t>
            </a:r>
            <a:endParaRPr lang="en-US" sz="870" dirty="0"/>
          </a:p>
        </p:txBody>
      </p:sp>
      <p:sp>
        <p:nvSpPr>
          <p:cNvPr id="21" name="Shape 17"/>
          <p:cNvSpPr/>
          <p:nvPr/>
        </p:nvSpPr>
        <p:spPr>
          <a:xfrm>
            <a:off x="6108192" y="153619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18"/>
          <p:cNvSpPr/>
          <p:nvPr/>
        </p:nvSpPr>
        <p:spPr>
          <a:xfrm>
            <a:off x="6108192" y="1536192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3" name="Shape 19"/>
          <p:cNvSpPr/>
          <p:nvPr/>
        </p:nvSpPr>
        <p:spPr>
          <a:xfrm>
            <a:off x="6272784" y="1673352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710" y="1723278"/>
            <a:ext cx="284196" cy="28419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729984" y="1645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FR-3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6272784" y="2066544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272784" y="2340864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Geldspenden erfassen, ändern, löschen, anzeigen</a:t>
            </a:r>
            <a:endParaRPr lang="en-US" sz="870" dirty="0"/>
          </a:p>
        </p:txBody>
      </p:sp>
      <p:sp>
        <p:nvSpPr>
          <p:cNvPr id="28" name="Shape 23"/>
          <p:cNvSpPr/>
          <p:nvPr/>
        </p:nvSpPr>
        <p:spPr>
          <a:xfrm>
            <a:off x="8933688" y="153619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9" name="Shape 24"/>
          <p:cNvSpPr/>
          <p:nvPr/>
        </p:nvSpPr>
        <p:spPr>
          <a:xfrm>
            <a:off x="8933688" y="1536192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0" name="Shape 25"/>
          <p:cNvSpPr/>
          <p:nvPr/>
        </p:nvSpPr>
        <p:spPr>
          <a:xfrm>
            <a:off x="9098280" y="1673352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8206" y="1723278"/>
            <a:ext cx="284196" cy="28419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555480" y="1645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FR-4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9098280" y="2066544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Bußgelder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9098280" y="2340864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 inkl. Status offen/teilw./bezahlt</a:t>
            </a:r>
            <a:endParaRPr lang="en-US" sz="870" dirty="0"/>
          </a:p>
        </p:txBody>
      </p:sp>
      <p:sp>
        <p:nvSpPr>
          <p:cNvPr id="35" name="Shape 29"/>
          <p:cNvSpPr/>
          <p:nvPr/>
        </p:nvSpPr>
        <p:spPr>
          <a:xfrm>
            <a:off x="457200" y="2962656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6" name="Shape 30"/>
          <p:cNvSpPr/>
          <p:nvPr/>
        </p:nvSpPr>
        <p:spPr>
          <a:xfrm>
            <a:off x="457200" y="2962656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7" name="Shape 31"/>
          <p:cNvSpPr/>
          <p:nvPr/>
        </p:nvSpPr>
        <p:spPr>
          <a:xfrm>
            <a:off x="621792" y="3099816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718" y="3149742"/>
            <a:ext cx="284196" cy="284196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078992" y="3072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FR-5</a:t>
            </a:r>
            <a:endParaRPr lang="en-US" sz="1000" dirty="0"/>
          </a:p>
        </p:txBody>
      </p:sp>
      <p:sp>
        <p:nvSpPr>
          <p:cNvPr id="40" name="Text 33"/>
          <p:cNvSpPr/>
          <p:nvPr/>
        </p:nvSpPr>
        <p:spPr>
          <a:xfrm>
            <a:off x="621792" y="34930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Zahlungseingänge</a:t>
            </a:r>
            <a:endParaRPr lang="en-US" sz="1150" dirty="0"/>
          </a:p>
        </p:txBody>
      </p:sp>
      <p:sp>
        <p:nvSpPr>
          <p:cNvPr id="41" name="Text 34"/>
          <p:cNvSpPr/>
          <p:nvPr/>
        </p:nvSpPr>
        <p:spPr>
          <a:xfrm>
            <a:off x="621792" y="3767328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viele je Bußgeld, Rest automatisch</a:t>
            </a:r>
            <a:endParaRPr lang="en-US" sz="870" dirty="0"/>
          </a:p>
        </p:txBody>
      </p:sp>
      <p:sp>
        <p:nvSpPr>
          <p:cNvPr id="42" name="Shape 35"/>
          <p:cNvSpPr/>
          <p:nvPr/>
        </p:nvSpPr>
        <p:spPr>
          <a:xfrm>
            <a:off x="3282696" y="2962656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3" name="Shape 36"/>
          <p:cNvSpPr/>
          <p:nvPr/>
        </p:nvSpPr>
        <p:spPr>
          <a:xfrm>
            <a:off x="3282696" y="2962656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4" name="Shape 37"/>
          <p:cNvSpPr/>
          <p:nvPr/>
        </p:nvSpPr>
        <p:spPr>
          <a:xfrm>
            <a:off x="3447288" y="3099816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7214" y="3149742"/>
            <a:ext cx="284196" cy="284196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3904488" y="3072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FR-6</a:t>
            </a:r>
            <a:endParaRPr lang="en-US" sz="1000" dirty="0"/>
          </a:p>
        </p:txBody>
      </p:sp>
      <p:sp>
        <p:nvSpPr>
          <p:cNvPr id="47" name="Text 39"/>
          <p:cNvSpPr/>
          <p:nvPr/>
        </p:nvSpPr>
        <p:spPr>
          <a:xfrm>
            <a:off x="3447288" y="34930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Gerichtsverwaltung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3447288" y="3767328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Anlegen, bearbeiten, löschen, suchen</a:t>
            </a:r>
            <a:endParaRPr lang="en-US" sz="870" dirty="0"/>
          </a:p>
        </p:txBody>
      </p:sp>
      <p:sp>
        <p:nvSpPr>
          <p:cNvPr id="49" name="Shape 41"/>
          <p:cNvSpPr/>
          <p:nvPr/>
        </p:nvSpPr>
        <p:spPr>
          <a:xfrm>
            <a:off x="6108192" y="2962656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0" name="Shape 42"/>
          <p:cNvSpPr/>
          <p:nvPr/>
        </p:nvSpPr>
        <p:spPr>
          <a:xfrm>
            <a:off x="6108192" y="2962656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1" name="Shape 43"/>
          <p:cNvSpPr/>
          <p:nvPr/>
        </p:nvSpPr>
        <p:spPr>
          <a:xfrm>
            <a:off x="6272784" y="3099816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2710" y="3149742"/>
            <a:ext cx="284196" cy="284196"/>
          </a:xfrm>
          <a:prstGeom prst="rect">
            <a:avLst/>
          </a:prstGeom>
        </p:spPr>
      </p:pic>
      <p:sp>
        <p:nvSpPr>
          <p:cNvPr id="53" name="Text 44"/>
          <p:cNvSpPr/>
          <p:nvPr/>
        </p:nvSpPr>
        <p:spPr>
          <a:xfrm>
            <a:off x="6729984" y="3072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FR-7</a:t>
            </a:r>
            <a:endParaRPr lang="en-US" sz="1000" dirty="0"/>
          </a:p>
        </p:txBody>
      </p:sp>
      <p:sp>
        <p:nvSpPr>
          <p:cNvPr id="54" name="Text 45"/>
          <p:cNvSpPr/>
          <p:nvPr/>
        </p:nvSpPr>
        <p:spPr>
          <a:xfrm>
            <a:off x="6272784" y="34930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Stammdaten (Admin)</a:t>
            </a:r>
            <a:endParaRPr lang="en-US" sz="1150" dirty="0"/>
          </a:p>
        </p:txBody>
      </p:sp>
      <p:sp>
        <p:nvSpPr>
          <p:cNvPr id="55" name="Text 46"/>
          <p:cNvSpPr/>
          <p:nvPr/>
        </p:nvSpPr>
        <p:spPr>
          <a:xfrm>
            <a:off x="6272784" y="3767328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Spendenarten, Anreden, Status, Vereine, Gerichte</a:t>
            </a:r>
            <a:endParaRPr lang="en-US" sz="870" dirty="0"/>
          </a:p>
        </p:txBody>
      </p:sp>
      <p:sp>
        <p:nvSpPr>
          <p:cNvPr id="56" name="Shape 47"/>
          <p:cNvSpPr/>
          <p:nvPr/>
        </p:nvSpPr>
        <p:spPr>
          <a:xfrm>
            <a:off x="8933688" y="2962656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7" name="Shape 48"/>
          <p:cNvSpPr/>
          <p:nvPr/>
        </p:nvSpPr>
        <p:spPr>
          <a:xfrm>
            <a:off x="8933688" y="2962656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8" name="Shape 49"/>
          <p:cNvSpPr/>
          <p:nvPr/>
        </p:nvSpPr>
        <p:spPr>
          <a:xfrm>
            <a:off x="9098280" y="3099816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8206" y="3149742"/>
            <a:ext cx="284196" cy="284196"/>
          </a:xfrm>
          <a:prstGeom prst="rect">
            <a:avLst/>
          </a:prstGeom>
        </p:spPr>
      </p:pic>
      <p:sp>
        <p:nvSpPr>
          <p:cNvPr id="60" name="Text 50"/>
          <p:cNvSpPr/>
          <p:nvPr/>
        </p:nvSpPr>
        <p:spPr>
          <a:xfrm>
            <a:off x="9555480" y="3072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FR-8</a:t>
            </a:r>
            <a:endParaRPr lang="en-US" sz="1000" dirty="0"/>
          </a:p>
        </p:txBody>
      </p:sp>
      <p:sp>
        <p:nvSpPr>
          <p:cNvPr id="61" name="Text 51"/>
          <p:cNvSpPr/>
          <p:nvPr/>
        </p:nvSpPr>
        <p:spPr>
          <a:xfrm>
            <a:off x="9098280" y="34930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Auswertungen</a:t>
            </a:r>
            <a:endParaRPr lang="en-US" sz="1150" dirty="0"/>
          </a:p>
        </p:txBody>
      </p:sp>
      <p:sp>
        <p:nvSpPr>
          <p:cNvPr id="62" name="Text 52"/>
          <p:cNvSpPr/>
          <p:nvPr/>
        </p:nvSpPr>
        <p:spPr>
          <a:xfrm>
            <a:off x="9098280" y="3767328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Spenden-, Bußgeld-, Vereinsstatistiken</a:t>
            </a:r>
            <a:endParaRPr lang="en-US" sz="870" dirty="0"/>
          </a:p>
        </p:txBody>
      </p:sp>
      <p:sp>
        <p:nvSpPr>
          <p:cNvPr id="63" name="Shape 53"/>
          <p:cNvSpPr/>
          <p:nvPr/>
        </p:nvSpPr>
        <p:spPr>
          <a:xfrm>
            <a:off x="457200" y="4389120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4" name="Shape 54"/>
          <p:cNvSpPr/>
          <p:nvPr/>
        </p:nvSpPr>
        <p:spPr>
          <a:xfrm>
            <a:off x="457200" y="4389120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5" name="Shape 55"/>
          <p:cNvSpPr/>
          <p:nvPr/>
        </p:nvSpPr>
        <p:spPr>
          <a:xfrm>
            <a:off x="621792" y="4526280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1718" y="4576206"/>
            <a:ext cx="284196" cy="284196"/>
          </a:xfrm>
          <a:prstGeom prst="rect">
            <a:avLst/>
          </a:prstGeom>
        </p:spPr>
      </p:pic>
      <p:sp>
        <p:nvSpPr>
          <p:cNvPr id="67" name="Text 56"/>
          <p:cNvSpPr/>
          <p:nvPr/>
        </p:nvSpPr>
        <p:spPr>
          <a:xfrm>
            <a:off x="1078992" y="44988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FR-9</a:t>
            </a:r>
            <a:endParaRPr lang="en-US" sz="1000" dirty="0"/>
          </a:p>
        </p:txBody>
      </p:sp>
      <p:sp>
        <p:nvSpPr>
          <p:cNvPr id="68" name="Text 57"/>
          <p:cNvSpPr/>
          <p:nvPr/>
        </p:nvSpPr>
        <p:spPr>
          <a:xfrm>
            <a:off x="621792" y="491947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Spendenbescheinigungen</a:t>
            </a:r>
            <a:endParaRPr lang="en-US" sz="1150" dirty="0"/>
          </a:p>
        </p:txBody>
      </p:sp>
      <p:sp>
        <p:nvSpPr>
          <p:cNvPr id="69" name="Text 58"/>
          <p:cNvSpPr/>
          <p:nvPr/>
        </p:nvSpPr>
        <p:spPr>
          <a:xfrm>
            <a:off x="621792" y="5193792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Automatisiert, je Verein &amp; Spendenart</a:t>
            </a:r>
            <a:endParaRPr lang="en-US" sz="870" dirty="0"/>
          </a:p>
        </p:txBody>
      </p:sp>
      <p:sp>
        <p:nvSpPr>
          <p:cNvPr id="70" name="Shape 59"/>
          <p:cNvSpPr/>
          <p:nvPr/>
        </p:nvSpPr>
        <p:spPr>
          <a:xfrm>
            <a:off x="3282696" y="4389120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1" name="Shape 60"/>
          <p:cNvSpPr/>
          <p:nvPr/>
        </p:nvSpPr>
        <p:spPr>
          <a:xfrm>
            <a:off x="3282696" y="4389120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2" name="Shape 61"/>
          <p:cNvSpPr/>
          <p:nvPr/>
        </p:nvSpPr>
        <p:spPr>
          <a:xfrm>
            <a:off x="3447288" y="4526280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73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97214" y="4576206"/>
            <a:ext cx="284196" cy="284196"/>
          </a:xfrm>
          <a:prstGeom prst="rect">
            <a:avLst/>
          </a:prstGeom>
        </p:spPr>
      </p:pic>
      <p:sp>
        <p:nvSpPr>
          <p:cNvPr id="74" name="Text 62"/>
          <p:cNvSpPr/>
          <p:nvPr/>
        </p:nvSpPr>
        <p:spPr>
          <a:xfrm>
            <a:off x="3904488" y="44988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FR-10</a:t>
            </a:r>
            <a:endParaRPr lang="en-US" sz="1000" dirty="0"/>
          </a:p>
        </p:txBody>
      </p:sp>
      <p:sp>
        <p:nvSpPr>
          <p:cNvPr id="75" name="Text 63"/>
          <p:cNvSpPr/>
          <p:nvPr/>
        </p:nvSpPr>
        <p:spPr>
          <a:xfrm>
            <a:off x="3447288" y="491947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Serienbriefe</a:t>
            </a:r>
            <a:endParaRPr lang="en-US" sz="1150" dirty="0"/>
          </a:p>
        </p:txBody>
      </p:sp>
      <p:sp>
        <p:nvSpPr>
          <p:cNvPr id="76" name="Text 64"/>
          <p:cNvSpPr/>
          <p:nvPr/>
        </p:nvSpPr>
        <p:spPr>
          <a:xfrm>
            <a:off x="3447288" y="5193792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Kontakt, Briefanrede, Vereinszugehörigkeit</a:t>
            </a:r>
            <a:endParaRPr lang="en-US" sz="870" dirty="0"/>
          </a:p>
        </p:txBody>
      </p:sp>
      <p:sp>
        <p:nvSpPr>
          <p:cNvPr id="77" name="Shape 65"/>
          <p:cNvSpPr/>
          <p:nvPr/>
        </p:nvSpPr>
        <p:spPr>
          <a:xfrm>
            <a:off x="6108192" y="4389120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8" name="Shape 66"/>
          <p:cNvSpPr/>
          <p:nvPr/>
        </p:nvSpPr>
        <p:spPr>
          <a:xfrm>
            <a:off x="6108192" y="4389120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9" name="Shape 67"/>
          <p:cNvSpPr/>
          <p:nvPr/>
        </p:nvSpPr>
        <p:spPr>
          <a:xfrm>
            <a:off x="6272784" y="4526280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0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2710" y="4576206"/>
            <a:ext cx="284196" cy="284196"/>
          </a:xfrm>
          <a:prstGeom prst="rect">
            <a:avLst/>
          </a:prstGeom>
        </p:spPr>
      </p:pic>
      <p:sp>
        <p:nvSpPr>
          <p:cNvPr id="81" name="Text 68"/>
          <p:cNvSpPr/>
          <p:nvPr/>
        </p:nvSpPr>
        <p:spPr>
          <a:xfrm>
            <a:off x="6729984" y="44988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FR-11</a:t>
            </a:r>
            <a:endParaRPr lang="en-US" sz="1000" dirty="0"/>
          </a:p>
        </p:txBody>
      </p:sp>
      <p:sp>
        <p:nvSpPr>
          <p:cNvPr id="82" name="Text 69"/>
          <p:cNvSpPr/>
          <p:nvPr/>
        </p:nvSpPr>
        <p:spPr>
          <a:xfrm>
            <a:off x="6272784" y="491947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</a:t>
            </a:r>
            <a:endParaRPr lang="en-US" sz="1150" dirty="0"/>
          </a:p>
        </p:txBody>
      </p:sp>
      <p:sp>
        <p:nvSpPr>
          <p:cNvPr id="83" name="Text 70"/>
          <p:cNvSpPr/>
          <p:nvPr/>
        </p:nvSpPr>
        <p:spPr>
          <a:xfrm>
            <a:off x="6272784" y="5193792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Pflichtfelder, gültige Werte</a:t>
            </a:r>
            <a:endParaRPr lang="en-US" sz="870" dirty="0"/>
          </a:p>
        </p:txBody>
      </p:sp>
      <p:sp>
        <p:nvSpPr>
          <p:cNvPr id="84" name="Shape 71"/>
          <p:cNvSpPr/>
          <p:nvPr/>
        </p:nvSpPr>
        <p:spPr>
          <a:xfrm>
            <a:off x="8933688" y="4389120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5" name="Shape 72"/>
          <p:cNvSpPr/>
          <p:nvPr/>
        </p:nvSpPr>
        <p:spPr>
          <a:xfrm>
            <a:off x="8933688" y="4389120"/>
            <a:ext cx="54864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6" name="Shape 73"/>
          <p:cNvSpPr/>
          <p:nvPr/>
        </p:nvSpPr>
        <p:spPr>
          <a:xfrm>
            <a:off x="9098280" y="4526280"/>
            <a:ext cx="384048" cy="384048"/>
          </a:xfrm>
          <a:prstGeom prst="ellipse">
            <a:avLst/>
          </a:prstGeom>
          <a:solidFill>
            <a:srgbClr val="E9F2F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7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8206" y="4576206"/>
            <a:ext cx="284196" cy="284196"/>
          </a:xfrm>
          <a:prstGeom prst="rect">
            <a:avLst/>
          </a:prstGeom>
        </p:spPr>
      </p:pic>
      <p:sp>
        <p:nvSpPr>
          <p:cNvPr id="88" name="Text 74"/>
          <p:cNvSpPr/>
          <p:nvPr/>
        </p:nvSpPr>
        <p:spPr>
          <a:xfrm>
            <a:off x="9555480" y="44988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FR-12</a:t>
            </a:r>
            <a:endParaRPr lang="en-US" sz="1000" dirty="0"/>
          </a:p>
        </p:txBody>
      </p:sp>
      <p:sp>
        <p:nvSpPr>
          <p:cNvPr id="89" name="Text 75"/>
          <p:cNvSpPr/>
          <p:nvPr/>
        </p:nvSpPr>
        <p:spPr>
          <a:xfrm>
            <a:off x="9098280" y="491947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Datenkonsistenz</a:t>
            </a:r>
            <a:endParaRPr lang="en-US" sz="1150" dirty="0"/>
          </a:p>
        </p:txBody>
      </p:sp>
      <p:sp>
        <p:nvSpPr>
          <p:cNvPr id="90" name="Text 76"/>
          <p:cNvSpPr/>
          <p:nvPr/>
        </p:nvSpPr>
        <p:spPr>
          <a:xfrm>
            <a:off x="9098280" y="5193792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87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inkonsistenten Daten zulässig</a:t>
            </a:r>
            <a:endParaRPr lang="en-US" sz="870" dirty="0"/>
          </a:p>
        </p:txBody>
      </p:sp>
      <p:sp>
        <p:nvSpPr>
          <p:cNvPr id="91" name="Text 77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92" name="Text 78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 · NICHT-FUNKTIONAL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Nicht-funktionale Anforderungen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658368" y="1764792"/>
            <a:ext cx="512064" cy="512064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36" y="1831360"/>
            <a:ext cx="378927" cy="37892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1691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371600" y="1911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/ DSGVO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0" y="1600200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personenbezogenen Daten werden gemäß DSGVO verarbeitet.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2569464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658368" y="273405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36" y="2800624"/>
            <a:ext cx="378927" cy="37892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71600" y="26609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NFR-2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371600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Zuverlässigkeit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572000" y="2569464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System muss stabil sein, um den Wartungsaufwand gering zu halten.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457200" y="3538728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658368" y="3703320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6" y="3769888"/>
            <a:ext cx="378927" cy="37892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71600" y="3630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371600" y="38496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Modularer Aufbau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4572000" y="3538728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Modulare Struktur für einfache Wartbarkeit.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57200" y="4507992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Shape 21"/>
          <p:cNvSpPr/>
          <p:nvPr/>
        </p:nvSpPr>
        <p:spPr>
          <a:xfrm>
            <a:off x="658368" y="4672584"/>
            <a:ext cx="512064" cy="512064"/>
          </a:xfrm>
          <a:prstGeom prst="ellipse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936" y="4739152"/>
            <a:ext cx="378927" cy="37892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371600" y="45994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1371600" y="48188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4572000" y="4507992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Vollumfängliche, automatisierte, verschlüsselte Sicherung inkl. DSGVO-Fristen.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457200" y="5477256"/>
            <a:ext cx="11247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2" name="Shape 26"/>
          <p:cNvSpPr/>
          <p:nvPr/>
        </p:nvSpPr>
        <p:spPr>
          <a:xfrm>
            <a:off x="658368" y="564184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936" y="5708416"/>
            <a:ext cx="378927" cy="37892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71600" y="55686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NFR-5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1371600" y="57881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Bedienbarkeit</a:t>
            </a:r>
            <a:endParaRPr lang="en-US" sz="1400" dirty="0"/>
          </a:p>
        </p:txBody>
      </p:sp>
      <p:sp>
        <p:nvSpPr>
          <p:cNvPr id="36" name="Text 29"/>
          <p:cNvSpPr/>
          <p:nvPr/>
        </p:nvSpPr>
        <p:spPr>
          <a:xfrm>
            <a:off x="4572000" y="5477256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Bedienbar für Personen ohne technischen Hintergrund.</a:t>
            </a:r>
            <a:endParaRPr lang="en-US" sz="1150" dirty="0"/>
          </a:p>
        </p:txBody>
      </p:sp>
      <p:sp>
        <p:nvSpPr>
          <p:cNvPr id="37" name="Text 3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ALT-SYSTEM · IST-ZUSTAND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FH_MA: Java-Swing-Fat-Client (ca. 2005 – 2013)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1617939"/>
            <a:ext cx="257129" cy="25712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1545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Desktop-Anwendung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179222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Swing-UI-Framework „compucrash“ (CInfoFrame/CListFrame) für generisches CRUD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331720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2376891"/>
            <a:ext cx="257129" cy="25712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32688" y="23042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pro Arbeitsplatz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932688" y="25511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Änderung erfordert Neuinstallation auf allen PCs – kein zentrales Deployment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57200" y="3090672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3135843"/>
            <a:ext cx="257129" cy="2571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2688" y="30632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Datenbankzugriff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932688" y="33101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Client spricht per JDBC direkt mit MS SQL Server Express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849624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3894795"/>
            <a:ext cx="257129" cy="25712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32688" y="382219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Zugangsdaten im Klartext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932688" y="4069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DB-Credentials liegen unverschlüsselt in lokalen .ini-Dateien auf jedem PC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4608576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4653747"/>
            <a:ext cx="257129" cy="257129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32688" y="458114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per String-Konkatenation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932688" y="48280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Prepared Statements – strukturelles SQL-Injection-Risiko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457200" y="5367528"/>
            <a:ext cx="347472" cy="347472"/>
          </a:xfrm>
          <a:prstGeom prst="ellipse">
            <a:avLst/>
          </a:prstGeom>
          <a:solidFill>
            <a:srgbClr val="F6E4D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71" y="5412699"/>
            <a:ext cx="257129" cy="257129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32688" y="534009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Rollenkonzept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932688" y="55869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anwendungsseitige Zugriffskontrolle, kein zentrales Logging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6492240" y="1508760"/>
            <a:ext cx="5212080" cy="4572000"/>
          </a:xfrm>
          <a:prstGeom prst="rect">
            <a:avLst/>
          </a:prstGeom>
          <a:solidFill>
            <a:srgbClr val="FBF3F0"/>
          </a:solidFill>
          <a:ln w="12700">
            <a:solidFill>
              <a:srgbClr val="EAD2C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24"/>
          <p:cNvSpPr/>
          <p:nvPr/>
        </p:nvSpPr>
        <p:spPr>
          <a:xfrm>
            <a:off x="6766560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2-Schichten-Architektur (Alt)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6766560" y="2148840"/>
            <a:ext cx="21488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B553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26"/>
          <p:cNvSpPr/>
          <p:nvPr/>
        </p:nvSpPr>
        <p:spPr>
          <a:xfrm>
            <a:off x="6876288" y="2240280"/>
            <a:ext cx="320040" cy="320040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893" y="2281885"/>
            <a:ext cx="236830" cy="23683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7278624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Fat-Client PC 1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8915400" y="2400300"/>
            <a:ext cx="960120" cy="0"/>
          </a:xfrm>
          <a:prstGeom prst="line">
            <a:avLst/>
          </a:prstGeom>
          <a:noFill/>
          <a:ln w="19050">
            <a:solidFill>
              <a:srgbClr val="B5533C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29"/>
          <p:cNvSpPr/>
          <p:nvPr/>
        </p:nvSpPr>
        <p:spPr>
          <a:xfrm>
            <a:off x="6766560" y="2807208"/>
            <a:ext cx="21488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B553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0"/>
          <p:cNvSpPr/>
          <p:nvPr/>
        </p:nvSpPr>
        <p:spPr>
          <a:xfrm>
            <a:off x="6876288" y="2898648"/>
            <a:ext cx="320040" cy="320040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893" y="2940253"/>
            <a:ext cx="236830" cy="23683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7278624" y="28072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Fat-Client PC 2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915400" y="3058668"/>
            <a:ext cx="960120" cy="0"/>
          </a:xfrm>
          <a:prstGeom prst="line">
            <a:avLst/>
          </a:prstGeom>
          <a:noFill/>
          <a:ln w="19050">
            <a:solidFill>
              <a:srgbClr val="B5533C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33"/>
          <p:cNvSpPr/>
          <p:nvPr/>
        </p:nvSpPr>
        <p:spPr>
          <a:xfrm>
            <a:off x="6766560" y="3465576"/>
            <a:ext cx="214884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B553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34"/>
          <p:cNvSpPr/>
          <p:nvPr/>
        </p:nvSpPr>
        <p:spPr>
          <a:xfrm>
            <a:off x="6876288" y="3557016"/>
            <a:ext cx="320040" cy="320040"/>
          </a:xfrm>
          <a:prstGeom prst="ellipse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893" y="3598621"/>
            <a:ext cx="236830" cy="236830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278624" y="34655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Fat-Client PC …</a:t>
            </a:r>
            <a:endParaRPr lang="en-US" sz="1000" dirty="0"/>
          </a:p>
        </p:txBody>
      </p:sp>
      <p:sp>
        <p:nvSpPr>
          <p:cNvPr id="47" name="Shape 36"/>
          <p:cNvSpPr/>
          <p:nvPr/>
        </p:nvSpPr>
        <p:spPr>
          <a:xfrm>
            <a:off x="8915400" y="3717036"/>
            <a:ext cx="960120" cy="0"/>
          </a:xfrm>
          <a:prstGeom prst="line">
            <a:avLst/>
          </a:prstGeom>
          <a:noFill/>
          <a:ln w="19050">
            <a:solidFill>
              <a:srgbClr val="B5533C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48" name="Text 37"/>
          <p:cNvSpPr/>
          <p:nvPr/>
        </p:nvSpPr>
        <p:spPr>
          <a:xfrm>
            <a:off x="8869680" y="195681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· Klartext-Credentials</a:t>
            </a:r>
            <a:endParaRPr lang="en-US" sz="750" dirty="0"/>
          </a:p>
        </p:txBody>
      </p:sp>
      <p:sp>
        <p:nvSpPr>
          <p:cNvPr id="49" name="Shape 38"/>
          <p:cNvSpPr/>
          <p:nvPr/>
        </p:nvSpPr>
        <p:spPr>
          <a:xfrm>
            <a:off x="9957816" y="2304288"/>
            <a:ext cx="1463040" cy="1664208"/>
          </a:xfrm>
          <a:prstGeom prst="rect">
            <a:avLst/>
          </a:prstGeom>
          <a:solidFill>
            <a:srgbClr val="B5533C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0" name="Shape 39"/>
          <p:cNvSpPr/>
          <p:nvPr/>
        </p:nvSpPr>
        <p:spPr>
          <a:xfrm>
            <a:off x="10469880" y="268288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1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9316" y="2742320"/>
            <a:ext cx="338328" cy="338328"/>
          </a:xfrm>
          <a:prstGeom prst="rect">
            <a:avLst/>
          </a:prstGeom>
        </p:spPr>
      </p:pic>
      <p:sp>
        <p:nvSpPr>
          <p:cNvPr id="52" name="Text 40"/>
          <p:cNvSpPr/>
          <p:nvPr/>
        </p:nvSpPr>
        <p:spPr>
          <a:xfrm>
            <a:off x="10058400" y="3245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</a:t>
            </a:r>
            <a:endParaRPr lang="en-US" sz="850" dirty="0"/>
          </a:p>
        </p:txBody>
      </p:sp>
      <p:sp>
        <p:nvSpPr>
          <p:cNvPr id="53" name="Text 41"/>
          <p:cNvSpPr/>
          <p:nvPr/>
        </p:nvSpPr>
        <p:spPr>
          <a:xfrm>
            <a:off x="6766560" y="5349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Ergänzend: Outlook-COM-Interop für Serienbrief-Versand, ImportExcel-Modul verwaist/ungenutzt</a:t>
            </a:r>
            <a:endParaRPr lang="en-US" sz="950" dirty="0"/>
          </a:p>
        </p:txBody>
      </p:sp>
      <p:sp>
        <p:nvSpPr>
          <p:cNvPr id="54" name="Text 42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55" name="Text 43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B55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ALT-SYSTEM · ABLEITUNG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Probleme des Alt-Systems als Architektur-Treiber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85800" y="160020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zentraler Sicherheitsfilter</a:t>
            </a:r>
            <a:endParaRPr lang="en-US" sz="12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819656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126480" y="160020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SQL-Injection möglich, DSGVO-Risiko bei jedem Client-Zugriff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441448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457200" y="2441448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685800" y="2441448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Client-seitige Installation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660904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126480" y="2441448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nur manuell, PC für PC – hoher Wartungsaufwand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3282696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4"/>
          <p:cNvSpPr/>
          <p:nvPr/>
        </p:nvSpPr>
        <p:spPr>
          <a:xfrm>
            <a:off x="457200" y="3282696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685800" y="3282696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anwendungsseitiges Rollenkonzept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50215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126480" y="3282696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nachweisbare rollenbasierte Zugriffskontrolle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4123944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18"/>
          <p:cNvSpPr/>
          <p:nvPr/>
        </p:nvSpPr>
        <p:spPr>
          <a:xfrm>
            <a:off x="457200" y="4123944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19"/>
          <p:cNvSpPr/>
          <p:nvPr/>
        </p:nvSpPr>
        <p:spPr>
          <a:xfrm>
            <a:off x="685800" y="4123944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zentrales Logging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434340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126480" y="4123944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Fehleranalyse, Nachvollziehbarkeit &amp; Audit kaum möglich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57200" y="4965192"/>
            <a:ext cx="11247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2"/>
          <p:cNvSpPr/>
          <p:nvPr/>
        </p:nvSpPr>
        <p:spPr>
          <a:xfrm>
            <a:off x="457200" y="4965192"/>
            <a:ext cx="64008" cy="713232"/>
          </a:xfrm>
          <a:prstGeom prst="rect">
            <a:avLst/>
          </a:prstGeom>
          <a:solidFill>
            <a:srgbClr val="B5533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9" name="Text 23"/>
          <p:cNvSpPr/>
          <p:nvPr/>
        </p:nvSpPr>
        <p:spPr>
          <a:xfrm>
            <a:off x="685800" y="49651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Monolithischer Swing-Client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5184648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126480" y="4965192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Wartung erfordert seltenes Swing-Spezialwissen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457200" y="5852160"/>
            <a:ext cx="11247120" cy="56692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3" name="Text 26"/>
          <p:cNvSpPr/>
          <p:nvPr/>
        </p:nvSpPr>
        <p:spPr>
          <a:xfrm>
            <a:off x="685800" y="585216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Anwendungsschicht mit Authentifizierung, Validierung &amp; Zugriffskontrolle → 3-Schichten-Architektur (ADR-001)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Architekturstil: 3-Schichten statt Fat-Client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6120" cy="114300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77724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" y="2055571"/>
            <a:ext cx="405994" cy="40599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(SPA)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794760" y="2263140"/>
            <a:ext cx="7772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3840480" y="1399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0" y="1691640"/>
            <a:ext cx="3246120" cy="114300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480060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923" y="2055571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8640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(Windows-Dienst)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7818120" y="2263140"/>
            <a:ext cx="7772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4"/>
          <p:cNvSpPr/>
          <p:nvPr/>
        </p:nvSpPr>
        <p:spPr>
          <a:xfrm>
            <a:off x="7863840" y="139903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595360" y="1691640"/>
            <a:ext cx="3246120" cy="114300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8823960" y="19842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5283" y="2055571"/>
            <a:ext cx="405994" cy="4059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509760" y="169164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Datenbank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548640" y="299923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 → Anwendungslogik → Daten – jede Schicht mit klar getrennter Verantwortung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01568"/>
          <a:ext cx="11064240" cy="22860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7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Aspekt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 Client (2-Schichten)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Microservices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3-Schichten ✓ gewählt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Client-Deployment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Install je 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kein Client-Install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nur Browser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Sicherheit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DB-Credentials am Client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zentral je Service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zentrale Sicherheitsbarriere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Betriebskomplexität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einfach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Orchestrierung nötig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ein Server, beherrschbar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Passend für kleines Team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Wartung aufwändig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überdimensioniert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optimaler Kompromiss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 19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Tech-Stack Backend: Spring Boot 3.4 · Java 21 LTS</a:t>
            </a:r>
            <a:endParaRPr lang="en-US" sz="30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1508760"/>
          <a:ext cx="55778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1508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Spring Boot?</a:t>
            </a:r>
            <a:endParaRPr lang="en-US" sz="13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7452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56832" y="182880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Office-Dokumente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656832" y="20665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POI / docx4j als ausgereiftestes Open-Source-Ökosystem (25%)</a:t>
            </a:r>
            <a:endParaRPr lang="en-US" sz="9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587752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56832" y="25420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Teamkompetenz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6656832" y="277977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Legacy-System bereits in Java – direkter Wissenstransfer (20%)</a:t>
            </a:r>
            <a:endParaRPr lang="en-US" sz="9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30098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656832" y="325526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Sicherheits-Framework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6656832" y="34930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6: JWT/BCrypt/RBAC, produktionserprobt (15%)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014216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56832" y="39684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Langlebigkeit</a:t>
            </a:r>
            <a:endParaRPr lang="en-US" sz="1150" dirty="0"/>
          </a:p>
        </p:txBody>
      </p:sp>
      <p:sp>
        <p:nvSpPr>
          <p:cNvPr id="20" name="Text 13"/>
          <p:cNvSpPr/>
          <p:nvPr/>
        </p:nvSpPr>
        <p:spPr>
          <a:xfrm>
            <a:off x="6656832" y="42062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50"/>
              </a:lnSpc>
              <a:buNone/>
            </a:pPr>
            <a:r>
              <a:rPr lang="en-US" sz="95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LTS-Support bis mind. 2031 (10%)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45720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5202936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3268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233172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1448" y="5202936"/>
            <a:ext cx="310896" cy="310896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280720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420624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5202936"/>
            <a:ext cx="310896" cy="310896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68172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</a:t>
            </a:r>
            <a:endParaRPr 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608076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0488" y="5202936"/>
            <a:ext cx="310896" cy="310896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55624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</a:t>
            </a:r>
            <a:endParaRPr 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795528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5008" y="5202936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843076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9829800" y="5074920"/>
            <a:ext cx="17830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39528" y="5202936"/>
            <a:ext cx="310896" cy="310896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10305288" y="50749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950" dirty="0"/>
          </a:p>
        </p:txBody>
      </p:sp>
      <p:sp>
        <p:nvSpPr>
          <p:cNvPr id="39" name="Text 2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40" name="Text 27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ADR-005 · ARCHITEKTURENTSCHEIDUNG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Deployment: On-Premises statt Cloud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6309360" cy="429768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822960" y="17373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Vereinsbüro – physisch geschützter Raum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148840"/>
            <a:ext cx="5760720" cy="246888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005840" y="2267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Server</a:t>
            </a:r>
            <a:endParaRPr lang="en-US" sz="12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60604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63040" y="25694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Backend (WinSW-Dienst)</a:t>
            </a:r>
            <a:endParaRPr lang="en-US" sz="11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17296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3136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PostgreSQL-Datenbank</a:t>
            </a:r>
            <a:endParaRPr lang="en-US" sz="11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73989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37033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Verschlüsselte Backups (lokal + USB)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3703320" y="4617720"/>
            <a:ext cx="0" cy="5029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3"/>
          <p:cNvSpPr/>
          <p:nvPr/>
        </p:nvSpPr>
        <p:spPr>
          <a:xfrm>
            <a:off x="2468880" y="4782312"/>
            <a:ext cx="246888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4"/>
          <p:cNvSpPr/>
          <p:nvPr/>
        </p:nvSpPr>
        <p:spPr>
          <a:xfrm>
            <a:off x="822960" y="4782312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– kein Internetzugang nötig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2240280" y="5303520"/>
            <a:ext cx="2926080" cy="5943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Shape 16"/>
          <p:cNvSpPr/>
          <p:nvPr/>
        </p:nvSpPr>
        <p:spPr>
          <a:xfrm>
            <a:off x="2377440" y="5413248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4989" y="5460797"/>
            <a:ext cx="270662" cy="27066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880360" y="5303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(Browser im LAN)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713232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kein Cloud-Hosting?</a:t>
            </a:r>
            <a:endParaRPr lang="en-US" sz="13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192024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79792" y="188366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 sensible Daten (Art. 9 DSGVO) – physische Datenhoheit bleibt beim Verein</a:t>
            </a:r>
            <a:endParaRPr lang="en-US" sz="105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2606040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479792" y="256946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Auftragsverarbeiter, kein Drittlandtransfer, keine AVV nötig</a:t>
            </a:r>
            <a:endParaRPr lang="en-US" sz="105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3291840"/>
            <a:ext cx="237744" cy="23774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479792" y="325526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Internet-Zugriffspunkt → minimale Angriffsfläche</a:t>
            </a:r>
            <a:endParaRPr lang="en-US" sz="105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3977640"/>
            <a:ext cx="237744" cy="237744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479792" y="394106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3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Verein ohne IT-Personal – keine laufenden Cloud-Kosten tragbar</a:t>
            </a:r>
            <a:endParaRPr lang="en-US" sz="1050" dirty="0"/>
          </a:p>
        </p:txBody>
      </p:sp>
      <p:sp>
        <p:nvSpPr>
          <p:cNvPr id="33" name="Shape 23"/>
          <p:cNvSpPr/>
          <p:nvPr/>
        </p:nvSpPr>
        <p:spPr>
          <a:xfrm>
            <a:off x="7132320" y="4800600"/>
            <a:ext cx="4572000" cy="14173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4" name="Text 24"/>
          <p:cNvSpPr/>
          <p:nvPr/>
        </p:nvSpPr>
        <p:spPr>
          <a:xfrm>
            <a:off x="7360920" y="4919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5-Jahres-TCO im Vergleich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7360920" y="519379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~1.050 €  </a:t>
            </a: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
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~3.000 – 4.800 €  </a:t>
            </a:r>
            <a:endParaRPr lang="en-US" sz="20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(Hetzner / Azure)</a:t>
            </a:r>
            <a:endParaRPr lang="en-US" sz="2000" dirty="0"/>
          </a:p>
        </p:txBody>
      </p:sp>
      <p:sp>
        <p:nvSpPr>
          <p:cNvPr id="36" name="Text 2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37" name="Text 27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NEUER TECHNOLOGIE-STACK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neue Stack – mit Bezug zu den Anforderungen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536192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640080" y="17007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1760220"/>
            <a:ext cx="338328" cy="3383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664208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(SPA)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34440" y="1956816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Usability-Anforderung, browserbasiert ohne Client-Install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178808" y="1536192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4361688" y="17007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1124" y="1760220"/>
            <a:ext cx="338328" cy="33832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56048" y="1664208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3.4 / Java 21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56048" y="1956816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ANWENDUNGSLOGIK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4361688" y="2286000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 · Basis für alle FR-1…FR-12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7900416" y="1536192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8083296" y="17007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1760220"/>
            <a:ext cx="338328" cy="33832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677656" y="1664208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 + BCrypt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8677656" y="1956816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RBAC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8083296" y="2286000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 · NFR-1 (Sicherheit/DSGVO)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57200" y="3081528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Shape 21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" y="3305556"/>
            <a:ext cx="338328" cy="33832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209544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1234440" y="350215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PERSISTENZSCHICHT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640080" y="3831336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FR-2…FR-7 · strukturell SQL-Injection-frei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4178808" y="3081528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2" name="Shape 26"/>
          <p:cNvSpPr/>
          <p:nvPr/>
        </p:nvSpPr>
        <p:spPr>
          <a:xfrm>
            <a:off x="4361688" y="3246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1124" y="3305556"/>
            <a:ext cx="338328" cy="33832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956048" y="3209544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4956048" y="350215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DATENBANK</a:t>
            </a:r>
            <a:endParaRPr lang="en-US" sz="800" dirty="0"/>
          </a:p>
        </p:txBody>
      </p:sp>
      <p:sp>
        <p:nvSpPr>
          <p:cNvPr id="36" name="Text 29"/>
          <p:cNvSpPr/>
          <p:nvPr/>
        </p:nvSpPr>
        <p:spPr>
          <a:xfrm>
            <a:off x="4361688" y="3831336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 · keine Lizenzkosten, keine Limits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7900416" y="3081528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8" name="Shape 31"/>
          <p:cNvSpPr/>
          <p:nvPr/>
        </p:nvSpPr>
        <p:spPr>
          <a:xfrm>
            <a:off x="8083296" y="32461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42732" y="3305556"/>
            <a:ext cx="338328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8677656" y="3209544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</a:t>
            </a:r>
            <a:endParaRPr lang="en-US" sz="1200" dirty="0"/>
          </a:p>
        </p:txBody>
      </p:sp>
      <p:sp>
        <p:nvSpPr>
          <p:cNvPr id="41" name="Text 33"/>
          <p:cNvSpPr/>
          <p:nvPr/>
        </p:nvSpPr>
        <p:spPr>
          <a:xfrm>
            <a:off x="8677656" y="3502152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DB-MIGRATIONEN</a:t>
            </a:r>
            <a:endParaRPr lang="en-US" sz="800" dirty="0"/>
          </a:p>
        </p:txBody>
      </p:sp>
      <p:sp>
        <p:nvSpPr>
          <p:cNvPr id="42" name="Text 34"/>
          <p:cNvSpPr/>
          <p:nvPr/>
        </p:nvSpPr>
        <p:spPr>
          <a:xfrm>
            <a:off x="8083296" y="3831336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NFR-2 Zuverlässigkeit · NFR-3 Modularität</a:t>
            </a:r>
            <a:endParaRPr lang="en-US" sz="900" dirty="0"/>
          </a:p>
        </p:txBody>
      </p:sp>
      <p:sp>
        <p:nvSpPr>
          <p:cNvPr id="43" name="Shape 35"/>
          <p:cNvSpPr/>
          <p:nvPr/>
        </p:nvSpPr>
        <p:spPr>
          <a:xfrm>
            <a:off x="457200" y="4626864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4" name="Shape 36"/>
          <p:cNvSpPr/>
          <p:nvPr/>
        </p:nvSpPr>
        <p:spPr>
          <a:xfrm>
            <a:off x="640080" y="47914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9516" y="4850892"/>
            <a:ext cx="338328" cy="33832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234440" y="4754880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Envers</a:t>
            </a:r>
            <a:endParaRPr lang="en-US" sz="1200" dirty="0"/>
          </a:p>
        </p:txBody>
      </p:sp>
      <p:sp>
        <p:nvSpPr>
          <p:cNvPr id="47" name="Text 38"/>
          <p:cNvSpPr/>
          <p:nvPr/>
        </p:nvSpPr>
        <p:spPr>
          <a:xfrm>
            <a:off x="1234440" y="504748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ÄNDERUNGSHISTORIE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640080" y="5376672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Ersetzt CDisplayFieldHistoryBean/CHistoryDialog</a:t>
            </a:r>
            <a:endParaRPr lang="en-US" sz="900" dirty="0"/>
          </a:p>
        </p:txBody>
      </p:sp>
      <p:sp>
        <p:nvSpPr>
          <p:cNvPr id="49" name="Shape 40"/>
          <p:cNvSpPr/>
          <p:nvPr/>
        </p:nvSpPr>
        <p:spPr>
          <a:xfrm>
            <a:off x="4178808" y="4626864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0" name="Shape 41"/>
          <p:cNvSpPr/>
          <p:nvPr/>
        </p:nvSpPr>
        <p:spPr>
          <a:xfrm>
            <a:off x="4361688" y="47914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1124" y="4850892"/>
            <a:ext cx="338328" cy="338328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4956048" y="4754880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POI / docx4j</a:t>
            </a:r>
            <a:endParaRPr lang="en-US" sz="1200" dirty="0"/>
          </a:p>
        </p:txBody>
      </p:sp>
      <p:sp>
        <p:nvSpPr>
          <p:cNvPr id="53" name="Text 43"/>
          <p:cNvSpPr/>
          <p:nvPr/>
        </p:nvSpPr>
        <p:spPr>
          <a:xfrm>
            <a:off x="4956048" y="504748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DOKUMENTGENERIERUNG</a:t>
            </a:r>
            <a:endParaRPr lang="en-US" sz="800" dirty="0"/>
          </a:p>
        </p:txBody>
      </p:sp>
      <p:sp>
        <p:nvSpPr>
          <p:cNvPr id="54" name="Text 44"/>
          <p:cNvSpPr/>
          <p:nvPr/>
        </p:nvSpPr>
        <p:spPr>
          <a:xfrm>
            <a:off x="4361688" y="5376672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FR-8 Auswertungen · FR-9/FR-10 Bescheinigungen &amp; Serienbriefe</a:t>
            </a:r>
            <a:endParaRPr lang="en-US" sz="900" dirty="0"/>
          </a:p>
        </p:txBody>
      </p:sp>
      <p:sp>
        <p:nvSpPr>
          <p:cNvPr id="55" name="Shape 45"/>
          <p:cNvSpPr/>
          <p:nvPr/>
        </p:nvSpPr>
        <p:spPr>
          <a:xfrm>
            <a:off x="7900416" y="4626864"/>
            <a:ext cx="36210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7F0"/>
            </a:solidFill>
            <a:prstDash val="solid"/>
          </a:ln>
          <a:effectLst>
            <a:outerShdw blurRad="63500" dist="25400" dir="8100000" algn="bl" rotWithShape="0">
              <a:srgbClr val="1E2761">
                <a:alpha val="9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6" name="Shape 46"/>
          <p:cNvSpPr/>
          <p:nvPr/>
        </p:nvSpPr>
        <p:spPr>
          <a:xfrm>
            <a:off x="8083296" y="47914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2732" y="4850892"/>
            <a:ext cx="338328" cy="338328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8677656" y="4754880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+ WinSW</a:t>
            </a:r>
            <a:endParaRPr lang="en-US" sz="1200" dirty="0"/>
          </a:p>
        </p:txBody>
      </p:sp>
      <p:sp>
        <p:nvSpPr>
          <p:cNvPr id="59" name="Text 48"/>
          <p:cNvSpPr/>
          <p:nvPr/>
        </p:nvSpPr>
        <p:spPr>
          <a:xfrm>
            <a:off x="8677656" y="5047488"/>
            <a:ext cx="2706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BETRIEB</a:t>
            </a:r>
            <a:endParaRPr lang="en-US" sz="800" dirty="0"/>
          </a:p>
        </p:txBody>
      </p:sp>
      <p:sp>
        <p:nvSpPr>
          <p:cNvPr id="60" name="Text 49"/>
          <p:cNvSpPr/>
          <p:nvPr/>
        </p:nvSpPr>
        <p:spPr>
          <a:xfrm>
            <a:off x="8083296" y="5376672"/>
            <a:ext cx="3255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ADR-005 On-Premises · NFR-2/NFR-3</a:t>
            </a:r>
            <a:endParaRPr lang="en-US" sz="900" dirty="0"/>
          </a:p>
        </p:txBody>
      </p:sp>
      <p:sp>
        <p:nvSpPr>
          <p:cNvPr id="61" name="Text 50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62" name="Text 51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 ARCHITEKTUR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Komponenten &amp; Beziehungen im Überblick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11247120" cy="105156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685800" y="15361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SPA (Browser)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73152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48412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252984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Stammdaten</a:t>
            </a:r>
            <a:endParaRPr lang="en-US" sz="78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(Mitglieder/Spenden/</a:t>
            </a:r>
            <a:endParaRPr lang="en-US" sz="78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Bußgelder/Verwaltung)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28244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32816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Stichwortsuche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08076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612648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787908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92480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</a:t>
            </a:r>
            <a:endParaRPr lang="en-US" sz="78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9677400" y="1828800"/>
            <a:ext cx="1706880" cy="603504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9723120" y="1828800"/>
            <a:ext cx="161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Dokumente/</a:t>
            </a:r>
            <a:endParaRPr lang="en-US" sz="780" dirty="0"/>
          </a:p>
          <a:p>
            <a:pPr marL="0" indent="0" algn="ctr">
              <a:lnSpc>
                <a:spcPts val="9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Verlauf-Panels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080760" y="2514600"/>
            <a:ext cx="0" cy="292608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3200400" y="254203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REST/JSON · HTTP Basic Auth (BCrypt) via auth.interceptor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2843784"/>
            <a:ext cx="11247120" cy="233172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685800" y="29352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Backend (Windows-Dienst)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85800" y="3282696"/>
            <a:ext cx="2651760" cy="15544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FB3E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777240" y="3355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Controller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375818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MitgliedController · SpendeController · BussgeldController</a:t>
            </a:r>
            <a:endParaRPr lang="en-US" sz="750" dirty="0"/>
          </a:p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GerichtController · ReportController · DokumentController …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319272" y="3895344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A017"/>
                </a:solidFill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92424" y="3282696"/>
            <a:ext cx="2651760" cy="15544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FB3E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3483864" y="3355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(Geschäftslogik)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83864" y="375818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MitgliedService · SpendeService · WordTemplateService</a:t>
            </a:r>
            <a:endParaRPr lang="en-US" sz="750" dirty="0"/>
          </a:p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ExcelUtil · StichwortsucheService · AuditService …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025896" y="3895344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A017"/>
                </a:solidFill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99048" y="3282696"/>
            <a:ext cx="2651760" cy="15544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FB3E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6190488" y="3355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(Spring Data JPA)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90488" y="375818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MitgliedRepository · SpendeRepository · BussgeldRepository …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8732520" y="3895344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A017"/>
                </a:solidFill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805672" y="3282696"/>
            <a:ext cx="2651760" cy="15544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8FB3E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6"/>
          <p:cNvSpPr/>
          <p:nvPr/>
        </p:nvSpPr>
        <p:spPr>
          <a:xfrm>
            <a:off x="8897112" y="3355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/ Entities (JPA)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897112" y="3758184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950"/>
              </a:lnSpc>
              <a:buNone/>
            </a:pPr>
            <a:r>
              <a:rPr lang="en-US" sz="750" dirty="0">
                <a:solidFill>
                  <a:srgbClr val="C7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 · Verein · Spende · Bussgeld · Eingang · Gericht …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85800" y="4882896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i="1" dirty="0">
                <a:solidFill>
                  <a:srgbClr val="A9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Querschnitt: Spring Security (RBAC) · Hibernate Envers (Audit) · Flyway (Migrationen: db/migration + db/testdata)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2194560" y="5175504"/>
            <a:ext cx="0" cy="2743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42" name="Text 40"/>
          <p:cNvSpPr/>
          <p:nvPr/>
        </p:nvSpPr>
        <p:spPr>
          <a:xfrm>
            <a:off x="457200" y="518464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 (Prepared Statements)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7200" y="5486400"/>
            <a:ext cx="4206240" cy="77724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658368" y="563270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5692140"/>
            <a:ext cx="338328" cy="338328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243584" y="5486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9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frauenhaus.* Schema + *_aud Audit-Tabellen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7863840" y="5175504"/>
            <a:ext cx="0" cy="310896"/>
          </a:xfrm>
          <a:prstGeom prst="line">
            <a:avLst/>
          </a:prstGeom>
          <a:noFill/>
          <a:ln w="25400">
            <a:solidFill>
              <a:srgbClr val="D4A017"/>
            </a:solidFill>
            <a:prstDash val="dash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5"/>
          <p:cNvSpPr/>
          <p:nvPr/>
        </p:nvSpPr>
        <p:spPr>
          <a:xfrm>
            <a:off x="5669280" y="5486400"/>
            <a:ext cx="5394960" cy="777240"/>
          </a:xfrm>
          <a:prstGeom prst="rect">
            <a:avLst/>
          </a:prstGeom>
          <a:solidFill>
            <a:srgbClr val="D4A017"/>
          </a:solidFill>
          <a:ln/>
          <a:effectLst>
            <a:outerShdw blurRad="101600" dist="38100" dir="81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Shape 46"/>
          <p:cNvSpPr/>
          <p:nvPr/>
        </p:nvSpPr>
        <p:spPr>
          <a:xfrm>
            <a:off x="5870448" y="563270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884" y="5692140"/>
            <a:ext cx="338328" cy="338328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6455664" y="54864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Dokumentgenerierung: Apache POI (.xlsx) · docx4j (.docx)</a:t>
            </a:r>
            <a:endParaRPr lang="en-US" sz="900" dirty="0"/>
          </a:p>
          <a:p>
            <a:pPr marL="0" indent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Word-Vorlagen aus backend/vorlagen-alt/ – Serienbriefe &amp; Spendenquittungen</a:t>
            </a:r>
            <a:endParaRPr lang="en-US" sz="900" dirty="0"/>
          </a:p>
        </p:txBody>
      </p:sp>
      <p:sp>
        <p:nvSpPr>
          <p:cNvPr id="52" name="Text 48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53" name="Text 49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 ARCHITEKTUR · DETAIL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im Detail: Schichten, Verantwortung, Klassen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406908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Schicht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Verantwortung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Beispielhafte Komponenten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/ Controller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REST-Endpunkte, HTTP-Statuscodes, Exception-Mapping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MitgliedController, SpendeController, BussgeldController, GerichtController,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VereinController, ReportController, DokumentController, AppUserController,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ApiExceptionHandler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Geschäftslogik, Validierung, Transaktionsgrenzen (@Transactional)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MitgliedService, SpendeService, BussgeldService, VerteilerService,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WordTemplateService, DocumentCreationService, ExcelUtil, StichwortsucheService,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AuditService, AppUserService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Datenzugriff über Spring Data JPA (Prepared Statements, kein SQL-Injection-Risiko)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MitgliedRepository, SpendeRepository, BussgeldRepository, GerichtRepository,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VereinRepository, DokumentRepository, AppUserRepository, 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(JPA-Entities)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Fachliches Datenmodell inkl. Beziehungen (FK, @ManyToMany, @OneToMany)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Mitglied, Verein, Spende, Bussgeld, Eingang, Gericht, Anrede,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Spendenart, Spendentyp, Stichwort, Dokument, AppUser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(Querschnitt)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Authentifizierung &amp; rollenbasierte Autorisierung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SecurityConfig, DbUserDetailsService, AdminBootstrap – Rollen ADMIN / SACHBEARBEITUNG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(Querschnitt)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Automatische Änderungshistorie je Entität (Hibernate Envers)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AuditRevisionListener, Revision, *_aud-Tabellen – ersetzt CDisplayFieldHistoryBean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Migrationen (Querschnitt)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Versionierte, automatische DB-Schemaentwicklung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Flyway: db/migration (V1–V4, immer aktiv) + db/testdata (V5, nur Profil „dev“)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10896" cy="685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457200" y="521208"/>
            <a:ext cx="310896" cy="68580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310896" cy="685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ANFORDERUNGS-MAPPING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6583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Alt-System vs. neue Architektur je Anforderung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498348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Anforderung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Alt-System (FH_MA)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Neue Architektur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Benutzerverwaltung (FR-1)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 Rollenkonzept auf Anwendungsebene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Security + BCrypt, RBAC (ADMIN/SACHBEARBEITUNG)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Stammdaten-CRUD (FR-2,3,4,6,7)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Generisches CInfoFrame/CListFrame (Swing)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REST-Controller + Angular-Komponente je Entität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Zahlungseingänge (FR-5)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Manuelle Berechnung im Bußgeld-Datensatz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Eingang-Entity, automatische Summen-/Restbetragsberechnung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Auswertungen (FR-8)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Swing-Reports, direkter DB-Export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ReportController + Apache POI (.xlsx)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Spendenbescheinigungen (FR-9)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CCommandSpendenQuittung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WordTemplateService + docx4j (.docx, je Verein/Art)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Serienbriefe (FR-10)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CCommandBriefFrauenhaus / -Foerderverein + Outlook-COM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Word-Template-Service, Batch-Generierung ohne Outlook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Änderungshistorie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CDisplayFieldHistoryBean / CHistoryDialog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Hibernate Envers – automatisch, *_aud-Tabellen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Dokumenten-Anhänge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CDisplayFieldDocumentBean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Dokument-Entity (bytea) + Upload-/Download-API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Validierung/Konsistenz (FR-11,12)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Vereinzelte Swing-Feldvalidierung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A44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 Validation + FK-Constraints + zentrale Fehlerbehandlung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21792" y="868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 im Vergleich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1920240"/>
          </a:xfrm>
          <a:prstGeom prst="rect">
            <a:avLst/>
          </a:prstGeom>
          <a:solidFill>
            <a:srgbClr val="232B5C"/>
          </a:solidFill>
          <a:ln w="12700">
            <a:solidFill>
              <a:srgbClr val="353E7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28346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Schichten statt 2 –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Sicherheitsbarriere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10712" y="1783080"/>
            <a:ext cx="2606040" cy="1920240"/>
          </a:xfrm>
          <a:prstGeom prst="rect">
            <a:avLst/>
          </a:prstGeom>
          <a:solidFill>
            <a:srgbClr val="232B5C"/>
          </a:solidFill>
          <a:ln w="12700">
            <a:solidFill>
              <a:srgbClr val="353E7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3410712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47872" y="28346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Klartext-Zugangsdaten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Clients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1783080"/>
            <a:ext cx="2606040" cy="1920240"/>
          </a:xfrm>
          <a:prstGeom prst="rect">
            <a:avLst/>
          </a:prstGeom>
          <a:solidFill>
            <a:srgbClr val="232B5C"/>
          </a:solidFill>
          <a:ln w="12700">
            <a:solidFill>
              <a:srgbClr val="353E7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6181344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12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8346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Alt-Funktionen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migriert bzw. verbessert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51976" y="1783080"/>
            <a:ext cx="2606040" cy="1920240"/>
          </a:xfrm>
          <a:prstGeom prst="rect">
            <a:avLst/>
          </a:prstGeom>
          <a:solidFill>
            <a:srgbClr val="232B5C"/>
          </a:solidFill>
          <a:ln w="12700">
            <a:solidFill>
              <a:srgbClr val="353E7D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8951976" y="20116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089136" y="28346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 –</a:t>
            </a:r>
            <a:endParaRPr lang="en-US" sz="1150" dirty="0"/>
          </a:p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 DSGVO-Datenhoheit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einem monolithischen Swing-Fat-Client mit direktem Datenbankzugriff wurde eine sichere, wartbare 3-Schichten-Webarchitektur – vollständig on-premises betrieben, DSGVO-konform und mit klarer Rückverfolgbarkeit auf jede dokumentierte Anforderung.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120640"/>
            <a:ext cx="457200" cy="4114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FH_MA Modernisierung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256032" cy="7772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1097280" y="2651760"/>
            <a:ext cx="256032" cy="612648"/>
          </a:xfrm>
          <a:prstGeom prst="rect">
            <a:avLst/>
          </a:prstGeom>
          <a:solidFill>
            <a:srgbClr val="D4A01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1554480" y="2651760"/>
            <a:ext cx="256032" cy="44805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Danke für Ihre Aufmerksamkeit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zur Architektur, den ADRs oder dem Migrationsplan?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B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Referenzen: 03-architektur/01-requirements.md · 03-architektur/adrs/001,002,005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1617</Words>
  <Application>Microsoft Office PowerPoint</Application>
  <PresentationFormat>Breitbild</PresentationFormat>
  <Paragraphs>392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FH_MA Modernisierung – Architekturvergleich</dc:title>
  <dc:subject>PptxGenJS Presentation</dc:subject>
  <dc:creator>FH_MA Modernisierungsprojekt</dc:creator>
  <cp:lastModifiedBy>Faller. Paul-Louis</cp:lastModifiedBy>
  <cp:revision>2</cp:revision>
  <dcterms:created xsi:type="dcterms:W3CDTF">2026-07-13T18:43:02Z</dcterms:created>
  <dcterms:modified xsi:type="dcterms:W3CDTF">2026-07-13T18:47:14Z</dcterms:modified>
</cp:coreProperties>
</file>