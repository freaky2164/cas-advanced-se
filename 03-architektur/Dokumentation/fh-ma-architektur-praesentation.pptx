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6" r:id="rId1"/>
    <p:sldMasterId id="2147483657" r:id="rId2"/>
    <p:sldMasterId id="2147483658" r:id="rId3"/>
  </p:sldMasterIdLst>
  <p:notesMasterIdLst>
    <p:notesMasterId r:id="rId21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0" y="812520"/>
            <a:ext cx="0" cy="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dt" idx="1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‹Nr.›</a:t>
            </a:fld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5900" y="812800"/>
            <a:ext cx="7124700" cy="40068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" name="Google Shape;31;p1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5120" cy="4808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95840" y="926280"/>
            <a:ext cx="6464880" cy="45705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" name="Google Shape;43;p2:notes"/>
          <p:cNvSpPr txBox="1">
            <a:spLocks noGrp="1"/>
          </p:cNvSpPr>
          <p:nvPr>
            <p:ph type="body" idx="1"/>
          </p:nvPr>
        </p:nvSpPr>
        <p:spPr>
          <a:xfrm>
            <a:off x="685800" y="5790960"/>
            <a:ext cx="5484240" cy="548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4760" cy="4006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" name="Google Shape;73;p3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5120" cy="4808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4760" cy="4006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1" name="Google Shape;131;p4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5120" cy="4808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4760" cy="4006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0" name="Google Shape;170;p5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5120" cy="4808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4760" cy="4006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6" name="Google Shape;266;p6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5120" cy="4808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4760" cy="4006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6" name="Google Shape;316;p7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5120" cy="4808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f569aab89d_0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812520"/>
            <a:ext cx="0" cy="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4" name="Google Shape;374;g3f569aab89d_0_128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g3f569aab89d_0_128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g3f569aab89d_0_128:notes"/>
          <p:cNvSpPr txBox="1">
            <a:spLocks noGrp="1"/>
          </p:cNvSpPr>
          <p:nvPr>
            <p:ph type="dt" idx="10"/>
          </p:nvPr>
        </p:nvSpPr>
        <p:spPr>
          <a:xfrm>
            <a:off x="4278960" y="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g3f569aab89d_0_128:notes"/>
          <p:cNvSpPr txBox="1">
            <a:spLocks noGrp="1"/>
          </p:cNvSpPr>
          <p:nvPr>
            <p:ph type="ftr" idx="11"/>
          </p:nvPr>
        </p:nvSpPr>
        <p:spPr>
          <a:xfrm>
            <a:off x="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g3f569aab89d_0_128:notes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4760" cy="4006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1" name="Google Shape;441;p9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5120" cy="4808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0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812520"/>
            <a:ext cx="0" cy="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4760" cy="4006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2" name="Google Shape;532;p11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5120" cy="4808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f569aab89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6500" cy="4008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9" name="Google Shape;579;g3f569aab89d_0_0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6800" cy="4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g3f569aab89d_0_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4760" cy="4006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8" name="Google Shape;608;p13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5120" cy="4808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3f569aab89d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6500" cy="4008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6" name="Google Shape;646;g3f569aab89d_0_33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6800" cy="4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g3f569aab89d_0_3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95840" y="926280"/>
            <a:ext cx="6464520" cy="4570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9" name="Google Shape;659;p15:notes"/>
          <p:cNvSpPr txBox="1">
            <a:spLocks noGrp="1"/>
          </p:cNvSpPr>
          <p:nvPr>
            <p:ph type="body" idx="1"/>
          </p:nvPr>
        </p:nvSpPr>
        <p:spPr>
          <a:xfrm>
            <a:off x="685800" y="5790960"/>
            <a:ext cx="5484600" cy="54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15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4680" cy="60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15:notes"/>
          <p:cNvSpPr txBox="1">
            <a:spLocks noGrp="1"/>
          </p:cNvSpPr>
          <p:nvPr>
            <p:ph type="dt" idx="10"/>
          </p:nvPr>
        </p:nvSpPr>
        <p:spPr>
          <a:xfrm>
            <a:off x="3881520" y="0"/>
            <a:ext cx="2974680" cy="60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endParaRPr sz="14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15:notes"/>
          <p:cNvSpPr txBox="1">
            <a:spLocks noGrp="1"/>
          </p:cNvSpPr>
          <p:nvPr>
            <p:ph type="ftr" idx="11"/>
          </p:nvPr>
        </p:nvSpPr>
        <p:spPr>
          <a:xfrm>
            <a:off x="0" y="11582280"/>
            <a:ext cx="2974680" cy="60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endParaRPr sz="14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15:notes"/>
          <p:cNvSpPr txBox="1">
            <a:spLocks noGrp="1"/>
          </p:cNvSpPr>
          <p:nvPr>
            <p:ph type="sldNum" idx="12"/>
          </p:nvPr>
        </p:nvSpPr>
        <p:spPr>
          <a:xfrm>
            <a:off x="3881520" y="11582280"/>
            <a:ext cx="2974680" cy="60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endParaRPr sz="14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3f56b4003a3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4700" cy="4006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4" name="Google Shape;734;g3f56b4003a3_2_7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5000" cy="48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g3f56b4003a3_2_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4760" cy="4006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3" name="Google Shape;743;p16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5120" cy="4808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1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ndard 1" type="blank">
  <p:cSld name="BLANK">
    <p:bg>
      <p:bgPr>
        <a:solidFill>
          <a:srgbClr val="FFFFFF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20040" algn="l" rtl="0">
              <a:lnSpc>
                <a:spcPct val="102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2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85750" algn="l" rtl="0">
              <a:lnSpc>
                <a:spcPct val="102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3850" algn="l" rtl="0">
              <a:lnSpc>
                <a:spcPct val="102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−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85750" algn="l" rtl="0">
              <a:lnSpc>
                <a:spcPct val="102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85750" algn="l" rtl="0">
              <a:lnSpc>
                <a:spcPct val="102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85750" algn="l" rtl="0">
              <a:lnSpc>
                <a:spcPct val="102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 type="title">
  <p:cSld name="TITLE">
    <p:bg>
      <p:bgPr>
        <a:solidFill>
          <a:srgbClr val="FFFFFF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609480" y="710640"/>
            <a:ext cx="10971360" cy="28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R="0" lvl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ndard">
  <p:cSld name="Standard">
    <p:bg>
      <p:bgPr>
        <a:solidFill>
          <a:srgbClr val="FFFFFF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20040" algn="l" rtl="0">
              <a:lnSpc>
                <a:spcPct val="102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2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85750" algn="l" rtl="0">
              <a:lnSpc>
                <a:spcPct val="102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3850" algn="l" rtl="0">
              <a:lnSpc>
                <a:spcPct val="102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−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85750" algn="l" rtl="0">
              <a:lnSpc>
                <a:spcPct val="102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85750" algn="l" rtl="0">
              <a:lnSpc>
                <a:spcPct val="102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85750" algn="l" rtl="0">
              <a:lnSpc>
                <a:spcPct val="102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 1">
  <p:cSld name="BLANK_1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ndard 3" type="title">
  <p:cSld name="TITLE">
    <p:bg>
      <p:bgPr>
        <a:solidFill>
          <a:srgbClr val="FFFFFF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"/>
          <p:cNvSpPr txBox="1">
            <a:spLocks noGrp="1"/>
          </p:cNvSpPr>
          <p:nvPr>
            <p:ph type="title"/>
          </p:nvPr>
        </p:nvSpPr>
        <p:spPr>
          <a:xfrm>
            <a:off x="609480" y="746280"/>
            <a:ext cx="10971720" cy="19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R="0" lvl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22" name="Google Shape;22;p7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68605" algn="l" rtl="0">
              <a:lnSpc>
                <a:spcPct val="93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5275" algn="l" rtl="0">
              <a:lnSpc>
                <a:spcPct val="93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Char char="−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68605" algn="l" rtl="0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5275" algn="l" rtl="0">
              <a:lnSpc>
                <a:spcPct val="93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Char char="−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lnSpc>
                <a:spcPct val="93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85750" algn="l" rtl="0">
              <a:lnSpc>
                <a:spcPct val="93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85750" algn="l" rtl="0">
              <a:lnSpc>
                <a:spcPct val="93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BLANK">
    <p:bg>
      <p:bgPr>
        <a:solidFill>
          <a:srgbClr val="FFFFFF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ndard 2" type="title">
  <p:cSld name="TITLE">
    <p:bg>
      <p:bgPr>
        <a:solidFill>
          <a:srgbClr val="FFFFFF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0"/>
          <p:cNvSpPr txBox="1">
            <a:spLocks noGrp="1"/>
          </p:cNvSpPr>
          <p:nvPr>
            <p:ph type="title"/>
          </p:nvPr>
        </p:nvSpPr>
        <p:spPr>
          <a:xfrm>
            <a:off x="609480" y="746280"/>
            <a:ext cx="10971360" cy="19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R="0" lvl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27" name="Google Shape;27;p10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68605" algn="l" rtl="0">
              <a:lnSpc>
                <a:spcPct val="93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5275" algn="l" rtl="0">
              <a:lnSpc>
                <a:spcPct val="93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Char char="−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68605" algn="l" rtl="0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5275" algn="l" rtl="0">
              <a:lnSpc>
                <a:spcPct val="93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Char char="−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lnSpc>
                <a:spcPct val="93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85750" algn="l" rtl="0">
              <a:lnSpc>
                <a:spcPct val="93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85750" algn="l" rtl="0">
              <a:lnSpc>
                <a:spcPct val="93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  <p:sldLayoutId id="2147483655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3.png"/><Relationship Id="rId1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3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31.png"/><Relationship Id="rId10" Type="http://schemas.openxmlformats.org/officeDocument/2006/relationships/image" Target="../media/image34.png"/><Relationship Id="rId4" Type="http://schemas.openxmlformats.org/officeDocument/2006/relationships/image" Target="../media/image30.png"/><Relationship Id="rId9" Type="http://schemas.openxmlformats.org/officeDocument/2006/relationships/hyperlink" Target="http://asp.net" TargetMode="Externa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3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9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/>
          <p:nvPr/>
        </p:nvSpPr>
        <p:spPr>
          <a:xfrm>
            <a:off x="8869680" y="914400"/>
            <a:ext cx="308160" cy="5026320"/>
          </a:xfrm>
          <a:prstGeom prst="rect">
            <a:avLst/>
          </a:prstGeom>
          <a:solidFill>
            <a:srgbClr val="CADCFC">
              <a:alpha val="90196"/>
            </a:srgbClr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2"/>
          <p:cNvSpPr/>
          <p:nvPr/>
        </p:nvSpPr>
        <p:spPr>
          <a:xfrm>
            <a:off x="9436680" y="914400"/>
            <a:ext cx="308160" cy="420336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2"/>
          <p:cNvSpPr/>
          <p:nvPr/>
        </p:nvSpPr>
        <p:spPr>
          <a:xfrm>
            <a:off x="10003680" y="914400"/>
            <a:ext cx="308160" cy="3380400"/>
          </a:xfrm>
          <a:prstGeom prst="rect">
            <a:avLst/>
          </a:prstGeom>
          <a:solidFill>
            <a:srgbClr val="1C7293">
              <a:alpha val="90196"/>
            </a:srgbClr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2"/>
          <p:cNvSpPr/>
          <p:nvPr/>
        </p:nvSpPr>
        <p:spPr>
          <a:xfrm>
            <a:off x="640080" y="1965960"/>
            <a:ext cx="8226720" cy="36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ADVANCED SOFTWARE ENGINEERING | GRUPPE-3: ARCHITEKTUR</a:t>
            </a: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2"/>
          <p:cNvSpPr/>
          <p:nvPr/>
        </p:nvSpPr>
        <p:spPr>
          <a:xfrm>
            <a:off x="621720" y="2331720"/>
            <a:ext cx="7860960" cy="182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95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Vom Fat-Client zur</a:t>
            </a:r>
            <a:endParaRPr sz="4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95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modernen Web-Architektur</a:t>
            </a:r>
            <a:endParaRPr sz="4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2"/>
          <p:cNvSpPr/>
          <p:nvPr/>
        </p:nvSpPr>
        <p:spPr>
          <a:xfrm>
            <a:off x="640080" y="5257800"/>
            <a:ext cx="454320" cy="3816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12"/>
          <p:cNvSpPr/>
          <p:nvPr/>
        </p:nvSpPr>
        <p:spPr>
          <a:xfrm>
            <a:off x="640080" y="5989320"/>
            <a:ext cx="7312320" cy="31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150" b="0" i="0" u="none" strike="noStrike" cap="none" dirty="0">
                <a:solidFill>
                  <a:srgbClr val="8290C4"/>
                </a:solidFill>
                <a:latin typeface="Calibri"/>
                <a:ea typeface="Calibri"/>
                <a:cs typeface="Calibri"/>
                <a:sym typeface="Calibri"/>
              </a:rPr>
              <a:t>DHBW CAS  ·  Juli 2026 | </a:t>
            </a:r>
            <a:r>
              <a:rPr lang="en-US" sz="1150" b="0" i="0" u="none" strike="noStrike" cap="none" dirty="0" err="1">
                <a:solidFill>
                  <a:srgbClr val="8290C4"/>
                </a:solidFill>
                <a:latin typeface="Calibri"/>
                <a:ea typeface="Calibri"/>
                <a:cs typeface="Calibri"/>
                <a:sym typeface="Calibri"/>
              </a:rPr>
              <a:t>Firschau</a:t>
            </a:r>
            <a:r>
              <a:rPr lang="en-US" sz="1150" dirty="0">
                <a:solidFill>
                  <a:srgbClr val="8290C4"/>
                </a:solidFill>
                <a:latin typeface="Calibri"/>
                <a:ea typeface="Calibri"/>
                <a:cs typeface="Calibri"/>
                <a:sym typeface="Calibri"/>
              </a:rPr>
              <a:t>, Nils: </a:t>
            </a:r>
            <a:r>
              <a:rPr lang="en-US" sz="1150" dirty="0" err="1">
                <a:solidFill>
                  <a:srgbClr val="8290C4"/>
                </a:solidFill>
                <a:latin typeface="Calibri"/>
                <a:ea typeface="Calibri"/>
                <a:cs typeface="Calibri"/>
                <a:sym typeface="Calibri"/>
              </a:rPr>
              <a:t>Matrikelnr</a:t>
            </a:r>
            <a:r>
              <a:rPr lang="en-US" sz="1150" dirty="0">
                <a:solidFill>
                  <a:srgbClr val="8290C4"/>
                </a:solidFill>
                <a:latin typeface="Calibri"/>
                <a:ea typeface="Calibri"/>
                <a:cs typeface="Calibri"/>
                <a:sym typeface="Calibri"/>
              </a:rPr>
              <a:t>.. 8993076 | Steiner, Robin: </a:t>
            </a:r>
            <a:r>
              <a:rPr lang="en-US" sz="1150" dirty="0" err="1">
                <a:solidFill>
                  <a:srgbClr val="8290C4"/>
                </a:solidFill>
                <a:latin typeface="Calibri"/>
                <a:ea typeface="Calibri"/>
                <a:cs typeface="Calibri"/>
                <a:sym typeface="Calibri"/>
              </a:rPr>
              <a:t>Matrikelnr</a:t>
            </a:r>
            <a:r>
              <a:rPr lang="en-US" sz="1150" dirty="0">
                <a:solidFill>
                  <a:srgbClr val="8290C4"/>
                </a:solidFill>
                <a:latin typeface="Calibri"/>
                <a:ea typeface="Calibri"/>
                <a:cs typeface="Calibri"/>
                <a:sym typeface="Calibri"/>
              </a:rPr>
              <a:t>. 9251426 | Faller, Paul-Louis: </a:t>
            </a:r>
            <a:r>
              <a:rPr lang="en-US" sz="1150" dirty="0" err="1">
                <a:solidFill>
                  <a:srgbClr val="8290C4"/>
                </a:solidFill>
                <a:latin typeface="Calibri"/>
                <a:ea typeface="Calibri"/>
                <a:cs typeface="Calibri"/>
                <a:sym typeface="Calibri"/>
              </a:rPr>
              <a:t>Matrikelnr</a:t>
            </a:r>
            <a:r>
              <a:rPr lang="en-US" sz="1150" dirty="0">
                <a:solidFill>
                  <a:srgbClr val="8290C4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sz="1150">
                <a:solidFill>
                  <a:srgbClr val="8290C4"/>
                </a:solidFill>
                <a:latin typeface="Calibri"/>
                <a:ea typeface="Calibri"/>
                <a:cs typeface="Calibri"/>
                <a:sym typeface="Calibri"/>
              </a:rPr>
              <a:t>5567855 </a:t>
            </a:r>
            <a:r>
              <a:rPr lang="en-US" sz="1150" dirty="0">
                <a:solidFill>
                  <a:srgbClr val="8290C4"/>
                </a:solidFill>
                <a:latin typeface="Calibri"/>
                <a:ea typeface="Calibri"/>
                <a:cs typeface="Calibri"/>
                <a:sym typeface="Calibri"/>
              </a:rPr>
              <a:t>| Schildt, Ole: </a:t>
            </a:r>
            <a:r>
              <a:rPr lang="en-US" sz="1150" dirty="0" err="1">
                <a:solidFill>
                  <a:srgbClr val="8290C4"/>
                </a:solidFill>
                <a:latin typeface="Calibri"/>
                <a:ea typeface="Calibri"/>
                <a:cs typeface="Calibri"/>
                <a:sym typeface="Calibri"/>
              </a:rPr>
              <a:t>Matrikelnr</a:t>
            </a:r>
            <a:r>
              <a:rPr lang="en-US" sz="1150" dirty="0">
                <a:solidFill>
                  <a:srgbClr val="8290C4"/>
                </a:solidFill>
                <a:latin typeface="Calibri"/>
                <a:ea typeface="Calibri"/>
                <a:cs typeface="Calibri"/>
                <a:sym typeface="Calibri"/>
              </a:rPr>
              <a:t>. 3504736</a:t>
            </a:r>
            <a:endParaRPr sz="115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/>
          <p:nvPr/>
        </p:nvSpPr>
        <p:spPr>
          <a:xfrm>
            <a:off x="621720" y="868680"/>
            <a:ext cx="7313040" cy="637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Agenda</a:t>
            </a:r>
            <a:endParaRPr sz="3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13"/>
          <p:cNvSpPr/>
          <p:nvPr/>
        </p:nvSpPr>
        <p:spPr>
          <a:xfrm>
            <a:off x="640080" y="1783080"/>
            <a:ext cx="683640" cy="61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u="none" strike="noStrike" cap="none">
                <a:solidFill>
                  <a:srgbClr val="D4A017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sz="2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13"/>
          <p:cNvSpPr/>
          <p:nvPr/>
        </p:nvSpPr>
        <p:spPr>
          <a:xfrm>
            <a:off x="1353240" y="1764720"/>
            <a:ext cx="4341240" cy="3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Probleme des aktuellen Codes</a:t>
            </a:r>
            <a:endParaRPr sz="175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13"/>
          <p:cNvSpPr/>
          <p:nvPr/>
        </p:nvSpPr>
        <p:spPr>
          <a:xfrm>
            <a:off x="1353240" y="2057400"/>
            <a:ext cx="4341240" cy="40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A9B6E0"/>
                </a:solidFill>
                <a:latin typeface="Calibri"/>
                <a:ea typeface="Calibri"/>
                <a:cs typeface="Calibri"/>
                <a:sym typeface="Calibri"/>
              </a:rPr>
              <a:t>IST-Zustand des bestehenden Java-Swing-Fat-Clients</a:t>
            </a:r>
            <a:endParaRPr sz="125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" name="Google Shape;50;p13"/>
          <p:cNvCxnSpPr/>
          <p:nvPr/>
        </p:nvCxnSpPr>
        <p:spPr>
          <a:xfrm>
            <a:off x="640080" y="2386440"/>
            <a:ext cx="5076000" cy="1440"/>
          </a:xfrm>
          <a:prstGeom prst="straightConnector1">
            <a:avLst/>
          </a:prstGeom>
          <a:noFill/>
          <a:ln w="12600" cap="flat" cmpd="sng">
            <a:solidFill>
              <a:srgbClr val="2E376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1" name="Google Shape;51;p13"/>
          <p:cNvSpPr/>
          <p:nvPr/>
        </p:nvSpPr>
        <p:spPr>
          <a:xfrm>
            <a:off x="640080" y="2532960"/>
            <a:ext cx="683640" cy="61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u="none" strike="noStrike" cap="none">
                <a:solidFill>
                  <a:srgbClr val="D4A017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sz="2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13"/>
          <p:cNvSpPr/>
          <p:nvPr/>
        </p:nvSpPr>
        <p:spPr>
          <a:xfrm>
            <a:off x="1353240" y="2514600"/>
            <a:ext cx="4341240" cy="3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Anforderungen</a:t>
            </a:r>
            <a:endParaRPr sz="175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3"/>
          <p:cNvSpPr/>
          <p:nvPr/>
        </p:nvSpPr>
        <p:spPr>
          <a:xfrm>
            <a:off x="1353240" y="2807280"/>
            <a:ext cx="4341240" cy="40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A9B6E0"/>
                </a:solidFill>
                <a:latin typeface="Calibri"/>
                <a:ea typeface="Calibri"/>
                <a:cs typeface="Calibri"/>
                <a:sym typeface="Calibri"/>
              </a:rPr>
              <a:t>funktionale &amp; nicht-funktionale Anforderungen, </a:t>
            </a:r>
            <a:r>
              <a:rPr lang="en-US" sz="1250">
                <a:solidFill>
                  <a:srgbClr val="A9B6E0"/>
                </a:solidFill>
                <a:latin typeface="Calibri"/>
                <a:ea typeface="Calibri"/>
                <a:cs typeface="Calibri"/>
                <a:sym typeface="Calibri"/>
              </a:rPr>
              <a:t>Qualitätsmerkmale</a:t>
            </a:r>
            <a:endParaRPr sz="125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" name="Google Shape;54;p13"/>
          <p:cNvCxnSpPr/>
          <p:nvPr/>
        </p:nvCxnSpPr>
        <p:spPr>
          <a:xfrm>
            <a:off x="640080" y="3136320"/>
            <a:ext cx="5076000" cy="1440"/>
          </a:xfrm>
          <a:prstGeom prst="straightConnector1">
            <a:avLst/>
          </a:prstGeom>
          <a:noFill/>
          <a:ln w="12600" cap="flat" cmpd="sng">
            <a:solidFill>
              <a:srgbClr val="2E376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5" name="Google Shape;55;p13"/>
          <p:cNvSpPr/>
          <p:nvPr/>
        </p:nvSpPr>
        <p:spPr>
          <a:xfrm>
            <a:off x="640080" y="3282840"/>
            <a:ext cx="683640" cy="61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u="none" strike="noStrike" cap="none">
                <a:solidFill>
                  <a:srgbClr val="D4A017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sz="2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1353240" y="3264480"/>
            <a:ext cx="4341240" cy="3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Architekturentscheidungen</a:t>
            </a:r>
            <a:endParaRPr sz="175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1353240" y="3557160"/>
            <a:ext cx="4341240" cy="40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A9B6E0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r>
              <a:rPr lang="en-US" sz="1250" b="0" i="0" u="none" strike="noStrike" cap="none">
                <a:solidFill>
                  <a:srgbClr val="A9B6E0"/>
                </a:solidFill>
                <a:latin typeface="Calibri"/>
                <a:ea typeface="Calibri"/>
                <a:cs typeface="Calibri"/>
                <a:sym typeface="Calibri"/>
              </a:rPr>
              <a:t>entrale ADRs: Architekturstil, Tech-Stack, Auth &amp; RBAC, Backup, Deployment</a:t>
            </a:r>
            <a:endParaRPr sz="125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6172200" y="1783080"/>
            <a:ext cx="683640" cy="61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u="none" strike="noStrike" cap="none">
                <a:solidFill>
                  <a:srgbClr val="D4A017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sz="2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3"/>
          <p:cNvSpPr/>
          <p:nvPr/>
        </p:nvSpPr>
        <p:spPr>
          <a:xfrm>
            <a:off x="6885360" y="1764720"/>
            <a:ext cx="4341240" cy="3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Finale Architektur im Detail</a:t>
            </a:r>
            <a:endParaRPr sz="175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6885360" y="2057400"/>
            <a:ext cx="4341240" cy="40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A9B6E0"/>
                </a:solidFill>
                <a:latin typeface="Calibri"/>
                <a:ea typeface="Calibri"/>
                <a:cs typeface="Calibri"/>
                <a:sym typeface="Calibri"/>
              </a:rPr>
              <a:t>Alle Komponenten und ihre Beziehungen zueinander</a:t>
            </a:r>
            <a:endParaRPr sz="125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" name="Google Shape;61;p13"/>
          <p:cNvCxnSpPr/>
          <p:nvPr/>
        </p:nvCxnSpPr>
        <p:spPr>
          <a:xfrm>
            <a:off x="6172200" y="2386440"/>
            <a:ext cx="5076000" cy="1440"/>
          </a:xfrm>
          <a:prstGeom prst="straightConnector1">
            <a:avLst/>
          </a:prstGeom>
          <a:noFill/>
          <a:ln w="12600" cap="flat" cmpd="sng">
            <a:solidFill>
              <a:srgbClr val="2E376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2" name="Google Shape;62;p13"/>
          <p:cNvSpPr/>
          <p:nvPr/>
        </p:nvSpPr>
        <p:spPr>
          <a:xfrm>
            <a:off x="6172200" y="2532960"/>
            <a:ext cx="683640" cy="61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u="none" strike="noStrike" cap="none">
                <a:solidFill>
                  <a:srgbClr val="D4A017"/>
                </a:solidFill>
                <a:latin typeface="Cambria"/>
                <a:ea typeface="Cambria"/>
                <a:cs typeface="Cambria"/>
                <a:sym typeface="Cambria"/>
              </a:rPr>
              <a:t>05</a:t>
            </a:r>
            <a:endParaRPr sz="2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3"/>
          <p:cNvSpPr/>
          <p:nvPr/>
        </p:nvSpPr>
        <p:spPr>
          <a:xfrm>
            <a:off x="6885360" y="2514600"/>
            <a:ext cx="4341240" cy="3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Demo Prototyp</a:t>
            </a:r>
            <a:endParaRPr sz="175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3"/>
          <p:cNvSpPr/>
          <p:nvPr/>
        </p:nvSpPr>
        <p:spPr>
          <a:xfrm>
            <a:off x="6885360" y="2807280"/>
            <a:ext cx="4341240" cy="40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A9B6E0"/>
                </a:solidFill>
                <a:latin typeface="Calibri"/>
                <a:ea typeface="Calibri"/>
                <a:cs typeface="Calibri"/>
                <a:sym typeface="Calibri"/>
              </a:rPr>
              <a:t>Ein kurzer Blick </a:t>
            </a:r>
            <a:r>
              <a:rPr lang="en-US" sz="1250">
                <a:solidFill>
                  <a:srgbClr val="A9B6E0"/>
                </a:solidFill>
                <a:latin typeface="Calibri"/>
                <a:ea typeface="Calibri"/>
                <a:cs typeface="Calibri"/>
                <a:sym typeface="Calibri"/>
              </a:rPr>
              <a:t>auf</a:t>
            </a:r>
            <a:r>
              <a:rPr lang="en-US" sz="1250" b="0" i="0" u="none" strike="noStrike" cap="none">
                <a:solidFill>
                  <a:srgbClr val="A9B6E0"/>
                </a:solidFill>
                <a:latin typeface="Calibri"/>
                <a:ea typeface="Calibri"/>
                <a:cs typeface="Calibri"/>
                <a:sym typeface="Calibri"/>
              </a:rPr>
              <a:t> den aktuellen Prototyp</a:t>
            </a:r>
            <a:endParaRPr sz="125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" name="Google Shape;65;p13"/>
          <p:cNvCxnSpPr/>
          <p:nvPr/>
        </p:nvCxnSpPr>
        <p:spPr>
          <a:xfrm>
            <a:off x="6172200" y="3136320"/>
            <a:ext cx="5076000" cy="1440"/>
          </a:xfrm>
          <a:prstGeom prst="straightConnector1">
            <a:avLst/>
          </a:prstGeom>
          <a:noFill/>
          <a:ln w="12600" cap="flat" cmpd="sng">
            <a:solidFill>
              <a:srgbClr val="2E376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6" name="Google Shape;66;p13"/>
          <p:cNvSpPr/>
          <p:nvPr/>
        </p:nvSpPr>
        <p:spPr>
          <a:xfrm>
            <a:off x="6172200" y="3282840"/>
            <a:ext cx="683640" cy="61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u="none" strike="noStrike" cap="none">
                <a:solidFill>
                  <a:srgbClr val="D4A017"/>
                </a:solidFill>
                <a:latin typeface="Cambria"/>
                <a:ea typeface="Cambria"/>
                <a:cs typeface="Cambria"/>
                <a:sym typeface="Cambria"/>
              </a:rPr>
              <a:t>06</a:t>
            </a:r>
            <a:endParaRPr sz="2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3"/>
          <p:cNvSpPr/>
          <p:nvPr/>
        </p:nvSpPr>
        <p:spPr>
          <a:xfrm>
            <a:off x="6885360" y="3264480"/>
            <a:ext cx="4341240" cy="3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Fazit</a:t>
            </a:r>
            <a:endParaRPr sz="175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3"/>
          <p:cNvSpPr/>
          <p:nvPr/>
        </p:nvSpPr>
        <p:spPr>
          <a:xfrm>
            <a:off x="6885360" y="3557160"/>
            <a:ext cx="4341240" cy="40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A9B6E0"/>
                </a:solidFill>
                <a:latin typeface="Calibri"/>
                <a:ea typeface="Calibri"/>
                <a:cs typeface="Calibri"/>
                <a:sym typeface="Calibri"/>
              </a:rPr>
              <a:t>Initialen Ergebnis im Vergleich zum Alt-System</a:t>
            </a:r>
            <a:endParaRPr sz="125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3"/>
          <p:cNvSpPr/>
          <p:nvPr/>
        </p:nvSpPr>
        <p:spPr>
          <a:xfrm>
            <a:off x="457200" y="6528960"/>
            <a:ext cx="731304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290C4"/>
                </a:solidFill>
                <a:latin typeface="Calibri"/>
                <a:ea typeface="Calibri"/>
                <a:cs typeface="Calibri"/>
                <a:sym typeface="Calibri"/>
              </a:rPr>
              <a:t>FH_MA Modernisierung</a:t>
            </a:r>
            <a:endParaRPr sz="9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3"/>
          <p:cNvSpPr/>
          <p:nvPr/>
        </p:nvSpPr>
        <p:spPr>
          <a:xfrm>
            <a:off x="11368800" y="6528960"/>
            <a:ext cx="3636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290C4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/>
          <p:nvPr/>
        </p:nvSpPr>
        <p:spPr>
          <a:xfrm>
            <a:off x="457200" y="384120"/>
            <a:ext cx="308160" cy="65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0000" tIns="23750" rIns="90000" bIns="237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4"/>
          <p:cNvSpPr/>
          <p:nvPr/>
        </p:nvSpPr>
        <p:spPr>
          <a:xfrm>
            <a:off x="457200" y="521280"/>
            <a:ext cx="308160" cy="658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txBody>
          <a:bodyPr spcFirstLastPara="1" wrap="square" lIns="90000" tIns="23750" rIns="90000" bIns="237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4"/>
          <p:cNvSpPr/>
          <p:nvPr/>
        </p:nvSpPr>
        <p:spPr>
          <a:xfrm>
            <a:off x="457200" y="658440"/>
            <a:ext cx="308160" cy="658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0000" tIns="23750" rIns="90000" bIns="237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4"/>
          <p:cNvSpPr/>
          <p:nvPr/>
        </p:nvSpPr>
        <p:spPr>
          <a:xfrm>
            <a:off x="960120" y="429840"/>
            <a:ext cx="8226720" cy="27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B5533C"/>
                </a:solidFill>
                <a:latin typeface="Calibri"/>
                <a:ea typeface="Calibri"/>
                <a:cs typeface="Calibri"/>
                <a:sym typeface="Calibri"/>
              </a:rPr>
              <a:t>ALT-SYSTEM · IST-ZUSTAND</a:t>
            </a:r>
            <a:endParaRPr sz="12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4"/>
          <p:cNvSpPr/>
          <p:nvPr/>
        </p:nvSpPr>
        <p:spPr>
          <a:xfrm>
            <a:off x="457200" y="766440"/>
            <a:ext cx="10787040" cy="6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FH_MA: Java-Swing-Fat-Client</a:t>
            </a:r>
            <a:endParaRPr sz="3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4"/>
          <p:cNvSpPr/>
          <p:nvPr/>
        </p:nvSpPr>
        <p:spPr>
          <a:xfrm>
            <a:off x="457200" y="1572840"/>
            <a:ext cx="344520" cy="344520"/>
          </a:xfrm>
          <a:prstGeom prst="ellipse">
            <a:avLst/>
          </a:prstGeom>
          <a:solidFill>
            <a:srgbClr val="F6E4DF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" name="Google Shape;82;p1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2200" y="1617840"/>
            <a:ext cx="254160" cy="25416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4"/>
          <p:cNvSpPr/>
          <p:nvPr/>
        </p:nvSpPr>
        <p:spPr>
          <a:xfrm>
            <a:off x="932760" y="1545480"/>
            <a:ext cx="4934880" cy="25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Desktop-Anwendung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4"/>
          <p:cNvSpPr/>
          <p:nvPr/>
        </p:nvSpPr>
        <p:spPr>
          <a:xfrm>
            <a:off x="932760" y="1756080"/>
            <a:ext cx="5026320" cy="45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1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1100" b="0" i="0" u="none" strike="noStrike" cap="non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igenes UI-Framework „compucrash“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4"/>
          <p:cNvSpPr/>
          <p:nvPr/>
        </p:nvSpPr>
        <p:spPr>
          <a:xfrm>
            <a:off x="457200" y="2331720"/>
            <a:ext cx="344520" cy="344520"/>
          </a:xfrm>
          <a:prstGeom prst="ellipse">
            <a:avLst/>
          </a:prstGeom>
          <a:solidFill>
            <a:srgbClr val="F6E4DF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Google Shape;86;p1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2200" y="2376720"/>
            <a:ext cx="254160" cy="25416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4"/>
          <p:cNvSpPr/>
          <p:nvPr/>
        </p:nvSpPr>
        <p:spPr>
          <a:xfrm>
            <a:off x="932760" y="2304360"/>
            <a:ext cx="4934880" cy="25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Installation pro Arbeitsplatz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4"/>
          <p:cNvSpPr/>
          <p:nvPr/>
        </p:nvSpPr>
        <p:spPr>
          <a:xfrm>
            <a:off x="932760" y="2515320"/>
            <a:ext cx="5026320" cy="45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1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lang="en-US" sz="1100" b="0" i="0" u="none" strike="noStrike" cap="non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ede Änderung erfordert Neuinstallation auf allen PCs </a:t>
            </a:r>
            <a:r>
              <a:rPr lang="en-US" sz="1100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100" b="0" i="0" u="none" strike="noStrike" cap="non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 kein zentrales Deployment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4"/>
          <p:cNvSpPr/>
          <p:nvPr/>
        </p:nvSpPr>
        <p:spPr>
          <a:xfrm>
            <a:off x="457200" y="3090600"/>
            <a:ext cx="344520" cy="344520"/>
          </a:xfrm>
          <a:prstGeom prst="ellipse">
            <a:avLst/>
          </a:prstGeom>
          <a:solidFill>
            <a:srgbClr val="F6E4DF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2200" y="3135960"/>
            <a:ext cx="254160" cy="25416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/>
          <p:nvPr/>
        </p:nvSpPr>
        <p:spPr>
          <a:xfrm>
            <a:off x="932760" y="3063240"/>
            <a:ext cx="4934880" cy="25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Direkter Datenbankzugriff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/>
          <p:nvPr/>
        </p:nvSpPr>
        <p:spPr>
          <a:xfrm>
            <a:off x="932760" y="3214461"/>
            <a:ext cx="5026200" cy="4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1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lang="en-US" sz="1100" b="0" i="0" u="none" strike="noStrike" cap="non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eder Client spricht per JDBC direkt mit MS SQL Server Express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457200" y="3849480"/>
            <a:ext cx="344520" cy="344520"/>
          </a:xfrm>
          <a:prstGeom prst="ellipse">
            <a:avLst/>
          </a:prstGeom>
          <a:solidFill>
            <a:srgbClr val="F6E4DF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4" name="Google Shape;94;p1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2200" y="3894840"/>
            <a:ext cx="254160" cy="25416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/>
          <p:nvPr/>
        </p:nvSpPr>
        <p:spPr>
          <a:xfrm>
            <a:off x="932760" y="3822120"/>
            <a:ext cx="4934880" cy="25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Zugangsdaten im Klartext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932760" y="3985289"/>
            <a:ext cx="5026200" cy="4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1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DB-Credentials liegen unverschlüsselt in lokalen .ini-Dateien auf jedem PC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457200" y="4608720"/>
            <a:ext cx="344400" cy="344400"/>
          </a:xfrm>
          <a:prstGeom prst="ellipse">
            <a:avLst/>
          </a:prstGeom>
          <a:solidFill>
            <a:srgbClr val="F6E4DF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1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2200" y="4653720"/>
            <a:ext cx="254160" cy="25416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/>
          <p:nvPr/>
        </p:nvSpPr>
        <p:spPr>
          <a:xfrm>
            <a:off x="944708" y="4638697"/>
            <a:ext cx="4935000" cy="2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SQL per String-Konkatenation</a:t>
            </a:r>
            <a:endParaRPr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932760" y="4780012"/>
            <a:ext cx="5026200" cy="4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1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-US" sz="1100" b="0" i="0" u="none" strike="noStrike" cap="non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eine Prepared Statements </a:t>
            </a:r>
            <a:r>
              <a:rPr lang="en-US" sz="1100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100" b="0" i="0" u="none" strike="noStrike" cap="non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 SQL-Injection-Risiko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457200" y="5367600"/>
            <a:ext cx="344400" cy="344400"/>
          </a:xfrm>
          <a:prstGeom prst="ellipse">
            <a:avLst/>
          </a:prstGeom>
          <a:solidFill>
            <a:srgbClr val="F6E4DF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" name="Google Shape;102;p1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2200" y="5412600"/>
            <a:ext cx="254160" cy="25416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/>
          <p:nvPr/>
        </p:nvSpPr>
        <p:spPr>
          <a:xfrm>
            <a:off x="932760" y="5399979"/>
            <a:ext cx="4935000" cy="2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Kein Rollenkonzept</a:t>
            </a:r>
            <a:endParaRPr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932760" y="5598631"/>
            <a:ext cx="5026200" cy="4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1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-US" sz="1100" b="0" i="0" u="none" strike="noStrike" cap="non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eine anwendungsseitige Zugriffskontrolle, kein zentrales Logging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6492250" y="2070000"/>
            <a:ext cx="5209200" cy="2821800"/>
          </a:xfrm>
          <a:prstGeom prst="rect">
            <a:avLst/>
          </a:prstGeom>
          <a:solidFill>
            <a:srgbClr val="FBF3F0"/>
          </a:solidFill>
          <a:ln w="12700" cap="flat" cmpd="sng">
            <a:solidFill>
              <a:srgbClr val="EAD2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6766560" y="2240280"/>
            <a:ext cx="4660560" cy="27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B5533C"/>
                </a:solidFill>
                <a:latin typeface="Calibri"/>
                <a:ea typeface="Calibri"/>
                <a:cs typeface="Calibri"/>
                <a:sym typeface="Calibri"/>
              </a:rPr>
              <a:t>2-Schichten-Architektur (Alt)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6766560" y="2724840"/>
            <a:ext cx="2145960" cy="500040"/>
          </a:xfrm>
          <a:prstGeom prst="rect">
            <a:avLst/>
          </a:prstGeom>
          <a:solidFill>
            <a:srgbClr val="FFFFFF"/>
          </a:solidFill>
          <a:ln w="15875" cap="flat" cmpd="sng">
            <a:solidFill>
              <a:srgbClr val="B553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6876360" y="2816280"/>
            <a:ext cx="317160" cy="317160"/>
          </a:xfrm>
          <a:prstGeom prst="ellipse">
            <a:avLst/>
          </a:prstGeom>
          <a:solidFill>
            <a:srgbClr val="B5533C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" name="Google Shape;109;p1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17760" y="2858040"/>
            <a:ext cx="234000" cy="23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4"/>
          <p:cNvSpPr/>
          <p:nvPr/>
        </p:nvSpPr>
        <p:spPr>
          <a:xfrm>
            <a:off x="7278480" y="2724840"/>
            <a:ext cx="1551600" cy="50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Fat-Client PC 1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" name="Google Shape;111;p14"/>
          <p:cNvCxnSpPr/>
          <p:nvPr/>
        </p:nvCxnSpPr>
        <p:spPr>
          <a:xfrm>
            <a:off x="8915400" y="2976120"/>
            <a:ext cx="1066680" cy="524160"/>
          </a:xfrm>
          <a:prstGeom prst="straightConnector1">
            <a:avLst/>
          </a:prstGeom>
          <a:noFill/>
          <a:ln w="19050" cap="flat" cmpd="sng">
            <a:solidFill>
              <a:srgbClr val="B5533C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12" name="Google Shape;112;p14"/>
          <p:cNvSpPr/>
          <p:nvPr/>
        </p:nvSpPr>
        <p:spPr>
          <a:xfrm>
            <a:off x="6766560" y="3383280"/>
            <a:ext cx="2145960" cy="500040"/>
          </a:xfrm>
          <a:prstGeom prst="rect">
            <a:avLst/>
          </a:prstGeom>
          <a:solidFill>
            <a:srgbClr val="FFFFFF"/>
          </a:solidFill>
          <a:ln w="15875" cap="flat" cmpd="sng">
            <a:solidFill>
              <a:srgbClr val="B553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/>
          <p:nvPr/>
        </p:nvSpPr>
        <p:spPr>
          <a:xfrm>
            <a:off x="6876360" y="3474720"/>
            <a:ext cx="317160" cy="317160"/>
          </a:xfrm>
          <a:prstGeom prst="ellipse">
            <a:avLst/>
          </a:prstGeom>
          <a:solidFill>
            <a:srgbClr val="B5533C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1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17760" y="3516120"/>
            <a:ext cx="234000" cy="23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4"/>
          <p:cNvSpPr/>
          <p:nvPr/>
        </p:nvSpPr>
        <p:spPr>
          <a:xfrm>
            <a:off x="7278480" y="3383280"/>
            <a:ext cx="1551600" cy="50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Fat-Client PC 2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" name="Google Shape;116;p14"/>
          <p:cNvCxnSpPr/>
          <p:nvPr/>
        </p:nvCxnSpPr>
        <p:spPr>
          <a:xfrm>
            <a:off x="8915400" y="3634560"/>
            <a:ext cx="1019160" cy="284760"/>
          </a:xfrm>
          <a:prstGeom prst="straightConnector1">
            <a:avLst/>
          </a:prstGeom>
          <a:noFill/>
          <a:ln w="19050" cap="flat" cmpd="sng">
            <a:solidFill>
              <a:srgbClr val="B5533C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17" name="Google Shape;117;p14"/>
          <p:cNvSpPr/>
          <p:nvPr/>
        </p:nvSpPr>
        <p:spPr>
          <a:xfrm>
            <a:off x="6766560" y="4041720"/>
            <a:ext cx="2145960" cy="500040"/>
          </a:xfrm>
          <a:prstGeom prst="rect">
            <a:avLst/>
          </a:prstGeom>
          <a:solidFill>
            <a:srgbClr val="FFFFFF"/>
          </a:solidFill>
          <a:ln w="15875" cap="flat" cmpd="sng">
            <a:solidFill>
              <a:srgbClr val="B553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/>
          <p:nvPr/>
        </p:nvSpPr>
        <p:spPr>
          <a:xfrm>
            <a:off x="6876360" y="4133160"/>
            <a:ext cx="317160" cy="317160"/>
          </a:xfrm>
          <a:prstGeom prst="ellipse">
            <a:avLst/>
          </a:prstGeom>
          <a:solidFill>
            <a:srgbClr val="B5533C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1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17760" y="4174560"/>
            <a:ext cx="234000" cy="23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/>
          <p:nvPr/>
        </p:nvSpPr>
        <p:spPr>
          <a:xfrm>
            <a:off x="7278480" y="4041720"/>
            <a:ext cx="1551600" cy="50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Fat-Client PC …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1" name="Google Shape;121;p14"/>
          <p:cNvCxnSpPr/>
          <p:nvPr/>
        </p:nvCxnSpPr>
        <p:spPr>
          <a:xfrm rot="10800000" flipH="1">
            <a:off x="8915400" y="4195440"/>
            <a:ext cx="1047600" cy="97560"/>
          </a:xfrm>
          <a:prstGeom prst="straightConnector1">
            <a:avLst/>
          </a:prstGeom>
          <a:noFill/>
          <a:ln w="19050" cap="flat" cmpd="sng">
            <a:solidFill>
              <a:srgbClr val="B5533C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22" name="Google Shape;122;p14"/>
          <p:cNvSpPr/>
          <p:nvPr/>
        </p:nvSpPr>
        <p:spPr>
          <a:xfrm>
            <a:off x="8867880" y="3145680"/>
            <a:ext cx="2557440" cy="16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1" u="none" strike="noStrike" cap="none">
                <a:solidFill>
                  <a:srgbClr val="B5533C"/>
                </a:solidFill>
                <a:latin typeface="Calibri"/>
                <a:ea typeface="Calibri"/>
                <a:cs typeface="Calibri"/>
                <a:sym typeface="Calibri"/>
              </a:rPr>
              <a:t>JDBC · Klartext-Credentials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4"/>
          <p:cNvSpPr/>
          <p:nvPr/>
        </p:nvSpPr>
        <p:spPr>
          <a:xfrm>
            <a:off x="9966960" y="3456360"/>
            <a:ext cx="1460160" cy="1002960"/>
          </a:xfrm>
          <a:prstGeom prst="rect">
            <a:avLst/>
          </a:prstGeom>
          <a:solidFill>
            <a:srgbClr val="B5533C"/>
          </a:solidFill>
          <a:ln>
            <a:noFill/>
          </a:ln>
          <a:effectLst>
            <a:outerShdw blurRad="101520" dist="37674" dir="81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4"/>
          <p:cNvSpPr/>
          <p:nvPr/>
        </p:nvSpPr>
        <p:spPr>
          <a:xfrm>
            <a:off x="10469880" y="3611880"/>
            <a:ext cx="454320" cy="45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" name="Google Shape;125;p1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529280" y="3671280"/>
            <a:ext cx="335520" cy="33552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4"/>
          <p:cNvSpPr/>
          <p:nvPr/>
        </p:nvSpPr>
        <p:spPr>
          <a:xfrm>
            <a:off x="10058400" y="4142160"/>
            <a:ext cx="1277280" cy="27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MS SQL Server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Express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4"/>
          <p:cNvSpPr/>
          <p:nvPr/>
        </p:nvSpPr>
        <p:spPr>
          <a:xfrm>
            <a:off x="457200" y="6528960"/>
            <a:ext cx="7312320" cy="25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FH_MA Modernisierung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4"/>
          <p:cNvSpPr/>
          <p:nvPr/>
        </p:nvSpPr>
        <p:spPr>
          <a:xfrm>
            <a:off x="11368800" y="6528960"/>
            <a:ext cx="362880" cy="25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5"/>
          <p:cNvSpPr/>
          <p:nvPr/>
        </p:nvSpPr>
        <p:spPr>
          <a:xfrm>
            <a:off x="457200" y="384120"/>
            <a:ext cx="308160" cy="65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0000" tIns="23750" rIns="90000" bIns="237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5"/>
          <p:cNvSpPr/>
          <p:nvPr/>
        </p:nvSpPr>
        <p:spPr>
          <a:xfrm>
            <a:off x="457200" y="521280"/>
            <a:ext cx="308160" cy="658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txBody>
          <a:bodyPr spcFirstLastPara="1" wrap="square" lIns="90000" tIns="23750" rIns="90000" bIns="237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5"/>
          <p:cNvSpPr/>
          <p:nvPr/>
        </p:nvSpPr>
        <p:spPr>
          <a:xfrm>
            <a:off x="457200" y="658440"/>
            <a:ext cx="308160" cy="658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0000" tIns="23750" rIns="90000" bIns="237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5"/>
          <p:cNvSpPr/>
          <p:nvPr/>
        </p:nvSpPr>
        <p:spPr>
          <a:xfrm>
            <a:off x="960120" y="429840"/>
            <a:ext cx="8226720" cy="27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B5533C"/>
                </a:solidFill>
                <a:latin typeface="Calibri"/>
                <a:ea typeface="Calibri"/>
                <a:cs typeface="Calibri"/>
                <a:sym typeface="Calibri"/>
              </a:rPr>
              <a:t>ALT-SYSTEM · ABLEITUNG</a:t>
            </a:r>
            <a:endParaRPr sz="12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457200" y="766440"/>
            <a:ext cx="10787040" cy="6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Probleme des Alt-Systems als Architektur-Treiber</a:t>
            </a:r>
            <a:endParaRPr sz="3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457200" y="1600200"/>
            <a:ext cx="11244240" cy="7102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1E7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5"/>
          <p:cNvSpPr/>
          <p:nvPr/>
        </p:nvSpPr>
        <p:spPr>
          <a:xfrm>
            <a:off x="457200" y="1600200"/>
            <a:ext cx="61200" cy="710280"/>
          </a:xfrm>
          <a:prstGeom prst="rect">
            <a:avLst/>
          </a:prstGeom>
          <a:solidFill>
            <a:srgbClr val="B5533C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5"/>
          <p:cNvSpPr/>
          <p:nvPr/>
        </p:nvSpPr>
        <p:spPr>
          <a:xfrm>
            <a:off x="685800" y="1600200"/>
            <a:ext cx="4934880" cy="71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Kein zentraler Sicherheitsfilter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" name="Google Shape;142;p1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0" y="1819800"/>
            <a:ext cx="271440" cy="27144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5"/>
          <p:cNvSpPr/>
          <p:nvPr/>
        </p:nvSpPr>
        <p:spPr>
          <a:xfrm>
            <a:off x="6126480" y="1600200"/>
            <a:ext cx="5392080" cy="71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82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A4457"/>
                </a:solidFill>
                <a:latin typeface="Calibri"/>
                <a:ea typeface="Calibri"/>
                <a:cs typeface="Calibri"/>
                <a:sym typeface="Calibri"/>
              </a:rPr>
              <a:t>SQL-Injection möglich, keine DSGVO-</a:t>
            </a:r>
            <a:r>
              <a:rPr lang="en-US" sz="1100">
                <a:solidFill>
                  <a:srgbClr val="3A4457"/>
                </a:solidFill>
                <a:latin typeface="Calibri"/>
                <a:ea typeface="Calibri"/>
                <a:cs typeface="Calibri"/>
                <a:sym typeface="Calibri"/>
              </a:rPr>
              <a:t>Konformität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5"/>
          <p:cNvSpPr/>
          <p:nvPr/>
        </p:nvSpPr>
        <p:spPr>
          <a:xfrm>
            <a:off x="457200" y="2441520"/>
            <a:ext cx="11244240" cy="7102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1E7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5"/>
          <p:cNvSpPr/>
          <p:nvPr/>
        </p:nvSpPr>
        <p:spPr>
          <a:xfrm>
            <a:off x="457200" y="2441520"/>
            <a:ext cx="61200" cy="710280"/>
          </a:xfrm>
          <a:prstGeom prst="rect">
            <a:avLst/>
          </a:prstGeom>
          <a:solidFill>
            <a:srgbClr val="B5533C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5"/>
          <p:cNvSpPr/>
          <p:nvPr/>
        </p:nvSpPr>
        <p:spPr>
          <a:xfrm>
            <a:off x="685800" y="2441520"/>
            <a:ext cx="4934880" cy="71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Client-seitige Installation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7" name="Google Shape;147;p1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0" y="2660760"/>
            <a:ext cx="271440" cy="27144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5"/>
          <p:cNvSpPr/>
          <p:nvPr/>
        </p:nvSpPr>
        <p:spPr>
          <a:xfrm>
            <a:off x="6126480" y="2441520"/>
            <a:ext cx="5392080" cy="71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82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A4457"/>
                </a:solidFill>
                <a:latin typeface="Calibri"/>
                <a:ea typeface="Calibri"/>
                <a:cs typeface="Calibri"/>
                <a:sym typeface="Calibri"/>
              </a:rPr>
              <a:t>Updates nur manuell, PC für PC </a:t>
            </a:r>
            <a:r>
              <a:rPr lang="en-US" sz="1100">
                <a:solidFill>
                  <a:srgbClr val="3A4457"/>
                </a:solidFill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lang="en-US" sz="1100" b="0" i="0" u="none" strike="noStrike" cap="none">
                <a:solidFill>
                  <a:srgbClr val="3A4457"/>
                </a:solidFill>
                <a:latin typeface="Calibri"/>
                <a:ea typeface="Calibri"/>
                <a:cs typeface="Calibri"/>
                <a:sym typeface="Calibri"/>
              </a:rPr>
              <a:t>hoher Wartungsaufwand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5"/>
          <p:cNvSpPr/>
          <p:nvPr/>
        </p:nvSpPr>
        <p:spPr>
          <a:xfrm>
            <a:off x="457200" y="3282840"/>
            <a:ext cx="11244240" cy="7102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1E7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5"/>
          <p:cNvSpPr/>
          <p:nvPr/>
        </p:nvSpPr>
        <p:spPr>
          <a:xfrm>
            <a:off x="457200" y="3282840"/>
            <a:ext cx="61200" cy="710280"/>
          </a:xfrm>
          <a:prstGeom prst="rect">
            <a:avLst/>
          </a:prstGeom>
          <a:solidFill>
            <a:srgbClr val="B5533C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5"/>
          <p:cNvSpPr/>
          <p:nvPr/>
        </p:nvSpPr>
        <p:spPr>
          <a:xfrm>
            <a:off x="685800" y="3282840"/>
            <a:ext cx="4934880" cy="71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Kein anwendungsseitiges Rollenkonzept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p1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0" y="3502080"/>
            <a:ext cx="271440" cy="27144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5"/>
          <p:cNvSpPr/>
          <p:nvPr/>
        </p:nvSpPr>
        <p:spPr>
          <a:xfrm>
            <a:off x="6126480" y="3282840"/>
            <a:ext cx="5392080" cy="71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82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A4457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-US" sz="1100" b="0" i="0" u="none" strike="noStrike" cap="none">
                <a:solidFill>
                  <a:srgbClr val="3A4457"/>
                </a:solidFill>
                <a:latin typeface="Calibri"/>
                <a:ea typeface="Calibri"/>
                <a:cs typeface="Calibri"/>
                <a:sym typeface="Calibri"/>
              </a:rPr>
              <a:t>eine nachweisbare rollenbasierte Zugriffskontrolle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5"/>
          <p:cNvSpPr/>
          <p:nvPr/>
        </p:nvSpPr>
        <p:spPr>
          <a:xfrm>
            <a:off x="457200" y="4123800"/>
            <a:ext cx="11244240" cy="7102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1E7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5"/>
          <p:cNvSpPr/>
          <p:nvPr/>
        </p:nvSpPr>
        <p:spPr>
          <a:xfrm>
            <a:off x="457200" y="4123800"/>
            <a:ext cx="61200" cy="710280"/>
          </a:xfrm>
          <a:prstGeom prst="rect">
            <a:avLst/>
          </a:prstGeom>
          <a:solidFill>
            <a:srgbClr val="B5533C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5"/>
          <p:cNvSpPr/>
          <p:nvPr/>
        </p:nvSpPr>
        <p:spPr>
          <a:xfrm>
            <a:off x="685800" y="4123800"/>
            <a:ext cx="4934880" cy="71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Kein zentrales Logging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p1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0" y="4343400"/>
            <a:ext cx="271440" cy="27144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5"/>
          <p:cNvSpPr/>
          <p:nvPr/>
        </p:nvSpPr>
        <p:spPr>
          <a:xfrm>
            <a:off x="6126480" y="4123800"/>
            <a:ext cx="5392080" cy="71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82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A4457"/>
                </a:solidFill>
                <a:latin typeface="Calibri"/>
                <a:ea typeface="Calibri"/>
                <a:cs typeface="Calibri"/>
                <a:sym typeface="Calibri"/>
              </a:rPr>
              <a:t>Fehleranalyse</a:t>
            </a:r>
            <a:r>
              <a:rPr lang="en-US" sz="1100">
                <a:solidFill>
                  <a:srgbClr val="3A4457"/>
                </a:solidFill>
                <a:latin typeface="Calibri"/>
                <a:ea typeface="Calibri"/>
                <a:cs typeface="Calibri"/>
                <a:sym typeface="Calibri"/>
              </a:rPr>
              <a:t> &amp;</a:t>
            </a:r>
            <a:r>
              <a:rPr lang="en-US" sz="1100" b="0" i="0" u="none" strike="noStrike" cap="none">
                <a:solidFill>
                  <a:srgbClr val="3A4457"/>
                </a:solidFill>
                <a:latin typeface="Calibri"/>
                <a:ea typeface="Calibri"/>
                <a:cs typeface="Calibri"/>
                <a:sym typeface="Calibri"/>
              </a:rPr>
              <a:t> Nachvollziehbarkeit kaum möglich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5"/>
          <p:cNvSpPr/>
          <p:nvPr/>
        </p:nvSpPr>
        <p:spPr>
          <a:xfrm>
            <a:off x="457200" y="4965120"/>
            <a:ext cx="11244240" cy="7102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1E7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5"/>
          <p:cNvSpPr/>
          <p:nvPr/>
        </p:nvSpPr>
        <p:spPr>
          <a:xfrm>
            <a:off x="457200" y="4965120"/>
            <a:ext cx="61200" cy="710280"/>
          </a:xfrm>
          <a:prstGeom prst="rect">
            <a:avLst/>
          </a:prstGeom>
          <a:solidFill>
            <a:srgbClr val="B5533C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5"/>
          <p:cNvSpPr/>
          <p:nvPr/>
        </p:nvSpPr>
        <p:spPr>
          <a:xfrm>
            <a:off x="685800" y="4965120"/>
            <a:ext cx="4934880" cy="71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Monolithischer Swing-Client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" name="Google Shape;162;p1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0" y="5184720"/>
            <a:ext cx="271440" cy="27144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5"/>
          <p:cNvSpPr/>
          <p:nvPr/>
        </p:nvSpPr>
        <p:spPr>
          <a:xfrm>
            <a:off x="6126480" y="4965120"/>
            <a:ext cx="5392080" cy="71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82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A4457"/>
                </a:solidFill>
                <a:latin typeface="Calibri"/>
                <a:ea typeface="Calibri"/>
                <a:cs typeface="Calibri"/>
                <a:sym typeface="Calibri"/>
              </a:rPr>
              <a:t>Wartung erfordert Swing-</a:t>
            </a:r>
            <a:r>
              <a:rPr lang="en-US" sz="1100">
                <a:solidFill>
                  <a:srgbClr val="3A4457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lang="en-US" sz="1100" b="0" i="0" u="none" strike="noStrike" cap="none">
                <a:solidFill>
                  <a:srgbClr val="3A4457"/>
                </a:solidFill>
                <a:latin typeface="Calibri"/>
                <a:ea typeface="Calibri"/>
                <a:cs typeface="Calibri"/>
                <a:sym typeface="Calibri"/>
              </a:rPr>
              <a:t>issen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5"/>
          <p:cNvSpPr/>
          <p:nvPr/>
        </p:nvSpPr>
        <p:spPr>
          <a:xfrm>
            <a:off x="457200" y="5852160"/>
            <a:ext cx="11244240" cy="5641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5"/>
          <p:cNvSpPr/>
          <p:nvPr/>
        </p:nvSpPr>
        <p:spPr>
          <a:xfrm>
            <a:off x="685800" y="5852160"/>
            <a:ext cx="10787040" cy="564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Empfehlung: </a:t>
            </a:r>
            <a:r>
              <a:rPr lang="en-US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Zentrale Anwendungsschicht mit Authentifizierung, Validierung &amp; Zugriffskontrolle → 3-</a:t>
            </a:r>
            <a:r>
              <a:rPr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Tier-Monolith</a:t>
            </a:r>
            <a:r>
              <a:rPr lang="en-US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-Architektur (ADR-001)</a:t>
            </a:r>
            <a:endParaRPr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5"/>
          <p:cNvSpPr/>
          <p:nvPr/>
        </p:nvSpPr>
        <p:spPr>
          <a:xfrm>
            <a:off x="457200" y="6528960"/>
            <a:ext cx="7312320" cy="25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FH_MA Modernisierung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5"/>
          <p:cNvSpPr/>
          <p:nvPr/>
        </p:nvSpPr>
        <p:spPr>
          <a:xfrm>
            <a:off x="11368800" y="6528960"/>
            <a:ext cx="362880" cy="25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6"/>
          <p:cNvSpPr/>
          <p:nvPr/>
        </p:nvSpPr>
        <p:spPr>
          <a:xfrm>
            <a:off x="457200" y="384120"/>
            <a:ext cx="308160" cy="65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0000" tIns="23750" rIns="90000" bIns="237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6"/>
          <p:cNvSpPr/>
          <p:nvPr/>
        </p:nvSpPr>
        <p:spPr>
          <a:xfrm>
            <a:off x="457200" y="521280"/>
            <a:ext cx="308160" cy="658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txBody>
          <a:bodyPr spcFirstLastPara="1" wrap="square" lIns="90000" tIns="23750" rIns="90000" bIns="237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6"/>
          <p:cNvSpPr/>
          <p:nvPr/>
        </p:nvSpPr>
        <p:spPr>
          <a:xfrm>
            <a:off x="457200" y="658440"/>
            <a:ext cx="308160" cy="658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0000" tIns="23750" rIns="90000" bIns="237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6"/>
          <p:cNvSpPr/>
          <p:nvPr/>
        </p:nvSpPr>
        <p:spPr>
          <a:xfrm>
            <a:off x="960120" y="429840"/>
            <a:ext cx="8226720" cy="27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ANFORDERUNGEN · FUNKTIONAL</a:t>
            </a:r>
            <a:endParaRPr sz="12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6"/>
          <p:cNvSpPr/>
          <p:nvPr/>
        </p:nvSpPr>
        <p:spPr>
          <a:xfrm>
            <a:off x="457200" y="766440"/>
            <a:ext cx="10787040" cy="6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Funktionale Anforderungen </a:t>
            </a:r>
            <a:endParaRPr sz="3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6"/>
          <p:cNvSpPr/>
          <p:nvPr/>
        </p:nvSpPr>
        <p:spPr>
          <a:xfrm>
            <a:off x="457200" y="1536120"/>
            <a:ext cx="2694600" cy="12956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1E7F0"/>
            </a:solidFill>
            <a:prstDash val="solid"/>
            <a:round/>
            <a:headEnd type="none" w="sm" len="sm"/>
            <a:tailEnd type="none" w="sm" len="sm"/>
          </a:ln>
          <a:effectLst>
            <a:outerShdw blurRad="63360" dist="25455" dir="8100000" algn="bl" rotWithShape="0">
              <a:srgbClr val="1E2761">
                <a:alpha val="10196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6"/>
          <p:cNvSpPr/>
          <p:nvPr/>
        </p:nvSpPr>
        <p:spPr>
          <a:xfrm>
            <a:off x="457200" y="1536120"/>
            <a:ext cx="51840" cy="12956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6"/>
          <p:cNvSpPr/>
          <p:nvPr/>
        </p:nvSpPr>
        <p:spPr>
          <a:xfrm>
            <a:off x="621720" y="1673280"/>
            <a:ext cx="381240" cy="381240"/>
          </a:xfrm>
          <a:prstGeom prst="ellipse">
            <a:avLst/>
          </a:prstGeom>
          <a:solidFill>
            <a:srgbClr val="E9F2F4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1" name="Google Shape;181;p1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1760" y="1723320"/>
            <a:ext cx="281160" cy="28116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6"/>
          <p:cNvSpPr/>
          <p:nvPr/>
        </p:nvSpPr>
        <p:spPr>
          <a:xfrm>
            <a:off x="1107000" y="1744200"/>
            <a:ext cx="911520" cy="21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FR-1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6"/>
          <p:cNvSpPr/>
          <p:nvPr/>
        </p:nvSpPr>
        <p:spPr>
          <a:xfrm>
            <a:off x="621720" y="2066400"/>
            <a:ext cx="2383560" cy="27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Benutzerverwaltung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6"/>
          <p:cNvSpPr/>
          <p:nvPr/>
        </p:nvSpPr>
        <p:spPr>
          <a:xfrm>
            <a:off x="621720" y="2340720"/>
            <a:ext cx="2383560" cy="435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4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Anmeldung + Rollen (Admin/Sachbearbeiter)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6"/>
          <p:cNvSpPr/>
          <p:nvPr/>
        </p:nvSpPr>
        <p:spPr>
          <a:xfrm>
            <a:off x="3282840" y="1536120"/>
            <a:ext cx="2694600" cy="12956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1E7F0"/>
            </a:solidFill>
            <a:prstDash val="solid"/>
            <a:round/>
            <a:headEnd type="none" w="sm" len="sm"/>
            <a:tailEnd type="none" w="sm" len="sm"/>
          </a:ln>
          <a:effectLst>
            <a:outerShdw blurRad="63360" dist="25455" dir="8100000" algn="bl" rotWithShape="0">
              <a:srgbClr val="1E2761">
                <a:alpha val="10196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6"/>
          <p:cNvSpPr/>
          <p:nvPr/>
        </p:nvSpPr>
        <p:spPr>
          <a:xfrm>
            <a:off x="3282840" y="1536120"/>
            <a:ext cx="51840" cy="12956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6"/>
          <p:cNvSpPr/>
          <p:nvPr/>
        </p:nvSpPr>
        <p:spPr>
          <a:xfrm>
            <a:off x="3447360" y="1673280"/>
            <a:ext cx="381240" cy="381240"/>
          </a:xfrm>
          <a:prstGeom prst="ellipse">
            <a:avLst/>
          </a:prstGeom>
          <a:solidFill>
            <a:srgbClr val="E9F2F4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8" name="Google Shape;188;p1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97040" y="1723320"/>
            <a:ext cx="281160" cy="28116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6"/>
          <p:cNvSpPr/>
          <p:nvPr/>
        </p:nvSpPr>
        <p:spPr>
          <a:xfrm>
            <a:off x="3940560" y="1753920"/>
            <a:ext cx="911520" cy="21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FR-2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6"/>
          <p:cNvSpPr/>
          <p:nvPr/>
        </p:nvSpPr>
        <p:spPr>
          <a:xfrm>
            <a:off x="3447360" y="2066400"/>
            <a:ext cx="2383560" cy="27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Mitglieder &amp; Adressen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6"/>
          <p:cNvSpPr/>
          <p:nvPr/>
        </p:nvSpPr>
        <p:spPr>
          <a:xfrm>
            <a:off x="3447360" y="2340720"/>
            <a:ext cx="2383560" cy="435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4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anlegen, bearbeiten, löschen, suchen, filtern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6"/>
          <p:cNvSpPr/>
          <p:nvPr/>
        </p:nvSpPr>
        <p:spPr>
          <a:xfrm>
            <a:off x="6108120" y="1536120"/>
            <a:ext cx="2694600" cy="12956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1E7F0"/>
            </a:solidFill>
            <a:prstDash val="solid"/>
            <a:round/>
            <a:headEnd type="none" w="sm" len="sm"/>
            <a:tailEnd type="none" w="sm" len="sm"/>
          </a:ln>
          <a:effectLst>
            <a:outerShdw blurRad="63360" dist="25455" dir="8100000" algn="bl" rotWithShape="0">
              <a:srgbClr val="1E2761">
                <a:alpha val="10196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6"/>
          <p:cNvSpPr/>
          <p:nvPr/>
        </p:nvSpPr>
        <p:spPr>
          <a:xfrm>
            <a:off x="6108120" y="1536120"/>
            <a:ext cx="51840" cy="12956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6"/>
          <p:cNvSpPr/>
          <p:nvPr/>
        </p:nvSpPr>
        <p:spPr>
          <a:xfrm>
            <a:off x="6272640" y="1673280"/>
            <a:ext cx="381240" cy="381240"/>
          </a:xfrm>
          <a:prstGeom prst="ellipse">
            <a:avLst/>
          </a:prstGeom>
          <a:solidFill>
            <a:srgbClr val="E9F2F4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" name="Google Shape;195;p1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22680" y="1723320"/>
            <a:ext cx="281160" cy="28116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6"/>
          <p:cNvSpPr/>
          <p:nvPr/>
        </p:nvSpPr>
        <p:spPr>
          <a:xfrm>
            <a:off x="6765840" y="1753920"/>
            <a:ext cx="911520" cy="21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FR-3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6"/>
          <p:cNvSpPr/>
          <p:nvPr/>
        </p:nvSpPr>
        <p:spPr>
          <a:xfrm>
            <a:off x="6272640" y="2066400"/>
            <a:ext cx="2383560" cy="27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Spenden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6"/>
          <p:cNvSpPr/>
          <p:nvPr/>
        </p:nvSpPr>
        <p:spPr>
          <a:xfrm>
            <a:off x="6272640" y="2340720"/>
            <a:ext cx="2383560" cy="435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4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Spendeneigenschaften erfassen, ändern, löschen, anzeigen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6"/>
          <p:cNvSpPr/>
          <p:nvPr/>
        </p:nvSpPr>
        <p:spPr>
          <a:xfrm>
            <a:off x="8933760" y="1536120"/>
            <a:ext cx="2694600" cy="12956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1E7F0"/>
            </a:solidFill>
            <a:prstDash val="solid"/>
            <a:round/>
            <a:headEnd type="none" w="sm" len="sm"/>
            <a:tailEnd type="none" w="sm" len="sm"/>
          </a:ln>
          <a:effectLst>
            <a:outerShdw blurRad="63360" dist="25455" dir="8100000" algn="bl" rotWithShape="0">
              <a:srgbClr val="1E2761">
                <a:alpha val="10196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6"/>
          <p:cNvSpPr/>
          <p:nvPr/>
        </p:nvSpPr>
        <p:spPr>
          <a:xfrm>
            <a:off x="8933760" y="1536120"/>
            <a:ext cx="51840" cy="12956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6"/>
          <p:cNvSpPr/>
          <p:nvPr/>
        </p:nvSpPr>
        <p:spPr>
          <a:xfrm>
            <a:off x="9098280" y="1673280"/>
            <a:ext cx="381240" cy="381240"/>
          </a:xfrm>
          <a:prstGeom prst="ellipse">
            <a:avLst/>
          </a:prstGeom>
          <a:solidFill>
            <a:srgbClr val="E9F2F4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2" name="Google Shape;202;p16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148320" y="1723320"/>
            <a:ext cx="281160" cy="28116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6"/>
          <p:cNvSpPr/>
          <p:nvPr/>
        </p:nvSpPr>
        <p:spPr>
          <a:xfrm>
            <a:off x="9591480" y="1753920"/>
            <a:ext cx="911520" cy="21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FR-4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6"/>
          <p:cNvSpPr/>
          <p:nvPr/>
        </p:nvSpPr>
        <p:spPr>
          <a:xfrm>
            <a:off x="9098280" y="2066400"/>
            <a:ext cx="2383560" cy="27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Bußgelder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6"/>
          <p:cNvSpPr/>
          <p:nvPr/>
        </p:nvSpPr>
        <p:spPr>
          <a:xfrm>
            <a:off x="9098280" y="2340720"/>
            <a:ext cx="2383560" cy="435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4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Verwaltung inkl. Status offen/teilw./bezahlt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6"/>
          <p:cNvSpPr/>
          <p:nvPr/>
        </p:nvSpPr>
        <p:spPr>
          <a:xfrm>
            <a:off x="457200" y="2962800"/>
            <a:ext cx="2694600" cy="12956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1E7F0"/>
            </a:solidFill>
            <a:prstDash val="solid"/>
            <a:round/>
            <a:headEnd type="none" w="sm" len="sm"/>
            <a:tailEnd type="none" w="sm" len="sm"/>
          </a:ln>
          <a:effectLst>
            <a:outerShdw blurRad="63360" dist="25455" dir="8100000" algn="bl" rotWithShape="0">
              <a:srgbClr val="1E2761">
                <a:alpha val="10196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6"/>
          <p:cNvSpPr/>
          <p:nvPr/>
        </p:nvSpPr>
        <p:spPr>
          <a:xfrm>
            <a:off x="457200" y="2962800"/>
            <a:ext cx="51840" cy="12956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6"/>
          <p:cNvSpPr/>
          <p:nvPr/>
        </p:nvSpPr>
        <p:spPr>
          <a:xfrm>
            <a:off x="621720" y="3099960"/>
            <a:ext cx="381240" cy="381240"/>
          </a:xfrm>
          <a:prstGeom prst="ellipse">
            <a:avLst/>
          </a:prstGeom>
          <a:solidFill>
            <a:srgbClr val="E9F2F4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" name="Google Shape;209;p16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1760" y="3149640"/>
            <a:ext cx="281160" cy="28116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6"/>
          <p:cNvSpPr/>
          <p:nvPr/>
        </p:nvSpPr>
        <p:spPr>
          <a:xfrm>
            <a:off x="1114920" y="3180240"/>
            <a:ext cx="911520" cy="21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FR-5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6"/>
          <p:cNvSpPr/>
          <p:nvPr/>
        </p:nvSpPr>
        <p:spPr>
          <a:xfrm>
            <a:off x="621720" y="3493080"/>
            <a:ext cx="2383560" cy="27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Zahlungseingänge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6"/>
          <p:cNvSpPr/>
          <p:nvPr/>
        </p:nvSpPr>
        <p:spPr>
          <a:xfrm>
            <a:off x="621720" y="3767400"/>
            <a:ext cx="2383560" cy="435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4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beliebig viele je Bußgeld, Restbetrags- und Gesamtbetragsberechnung automatisch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6"/>
          <p:cNvSpPr/>
          <p:nvPr/>
        </p:nvSpPr>
        <p:spPr>
          <a:xfrm>
            <a:off x="3282840" y="2962800"/>
            <a:ext cx="2694600" cy="12956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1E7F0"/>
            </a:solidFill>
            <a:prstDash val="solid"/>
            <a:round/>
            <a:headEnd type="none" w="sm" len="sm"/>
            <a:tailEnd type="none" w="sm" len="sm"/>
          </a:ln>
          <a:effectLst>
            <a:outerShdw blurRad="63360" dist="25455" dir="8100000" algn="bl" rotWithShape="0">
              <a:srgbClr val="1E2761">
                <a:alpha val="10196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6"/>
          <p:cNvSpPr/>
          <p:nvPr/>
        </p:nvSpPr>
        <p:spPr>
          <a:xfrm>
            <a:off x="3282840" y="2962800"/>
            <a:ext cx="51840" cy="12956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6"/>
          <p:cNvSpPr/>
          <p:nvPr/>
        </p:nvSpPr>
        <p:spPr>
          <a:xfrm>
            <a:off x="3447360" y="3099960"/>
            <a:ext cx="381240" cy="381240"/>
          </a:xfrm>
          <a:prstGeom prst="ellipse">
            <a:avLst/>
          </a:prstGeom>
          <a:solidFill>
            <a:srgbClr val="E9F2F4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6" name="Google Shape;216;p16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497040" y="3149640"/>
            <a:ext cx="281160" cy="28116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6"/>
          <p:cNvSpPr/>
          <p:nvPr/>
        </p:nvSpPr>
        <p:spPr>
          <a:xfrm>
            <a:off x="3940560" y="3180240"/>
            <a:ext cx="911520" cy="21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FR-6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6"/>
          <p:cNvSpPr/>
          <p:nvPr/>
        </p:nvSpPr>
        <p:spPr>
          <a:xfrm>
            <a:off x="3447360" y="3493080"/>
            <a:ext cx="2383560" cy="27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Gerichtsverwaltung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6"/>
          <p:cNvSpPr/>
          <p:nvPr/>
        </p:nvSpPr>
        <p:spPr>
          <a:xfrm>
            <a:off x="3447360" y="3767400"/>
            <a:ext cx="2383560" cy="435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4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anlegen, bearbeiten, löschen, suchen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6"/>
          <p:cNvSpPr/>
          <p:nvPr/>
        </p:nvSpPr>
        <p:spPr>
          <a:xfrm>
            <a:off x="6108120" y="2962800"/>
            <a:ext cx="2694600" cy="12956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1E7F0"/>
            </a:solidFill>
            <a:prstDash val="solid"/>
            <a:round/>
            <a:headEnd type="none" w="sm" len="sm"/>
            <a:tailEnd type="none" w="sm" len="sm"/>
          </a:ln>
          <a:effectLst>
            <a:outerShdw blurRad="63360" dist="25455" dir="8100000" algn="bl" rotWithShape="0">
              <a:srgbClr val="1E2761">
                <a:alpha val="10196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6"/>
          <p:cNvSpPr/>
          <p:nvPr/>
        </p:nvSpPr>
        <p:spPr>
          <a:xfrm>
            <a:off x="6108120" y="2962800"/>
            <a:ext cx="51840" cy="12956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6"/>
          <p:cNvSpPr/>
          <p:nvPr/>
        </p:nvSpPr>
        <p:spPr>
          <a:xfrm>
            <a:off x="6272640" y="3099960"/>
            <a:ext cx="381240" cy="381240"/>
          </a:xfrm>
          <a:prstGeom prst="ellipse">
            <a:avLst/>
          </a:prstGeom>
          <a:solidFill>
            <a:srgbClr val="E9F2F4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3" name="Google Shape;223;p16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322680" y="3149640"/>
            <a:ext cx="281160" cy="28116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6"/>
          <p:cNvSpPr/>
          <p:nvPr/>
        </p:nvSpPr>
        <p:spPr>
          <a:xfrm>
            <a:off x="6765840" y="3180240"/>
            <a:ext cx="911520" cy="21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FR-7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6"/>
          <p:cNvSpPr/>
          <p:nvPr/>
        </p:nvSpPr>
        <p:spPr>
          <a:xfrm>
            <a:off x="6272640" y="3493080"/>
            <a:ext cx="2383560" cy="27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Stammdaten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6"/>
          <p:cNvSpPr/>
          <p:nvPr/>
        </p:nvSpPr>
        <p:spPr>
          <a:xfrm>
            <a:off x="6272640" y="3767400"/>
            <a:ext cx="2383560" cy="435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4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Spendenarten, Anreden, Status, Vereine, Gerichte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6"/>
          <p:cNvSpPr/>
          <p:nvPr/>
        </p:nvSpPr>
        <p:spPr>
          <a:xfrm>
            <a:off x="8933760" y="2962800"/>
            <a:ext cx="2694600" cy="12956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1E7F0"/>
            </a:solidFill>
            <a:prstDash val="solid"/>
            <a:round/>
            <a:headEnd type="none" w="sm" len="sm"/>
            <a:tailEnd type="none" w="sm" len="sm"/>
          </a:ln>
          <a:effectLst>
            <a:outerShdw blurRad="63360" dist="25455" dir="8100000" algn="bl" rotWithShape="0">
              <a:srgbClr val="1E2761">
                <a:alpha val="10196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6"/>
          <p:cNvSpPr/>
          <p:nvPr/>
        </p:nvSpPr>
        <p:spPr>
          <a:xfrm>
            <a:off x="8933760" y="2962800"/>
            <a:ext cx="51840" cy="12956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6"/>
          <p:cNvSpPr/>
          <p:nvPr/>
        </p:nvSpPr>
        <p:spPr>
          <a:xfrm>
            <a:off x="9098280" y="3099960"/>
            <a:ext cx="381240" cy="381240"/>
          </a:xfrm>
          <a:prstGeom prst="ellipse">
            <a:avLst/>
          </a:prstGeom>
          <a:solidFill>
            <a:srgbClr val="E9F2F4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0" name="Google Shape;230;p16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148320" y="3149640"/>
            <a:ext cx="281160" cy="28116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6"/>
          <p:cNvSpPr/>
          <p:nvPr/>
        </p:nvSpPr>
        <p:spPr>
          <a:xfrm>
            <a:off x="9591480" y="3180240"/>
            <a:ext cx="911520" cy="21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FR-8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6"/>
          <p:cNvSpPr/>
          <p:nvPr/>
        </p:nvSpPr>
        <p:spPr>
          <a:xfrm>
            <a:off x="9098280" y="3493080"/>
            <a:ext cx="2383560" cy="27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Auswertungen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6"/>
          <p:cNvSpPr/>
          <p:nvPr/>
        </p:nvSpPr>
        <p:spPr>
          <a:xfrm>
            <a:off x="9098280" y="3767400"/>
            <a:ext cx="2383560" cy="435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4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Spenden-, Bußgeld-, Vereinsstatistiken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6"/>
          <p:cNvSpPr/>
          <p:nvPr/>
        </p:nvSpPr>
        <p:spPr>
          <a:xfrm>
            <a:off x="457200" y="4389120"/>
            <a:ext cx="2694600" cy="12956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1E7F0"/>
            </a:solidFill>
            <a:prstDash val="solid"/>
            <a:round/>
            <a:headEnd type="none" w="sm" len="sm"/>
            <a:tailEnd type="none" w="sm" len="sm"/>
          </a:ln>
          <a:effectLst>
            <a:outerShdw blurRad="63360" dist="25455" dir="8100000" algn="bl" rotWithShape="0">
              <a:srgbClr val="1E2761">
                <a:alpha val="10196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6"/>
          <p:cNvSpPr/>
          <p:nvPr/>
        </p:nvSpPr>
        <p:spPr>
          <a:xfrm>
            <a:off x="457200" y="4389120"/>
            <a:ext cx="51840" cy="12956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6"/>
          <p:cNvSpPr/>
          <p:nvPr/>
        </p:nvSpPr>
        <p:spPr>
          <a:xfrm>
            <a:off x="621720" y="4526280"/>
            <a:ext cx="381240" cy="381240"/>
          </a:xfrm>
          <a:prstGeom prst="ellipse">
            <a:avLst/>
          </a:prstGeom>
          <a:solidFill>
            <a:srgbClr val="E9F2F4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7" name="Google Shape;237;p16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71760" y="4576320"/>
            <a:ext cx="281160" cy="28116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6"/>
          <p:cNvSpPr/>
          <p:nvPr/>
        </p:nvSpPr>
        <p:spPr>
          <a:xfrm>
            <a:off x="1114920" y="4606920"/>
            <a:ext cx="911520" cy="21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FR-9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6"/>
          <p:cNvSpPr/>
          <p:nvPr/>
        </p:nvSpPr>
        <p:spPr>
          <a:xfrm>
            <a:off x="621720" y="4919400"/>
            <a:ext cx="2383560" cy="27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Spendenbescheinigungen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6"/>
          <p:cNvSpPr/>
          <p:nvPr/>
        </p:nvSpPr>
        <p:spPr>
          <a:xfrm>
            <a:off x="621720" y="5193720"/>
            <a:ext cx="2383560" cy="435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4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automatisiert, je Verein &amp; Spendenart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6"/>
          <p:cNvSpPr/>
          <p:nvPr/>
        </p:nvSpPr>
        <p:spPr>
          <a:xfrm>
            <a:off x="3282840" y="4389120"/>
            <a:ext cx="2694600" cy="12956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1E7F0"/>
            </a:solidFill>
            <a:prstDash val="solid"/>
            <a:round/>
            <a:headEnd type="none" w="sm" len="sm"/>
            <a:tailEnd type="none" w="sm" len="sm"/>
          </a:ln>
          <a:effectLst>
            <a:outerShdw blurRad="63360" dist="25455" dir="8100000" algn="bl" rotWithShape="0">
              <a:srgbClr val="1E2761">
                <a:alpha val="10196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6"/>
          <p:cNvSpPr/>
          <p:nvPr/>
        </p:nvSpPr>
        <p:spPr>
          <a:xfrm>
            <a:off x="3282840" y="4389120"/>
            <a:ext cx="51840" cy="12956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6"/>
          <p:cNvSpPr/>
          <p:nvPr/>
        </p:nvSpPr>
        <p:spPr>
          <a:xfrm>
            <a:off x="3447360" y="4526280"/>
            <a:ext cx="381240" cy="381240"/>
          </a:xfrm>
          <a:prstGeom prst="ellipse">
            <a:avLst/>
          </a:prstGeom>
          <a:solidFill>
            <a:srgbClr val="E9F2F4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4" name="Google Shape;244;p16" descr="preencoded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497040" y="4576320"/>
            <a:ext cx="281160" cy="28116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6"/>
          <p:cNvSpPr/>
          <p:nvPr/>
        </p:nvSpPr>
        <p:spPr>
          <a:xfrm>
            <a:off x="3940560" y="4606920"/>
            <a:ext cx="911520" cy="21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FR-10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6"/>
          <p:cNvSpPr/>
          <p:nvPr/>
        </p:nvSpPr>
        <p:spPr>
          <a:xfrm>
            <a:off x="3447360" y="4919400"/>
            <a:ext cx="2383560" cy="27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Serienbriefe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6"/>
          <p:cNvSpPr/>
          <p:nvPr/>
        </p:nvSpPr>
        <p:spPr>
          <a:xfrm>
            <a:off x="3447360" y="5193720"/>
            <a:ext cx="2383560" cy="435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4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Kontakt, Briefanrede, Vereinszugehörigkeit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6"/>
          <p:cNvSpPr/>
          <p:nvPr/>
        </p:nvSpPr>
        <p:spPr>
          <a:xfrm>
            <a:off x="6108120" y="4389120"/>
            <a:ext cx="2694600" cy="12956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1E7F0"/>
            </a:solidFill>
            <a:prstDash val="solid"/>
            <a:round/>
            <a:headEnd type="none" w="sm" len="sm"/>
            <a:tailEnd type="none" w="sm" len="sm"/>
          </a:ln>
          <a:effectLst>
            <a:outerShdw blurRad="63360" dist="25455" dir="8100000" algn="bl" rotWithShape="0">
              <a:srgbClr val="1E2761">
                <a:alpha val="10196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6"/>
          <p:cNvSpPr/>
          <p:nvPr/>
        </p:nvSpPr>
        <p:spPr>
          <a:xfrm>
            <a:off x="6108120" y="4389120"/>
            <a:ext cx="51840" cy="12956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6"/>
          <p:cNvSpPr/>
          <p:nvPr/>
        </p:nvSpPr>
        <p:spPr>
          <a:xfrm>
            <a:off x="6272640" y="4526280"/>
            <a:ext cx="381240" cy="381240"/>
          </a:xfrm>
          <a:prstGeom prst="ellipse">
            <a:avLst/>
          </a:prstGeom>
          <a:solidFill>
            <a:srgbClr val="E9F2F4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1" name="Google Shape;251;p16" descr="preencoded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322680" y="4576320"/>
            <a:ext cx="281160" cy="28116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6"/>
          <p:cNvSpPr/>
          <p:nvPr/>
        </p:nvSpPr>
        <p:spPr>
          <a:xfrm>
            <a:off x="6765840" y="4606920"/>
            <a:ext cx="911520" cy="21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FR-11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6"/>
          <p:cNvSpPr/>
          <p:nvPr/>
        </p:nvSpPr>
        <p:spPr>
          <a:xfrm>
            <a:off x="6272640" y="4919400"/>
            <a:ext cx="2383560" cy="27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Validierung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6"/>
          <p:cNvSpPr/>
          <p:nvPr/>
        </p:nvSpPr>
        <p:spPr>
          <a:xfrm>
            <a:off x="6272640" y="5193720"/>
            <a:ext cx="2383560" cy="435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4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Pflichtfelder, gültige Werte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6"/>
          <p:cNvSpPr/>
          <p:nvPr/>
        </p:nvSpPr>
        <p:spPr>
          <a:xfrm>
            <a:off x="8933760" y="4389120"/>
            <a:ext cx="2694600" cy="12956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1E7F0"/>
            </a:solidFill>
            <a:prstDash val="solid"/>
            <a:round/>
            <a:headEnd type="none" w="sm" len="sm"/>
            <a:tailEnd type="none" w="sm" len="sm"/>
          </a:ln>
          <a:effectLst>
            <a:outerShdw blurRad="63360" dist="25455" dir="8100000" algn="bl" rotWithShape="0">
              <a:srgbClr val="1E2761">
                <a:alpha val="10196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6"/>
          <p:cNvSpPr/>
          <p:nvPr/>
        </p:nvSpPr>
        <p:spPr>
          <a:xfrm>
            <a:off x="8933760" y="4389120"/>
            <a:ext cx="51840" cy="12956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6"/>
          <p:cNvSpPr/>
          <p:nvPr/>
        </p:nvSpPr>
        <p:spPr>
          <a:xfrm>
            <a:off x="9098280" y="4526280"/>
            <a:ext cx="381240" cy="381240"/>
          </a:xfrm>
          <a:prstGeom prst="ellipse">
            <a:avLst/>
          </a:prstGeom>
          <a:solidFill>
            <a:srgbClr val="E9F2F4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8" name="Google Shape;258;p16" descr="preencoded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148320" y="4576320"/>
            <a:ext cx="281160" cy="28116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6"/>
          <p:cNvSpPr/>
          <p:nvPr/>
        </p:nvSpPr>
        <p:spPr>
          <a:xfrm>
            <a:off x="9591480" y="4606920"/>
            <a:ext cx="911520" cy="21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FR-12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6"/>
          <p:cNvSpPr/>
          <p:nvPr/>
        </p:nvSpPr>
        <p:spPr>
          <a:xfrm>
            <a:off x="9098280" y="4919400"/>
            <a:ext cx="2383560" cy="27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Datenkonsistenz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6"/>
          <p:cNvSpPr/>
          <p:nvPr/>
        </p:nvSpPr>
        <p:spPr>
          <a:xfrm>
            <a:off x="9098280" y="5193720"/>
            <a:ext cx="2383560" cy="435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4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keine inkonsistenten Daten zulässig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6"/>
          <p:cNvSpPr/>
          <p:nvPr/>
        </p:nvSpPr>
        <p:spPr>
          <a:xfrm>
            <a:off x="457200" y="6528960"/>
            <a:ext cx="7312320" cy="25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FH_MA Modernisierung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6"/>
          <p:cNvSpPr/>
          <p:nvPr/>
        </p:nvSpPr>
        <p:spPr>
          <a:xfrm>
            <a:off x="11368800" y="6528960"/>
            <a:ext cx="362880" cy="25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7"/>
          <p:cNvSpPr/>
          <p:nvPr/>
        </p:nvSpPr>
        <p:spPr>
          <a:xfrm>
            <a:off x="457200" y="384120"/>
            <a:ext cx="308160" cy="65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0000" tIns="23750" rIns="90000" bIns="237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7"/>
          <p:cNvSpPr/>
          <p:nvPr/>
        </p:nvSpPr>
        <p:spPr>
          <a:xfrm>
            <a:off x="457200" y="521280"/>
            <a:ext cx="308160" cy="658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txBody>
          <a:bodyPr spcFirstLastPara="1" wrap="square" lIns="90000" tIns="23750" rIns="90000" bIns="237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7"/>
          <p:cNvSpPr/>
          <p:nvPr/>
        </p:nvSpPr>
        <p:spPr>
          <a:xfrm>
            <a:off x="457200" y="658440"/>
            <a:ext cx="308160" cy="658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0000" tIns="23750" rIns="90000" bIns="237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7"/>
          <p:cNvSpPr/>
          <p:nvPr/>
        </p:nvSpPr>
        <p:spPr>
          <a:xfrm>
            <a:off x="960120" y="429840"/>
            <a:ext cx="8226720" cy="27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ANFORDERUNGEN · NICHT-FUNKTIONAL</a:t>
            </a:r>
            <a:endParaRPr sz="12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7"/>
          <p:cNvSpPr/>
          <p:nvPr/>
        </p:nvSpPr>
        <p:spPr>
          <a:xfrm>
            <a:off x="457200" y="766440"/>
            <a:ext cx="10787040" cy="6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Nicht-funktionale Anforderungen</a:t>
            </a:r>
            <a:endParaRPr sz="3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4" name="Google Shape;274;p17"/>
          <p:cNvGrpSpPr/>
          <p:nvPr/>
        </p:nvGrpSpPr>
        <p:grpSpPr>
          <a:xfrm>
            <a:off x="457200" y="1515600"/>
            <a:ext cx="11244240" cy="743400"/>
            <a:chOff x="457200" y="1515600"/>
            <a:chExt cx="11244240" cy="743400"/>
          </a:xfrm>
        </p:grpSpPr>
        <p:sp>
          <p:nvSpPr>
            <p:cNvPr id="275" name="Google Shape;275;p17"/>
            <p:cNvSpPr/>
            <p:nvPr/>
          </p:nvSpPr>
          <p:spPr>
            <a:xfrm>
              <a:off x="457200" y="1515600"/>
              <a:ext cx="11244240" cy="743400"/>
            </a:xfrm>
            <a:prstGeom prst="rect">
              <a:avLst/>
            </a:prstGeom>
            <a:solidFill>
              <a:srgbClr val="FFFFFF"/>
            </a:solidFill>
            <a:ln w="12700" cap="flat" cmpd="sng">
              <a:solidFill>
                <a:srgbClr val="E1E7F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63360" dist="25455" dir="8100000" algn="bl" rotWithShape="0">
                <a:srgbClr val="1E2761">
                  <a:alpha val="7843"/>
                </a:srgbClr>
              </a:outerShdw>
            </a:effectLst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76" name="Google Shape;276;p17"/>
            <p:cNvGrpSpPr/>
            <p:nvPr/>
          </p:nvGrpSpPr>
          <p:grpSpPr>
            <a:xfrm>
              <a:off x="658440" y="1661760"/>
              <a:ext cx="509040" cy="451440"/>
              <a:chOff x="658440" y="1661760"/>
              <a:chExt cx="509040" cy="451440"/>
            </a:xfrm>
          </p:grpSpPr>
          <p:sp>
            <p:nvSpPr>
              <p:cNvPr id="277" name="Google Shape;277;p17"/>
              <p:cNvSpPr/>
              <p:nvPr/>
            </p:nvSpPr>
            <p:spPr>
              <a:xfrm>
                <a:off x="658440" y="1661760"/>
                <a:ext cx="509040" cy="451440"/>
              </a:xfrm>
              <a:prstGeom prst="ellipse">
                <a:avLst/>
              </a:prstGeom>
              <a:solidFill>
                <a:srgbClr val="B5533C"/>
              </a:solidFill>
              <a:ln>
                <a:noFill/>
              </a:ln>
            </p:spPr>
            <p:txBody>
              <a:bodyPr spcFirstLastPara="1" wrap="square" lIns="90000" tIns="45000" rIns="90000" bIns="450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278" name="Google Shape;278;p17" descr="preencoded.png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725040" y="1720800"/>
                <a:ext cx="376200" cy="33372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279" name="Google Shape;279;p17"/>
          <p:cNvSpPr/>
          <p:nvPr/>
        </p:nvSpPr>
        <p:spPr>
          <a:xfrm>
            <a:off x="1371600" y="1596600"/>
            <a:ext cx="911520" cy="20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7"/>
          <p:cNvSpPr/>
          <p:nvPr/>
        </p:nvSpPr>
        <p:spPr>
          <a:xfrm>
            <a:off x="1371600" y="1791720"/>
            <a:ext cx="3014640" cy="32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7"/>
          <p:cNvSpPr/>
          <p:nvPr/>
        </p:nvSpPr>
        <p:spPr>
          <a:xfrm>
            <a:off x="4572000" y="1515600"/>
            <a:ext cx="6946560" cy="7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3A4457"/>
                </a:solidFill>
                <a:latin typeface="Calibri"/>
                <a:ea typeface="Calibri"/>
                <a:cs typeface="Calibri"/>
                <a:sym typeface="Calibri"/>
              </a:rPr>
              <a:t>Alle personenbezogenen Daten werden gemäß DSGVO verarbeitet.</a:t>
            </a:r>
            <a:endParaRPr sz="11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7"/>
          <p:cNvSpPr/>
          <p:nvPr/>
        </p:nvSpPr>
        <p:spPr>
          <a:xfrm>
            <a:off x="457200" y="2326680"/>
            <a:ext cx="11244240" cy="7437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1E7F0"/>
            </a:solidFill>
            <a:prstDash val="solid"/>
            <a:round/>
            <a:headEnd type="none" w="sm" len="sm"/>
            <a:tailEnd type="none" w="sm" len="sm"/>
          </a:ln>
          <a:effectLst>
            <a:outerShdw blurRad="63360" dist="25455" dir="8100000" algn="bl" rotWithShape="0">
              <a:srgbClr val="1E2761">
                <a:alpha val="7843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7"/>
          <p:cNvSpPr/>
          <p:nvPr/>
        </p:nvSpPr>
        <p:spPr>
          <a:xfrm>
            <a:off x="658440" y="2472840"/>
            <a:ext cx="509040" cy="4514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4" name="Google Shape;284;p1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5040" y="2532240"/>
            <a:ext cx="376200" cy="33336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7"/>
          <p:cNvSpPr/>
          <p:nvPr/>
        </p:nvSpPr>
        <p:spPr>
          <a:xfrm>
            <a:off x="1371600" y="1718280"/>
            <a:ext cx="3014640" cy="32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Sicherheit / DSGVO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7"/>
          <p:cNvSpPr/>
          <p:nvPr/>
        </p:nvSpPr>
        <p:spPr>
          <a:xfrm>
            <a:off x="4572000" y="2326680"/>
            <a:ext cx="6946560" cy="74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3A4457"/>
                </a:solidFill>
                <a:latin typeface="Calibri"/>
                <a:ea typeface="Calibri"/>
                <a:cs typeface="Calibri"/>
                <a:sym typeface="Calibri"/>
              </a:rPr>
              <a:t>Das System muss stabil sein, um den Wartungsaufwand gering zu halten.</a:t>
            </a:r>
            <a:endParaRPr sz="11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7"/>
          <p:cNvSpPr/>
          <p:nvPr/>
        </p:nvSpPr>
        <p:spPr>
          <a:xfrm>
            <a:off x="457200" y="3138480"/>
            <a:ext cx="11244240" cy="7437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1E7F0"/>
            </a:solidFill>
            <a:prstDash val="solid"/>
            <a:round/>
            <a:headEnd type="none" w="sm" len="sm"/>
            <a:tailEnd type="none" w="sm" len="sm"/>
          </a:ln>
          <a:effectLst>
            <a:outerShdw blurRad="63360" dist="25455" dir="8100000" algn="bl" rotWithShape="0">
              <a:srgbClr val="1E2761">
                <a:alpha val="7843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7"/>
          <p:cNvSpPr/>
          <p:nvPr/>
        </p:nvSpPr>
        <p:spPr>
          <a:xfrm>
            <a:off x="658440" y="3284280"/>
            <a:ext cx="509040" cy="4514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9" name="Google Shape;289;p1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5040" y="3343320"/>
            <a:ext cx="376200" cy="33372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17"/>
          <p:cNvSpPr/>
          <p:nvPr/>
        </p:nvSpPr>
        <p:spPr>
          <a:xfrm>
            <a:off x="1371600" y="3341520"/>
            <a:ext cx="3014640" cy="32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Modularer Aufbau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7"/>
          <p:cNvSpPr/>
          <p:nvPr/>
        </p:nvSpPr>
        <p:spPr>
          <a:xfrm>
            <a:off x="4572000" y="3138480"/>
            <a:ext cx="6946560" cy="74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3A4457"/>
                </a:solidFill>
                <a:latin typeface="Calibri"/>
                <a:ea typeface="Calibri"/>
                <a:cs typeface="Calibri"/>
                <a:sym typeface="Calibri"/>
              </a:rPr>
              <a:t>Modulare Struktur für einfache Wartbarkeit.</a:t>
            </a:r>
            <a:endParaRPr sz="11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7"/>
          <p:cNvSpPr/>
          <p:nvPr/>
        </p:nvSpPr>
        <p:spPr>
          <a:xfrm>
            <a:off x="457200" y="3949560"/>
            <a:ext cx="11244240" cy="7437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1E7F0"/>
            </a:solidFill>
            <a:prstDash val="solid"/>
            <a:round/>
            <a:headEnd type="none" w="sm" len="sm"/>
            <a:tailEnd type="none" w="sm" len="sm"/>
          </a:ln>
          <a:effectLst>
            <a:outerShdw blurRad="63360" dist="25455" dir="8100000" algn="bl" rotWithShape="0">
              <a:srgbClr val="1E2761">
                <a:alpha val="7843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7"/>
          <p:cNvSpPr/>
          <p:nvPr/>
        </p:nvSpPr>
        <p:spPr>
          <a:xfrm>
            <a:off x="658440" y="4095720"/>
            <a:ext cx="509040" cy="451440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4" name="Google Shape;294;p17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5040" y="4154760"/>
            <a:ext cx="376200" cy="33336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17"/>
          <p:cNvSpPr/>
          <p:nvPr/>
        </p:nvSpPr>
        <p:spPr>
          <a:xfrm>
            <a:off x="1371600" y="4129920"/>
            <a:ext cx="3014640" cy="32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Backup &amp; Recovery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7"/>
          <p:cNvSpPr/>
          <p:nvPr/>
        </p:nvSpPr>
        <p:spPr>
          <a:xfrm>
            <a:off x="4572000" y="3949560"/>
            <a:ext cx="6946560" cy="74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3A4457"/>
                </a:solidFill>
                <a:latin typeface="Calibri"/>
                <a:ea typeface="Calibri"/>
                <a:cs typeface="Calibri"/>
                <a:sym typeface="Calibri"/>
              </a:rPr>
              <a:t>Vollumfängliche, automatisierte, verschlüsselte Sicherun</a:t>
            </a:r>
            <a:r>
              <a:rPr lang="en-US" sz="1150">
                <a:solidFill>
                  <a:srgbClr val="3A4457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r>
              <a:rPr lang="en-US" sz="1150" b="0" i="0" u="none" strike="noStrike" cap="none">
                <a:solidFill>
                  <a:srgbClr val="3A4457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1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7"/>
          <p:cNvSpPr/>
          <p:nvPr/>
        </p:nvSpPr>
        <p:spPr>
          <a:xfrm>
            <a:off x="457200" y="4760640"/>
            <a:ext cx="11244240" cy="7437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1E7F0"/>
            </a:solidFill>
            <a:prstDash val="solid"/>
            <a:round/>
            <a:headEnd type="none" w="sm" len="sm"/>
            <a:tailEnd type="none" w="sm" len="sm"/>
          </a:ln>
          <a:effectLst>
            <a:outerShdw blurRad="63360" dist="25455" dir="8100000" algn="bl" rotWithShape="0">
              <a:srgbClr val="1E2761">
                <a:alpha val="7843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7"/>
          <p:cNvSpPr/>
          <p:nvPr/>
        </p:nvSpPr>
        <p:spPr>
          <a:xfrm>
            <a:off x="658440" y="4906800"/>
            <a:ext cx="509040" cy="4514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9" name="Google Shape;299;p1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25040" y="4965840"/>
            <a:ext cx="376200" cy="33336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17"/>
          <p:cNvSpPr/>
          <p:nvPr/>
        </p:nvSpPr>
        <p:spPr>
          <a:xfrm>
            <a:off x="1371600" y="4940640"/>
            <a:ext cx="3014640" cy="32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Bedienbarkeit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7"/>
          <p:cNvSpPr/>
          <p:nvPr/>
        </p:nvSpPr>
        <p:spPr>
          <a:xfrm>
            <a:off x="4572000" y="4760640"/>
            <a:ext cx="6946560" cy="74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3A4457"/>
                </a:solidFill>
                <a:latin typeface="Calibri"/>
                <a:ea typeface="Calibri"/>
                <a:cs typeface="Calibri"/>
                <a:sym typeface="Calibri"/>
              </a:rPr>
              <a:t>Bedienbar für Personen ohne technischen Hintergrund.</a:t>
            </a:r>
            <a:endParaRPr sz="11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7"/>
          <p:cNvSpPr/>
          <p:nvPr/>
        </p:nvSpPr>
        <p:spPr>
          <a:xfrm>
            <a:off x="457200" y="6528960"/>
            <a:ext cx="7312320" cy="25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FH_MA Modernisierung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7"/>
          <p:cNvSpPr/>
          <p:nvPr/>
        </p:nvSpPr>
        <p:spPr>
          <a:xfrm>
            <a:off x="11368800" y="6528960"/>
            <a:ext cx="362880" cy="25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4" name="Google Shape;304;p17"/>
          <p:cNvGrpSpPr/>
          <p:nvPr/>
        </p:nvGrpSpPr>
        <p:grpSpPr>
          <a:xfrm>
            <a:off x="457200" y="5566680"/>
            <a:ext cx="11244240" cy="748800"/>
            <a:chOff x="457200" y="5566680"/>
            <a:chExt cx="11244240" cy="748800"/>
          </a:xfrm>
        </p:grpSpPr>
        <p:sp>
          <p:nvSpPr>
            <p:cNvPr id="305" name="Google Shape;305;p17"/>
            <p:cNvSpPr/>
            <p:nvPr/>
          </p:nvSpPr>
          <p:spPr>
            <a:xfrm>
              <a:off x="457200" y="5566680"/>
              <a:ext cx="11244240" cy="748800"/>
            </a:xfrm>
            <a:prstGeom prst="rect">
              <a:avLst/>
            </a:prstGeom>
            <a:solidFill>
              <a:srgbClr val="FFFFFF"/>
            </a:solidFill>
            <a:ln w="12700" cap="flat" cmpd="sng">
              <a:solidFill>
                <a:srgbClr val="E1E7F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63360" dist="25455" dir="8100000" algn="bl" rotWithShape="0">
                <a:srgbClr val="1E2761">
                  <a:alpha val="7843"/>
                </a:srgbClr>
              </a:outerShdw>
            </a:effectLst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06" name="Google Shape;306;p17"/>
            <p:cNvGrpSpPr/>
            <p:nvPr/>
          </p:nvGrpSpPr>
          <p:grpSpPr>
            <a:xfrm>
              <a:off x="631440" y="5721480"/>
              <a:ext cx="509040" cy="454680"/>
              <a:chOff x="631440" y="5721480"/>
              <a:chExt cx="509040" cy="454680"/>
            </a:xfrm>
          </p:grpSpPr>
          <p:sp>
            <p:nvSpPr>
              <p:cNvPr id="307" name="Google Shape;307;p17"/>
              <p:cNvSpPr/>
              <p:nvPr/>
            </p:nvSpPr>
            <p:spPr>
              <a:xfrm>
                <a:off x="631440" y="5721480"/>
                <a:ext cx="509040" cy="454680"/>
              </a:xfrm>
              <a:prstGeom prst="ellipse">
                <a:avLst/>
              </a:prstGeom>
              <a:solidFill>
                <a:srgbClr val="B5533C"/>
              </a:solidFill>
              <a:ln>
                <a:noFill/>
              </a:ln>
            </p:spPr>
            <p:txBody>
              <a:bodyPr spcFirstLastPara="1" wrap="square" lIns="90000" tIns="45000" rIns="90000" bIns="450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308" name="Google Shape;308;p17" descr="preencoded.png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698040" y="5780880"/>
                <a:ext cx="376200" cy="3362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309" name="Google Shape;309;p17"/>
          <p:cNvSpPr/>
          <p:nvPr/>
        </p:nvSpPr>
        <p:spPr>
          <a:xfrm>
            <a:off x="1371600" y="5783760"/>
            <a:ext cx="3014640" cy="32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Lauffähigkeit unter Windows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7"/>
          <p:cNvSpPr/>
          <p:nvPr/>
        </p:nvSpPr>
        <p:spPr>
          <a:xfrm>
            <a:off x="4572000" y="5572080"/>
            <a:ext cx="6946560" cy="7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3A4457"/>
                </a:solidFill>
                <a:latin typeface="Calibri"/>
                <a:ea typeface="Calibri"/>
                <a:cs typeface="Calibri"/>
                <a:sym typeface="Calibri"/>
              </a:rPr>
              <a:t>Die Anwendung muss mindestens auf Windows lauffähig sein.</a:t>
            </a:r>
            <a:endParaRPr sz="11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7"/>
          <p:cNvSpPr/>
          <p:nvPr/>
        </p:nvSpPr>
        <p:spPr>
          <a:xfrm>
            <a:off x="631800" y="5726160"/>
            <a:ext cx="508680" cy="451080"/>
          </a:xfrm>
          <a:prstGeom prst="ellipse">
            <a:avLst/>
          </a:prstGeom>
          <a:solidFill>
            <a:srgbClr val="729FCF"/>
          </a:solidFill>
          <a:ln w="9525" cap="flat" cmpd="sng">
            <a:solidFill>
              <a:srgbClr val="3465A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2" name="Google Shape;312;p1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87600" y="5776920"/>
            <a:ext cx="421560" cy="33516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7"/>
          <p:cNvSpPr/>
          <p:nvPr/>
        </p:nvSpPr>
        <p:spPr>
          <a:xfrm>
            <a:off x="1299600" y="2561400"/>
            <a:ext cx="1611000" cy="30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Zuverlässigkeit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8"/>
          <p:cNvSpPr/>
          <p:nvPr/>
        </p:nvSpPr>
        <p:spPr>
          <a:xfrm>
            <a:off x="457200" y="384120"/>
            <a:ext cx="308160" cy="65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0000" tIns="23750" rIns="90000" bIns="237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8"/>
          <p:cNvSpPr/>
          <p:nvPr/>
        </p:nvSpPr>
        <p:spPr>
          <a:xfrm>
            <a:off x="457200" y="521280"/>
            <a:ext cx="308160" cy="658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txBody>
          <a:bodyPr spcFirstLastPara="1" wrap="square" lIns="90000" tIns="23750" rIns="90000" bIns="237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8"/>
          <p:cNvSpPr/>
          <p:nvPr/>
        </p:nvSpPr>
        <p:spPr>
          <a:xfrm>
            <a:off x="457200" y="658440"/>
            <a:ext cx="308160" cy="658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0000" tIns="23750" rIns="90000" bIns="237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8"/>
          <p:cNvSpPr/>
          <p:nvPr/>
        </p:nvSpPr>
        <p:spPr>
          <a:xfrm>
            <a:off x="960120" y="429840"/>
            <a:ext cx="8226720" cy="27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ANFORDERUNGEN · QUALITÄTSMERKMALE</a:t>
            </a:r>
            <a:endParaRPr sz="12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8"/>
          <p:cNvSpPr/>
          <p:nvPr/>
        </p:nvSpPr>
        <p:spPr>
          <a:xfrm>
            <a:off x="457200" y="766440"/>
            <a:ext cx="10787040" cy="6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Qualitätsmerkmale nach Stakeholder (ISO/IEC 25010)</a:t>
            </a:r>
            <a:endParaRPr sz="3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8"/>
          <p:cNvSpPr/>
          <p:nvPr/>
        </p:nvSpPr>
        <p:spPr>
          <a:xfrm>
            <a:off x="457200" y="1554480"/>
            <a:ext cx="5163480" cy="32432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1E7F0"/>
            </a:solidFill>
            <a:prstDash val="solid"/>
            <a:round/>
            <a:headEnd type="none" w="sm" len="sm"/>
            <a:tailEnd type="none" w="sm" len="sm"/>
          </a:ln>
          <a:effectLst>
            <a:outerShdw blurRad="101520" dist="37674" dir="81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8"/>
          <p:cNvSpPr/>
          <p:nvPr/>
        </p:nvSpPr>
        <p:spPr>
          <a:xfrm>
            <a:off x="713160" y="1810440"/>
            <a:ext cx="500040" cy="5000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6" name="Google Shape;326;p1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8680" y="1875960"/>
            <a:ext cx="369360" cy="36936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18"/>
          <p:cNvSpPr/>
          <p:nvPr/>
        </p:nvSpPr>
        <p:spPr>
          <a:xfrm>
            <a:off x="1353240" y="1828800"/>
            <a:ext cx="4066200" cy="45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Sicht Benutzer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8"/>
          <p:cNvSpPr/>
          <p:nvPr/>
        </p:nvSpPr>
        <p:spPr>
          <a:xfrm>
            <a:off x="731520" y="2514600"/>
            <a:ext cx="61200" cy="45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8"/>
          <p:cNvSpPr/>
          <p:nvPr/>
        </p:nvSpPr>
        <p:spPr>
          <a:xfrm>
            <a:off x="896040" y="2468880"/>
            <a:ext cx="4477680" cy="25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Funktionale Eignung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8"/>
          <p:cNvSpPr/>
          <p:nvPr/>
        </p:nvSpPr>
        <p:spPr>
          <a:xfrm>
            <a:off x="896040" y="2715840"/>
            <a:ext cx="4477680" cy="36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9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Spenden korrekt &amp; zuverlässig speichern, Reports korrekt erzeugen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8"/>
          <p:cNvSpPr/>
          <p:nvPr/>
        </p:nvSpPr>
        <p:spPr>
          <a:xfrm>
            <a:off x="731520" y="3081600"/>
            <a:ext cx="61200" cy="45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8"/>
          <p:cNvSpPr/>
          <p:nvPr/>
        </p:nvSpPr>
        <p:spPr>
          <a:xfrm>
            <a:off x="896040" y="3035880"/>
            <a:ext cx="4477680" cy="25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Benutzerfreundlichkeit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8"/>
          <p:cNvSpPr/>
          <p:nvPr/>
        </p:nvSpPr>
        <p:spPr>
          <a:xfrm>
            <a:off x="896040" y="3282840"/>
            <a:ext cx="4477680" cy="36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9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Intuitive Bedienung auch ohne technischen Hintergrund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8"/>
          <p:cNvSpPr/>
          <p:nvPr/>
        </p:nvSpPr>
        <p:spPr>
          <a:xfrm>
            <a:off x="731520" y="3648600"/>
            <a:ext cx="61200" cy="45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8"/>
          <p:cNvSpPr/>
          <p:nvPr/>
        </p:nvSpPr>
        <p:spPr>
          <a:xfrm>
            <a:off x="896040" y="3602880"/>
            <a:ext cx="4477680" cy="25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Sicherheit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8"/>
          <p:cNvSpPr/>
          <p:nvPr/>
        </p:nvSpPr>
        <p:spPr>
          <a:xfrm>
            <a:off x="896040" y="3849480"/>
            <a:ext cx="4477680" cy="36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9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Verarbeitung personenbezogener Daten gemäß DSGVO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8"/>
          <p:cNvSpPr/>
          <p:nvPr/>
        </p:nvSpPr>
        <p:spPr>
          <a:xfrm>
            <a:off x="731520" y="4215240"/>
            <a:ext cx="61200" cy="45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8"/>
          <p:cNvSpPr/>
          <p:nvPr/>
        </p:nvSpPr>
        <p:spPr>
          <a:xfrm>
            <a:off x="896040" y="4169520"/>
            <a:ext cx="4477680" cy="25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Wartbarkeit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8"/>
          <p:cNvSpPr/>
          <p:nvPr/>
        </p:nvSpPr>
        <p:spPr>
          <a:xfrm>
            <a:off x="896040" y="4416480"/>
            <a:ext cx="4477680" cy="36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9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sekundäre Priorität für Endbenutzer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8"/>
          <p:cNvSpPr/>
          <p:nvPr/>
        </p:nvSpPr>
        <p:spPr>
          <a:xfrm>
            <a:off x="6080760" y="1554480"/>
            <a:ext cx="5163480" cy="32432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1E7F0"/>
            </a:solidFill>
            <a:prstDash val="solid"/>
            <a:round/>
            <a:headEnd type="none" w="sm" len="sm"/>
            <a:tailEnd type="none" w="sm" len="sm"/>
          </a:ln>
          <a:effectLst>
            <a:outerShdw blurRad="101520" dist="37674" dir="8100000" algn="bl" rotWithShape="0">
              <a:srgbClr val="1E2761">
                <a:alpha val="18039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8"/>
          <p:cNvSpPr/>
          <p:nvPr/>
        </p:nvSpPr>
        <p:spPr>
          <a:xfrm>
            <a:off x="6336720" y="1810440"/>
            <a:ext cx="500040" cy="500040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2" name="Google Shape;342;p1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02240" y="1875960"/>
            <a:ext cx="369360" cy="36936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18"/>
          <p:cNvSpPr/>
          <p:nvPr/>
        </p:nvSpPr>
        <p:spPr>
          <a:xfrm>
            <a:off x="6976800" y="1828800"/>
            <a:ext cx="4066200" cy="45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Sicht Administrator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8"/>
          <p:cNvSpPr/>
          <p:nvPr/>
        </p:nvSpPr>
        <p:spPr>
          <a:xfrm>
            <a:off x="6355080" y="2514600"/>
            <a:ext cx="61200" cy="4543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8"/>
          <p:cNvSpPr/>
          <p:nvPr/>
        </p:nvSpPr>
        <p:spPr>
          <a:xfrm>
            <a:off x="6519600" y="2468880"/>
            <a:ext cx="4477680" cy="25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Zuverlässigkeit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8"/>
          <p:cNvSpPr/>
          <p:nvPr/>
        </p:nvSpPr>
        <p:spPr>
          <a:xfrm>
            <a:off x="6519600" y="2715840"/>
            <a:ext cx="4477680" cy="36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9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Hohe Verfügbarkeit und Fehlertoleranz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8"/>
          <p:cNvSpPr/>
          <p:nvPr/>
        </p:nvSpPr>
        <p:spPr>
          <a:xfrm>
            <a:off x="6355080" y="3081600"/>
            <a:ext cx="61200" cy="4543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8"/>
          <p:cNvSpPr/>
          <p:nvPr/>
        </p:nvSpPr>
        <p:spPr>
          <a:xfrm>
            <a:off x="6519600" y="3035880"/>
            <a:ext cx="4477680" cy="25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Sicherheit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8"/>
          <p:cNvSpPr/>
          <p:nvPr/>
        </p:nvSpPr>
        <p:spPr>
          <a:xfrm>
            <a:off x="6519600" y="3282840"/>
            <a:ext cx="4477680" cy="36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9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Sicherstellung der DSGVO-Einhaltung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8"/>
          <p:cNvSpPr/>
          <p:nvPr/>
        </p:nvSpPr>
        <p:spPr>
          <a:xfrm>
            <a:off x="6355080" y="3648600"/>
            <a:ext cx="61200" cy="4543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8"/>
          <p:cNvSpPr/>
          <p:nvPr/>
        </p:nvSpPr>
        <p:spPr>
          <a:xfrm>
            <a:off x="6519600" y="3602880"/>
            <a:ext cx="4477680" cy="25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Wartbarkeit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8"/>
          <p:cNvSpPr/>
          <p:nvPr/>
        </p:nvSpPr>
        <p:spPr>
          <a:xfrm>
            <a:off x="6519600" y="3849480"/>
            <a:ext cx="4477680" cy="36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9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Einfache Wartung, minimaler Administrationsaufwand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8"/>
          <p:cNvSpPr/>
          <p:nvPr/>
        </p:nvSpPr>
        <p:spPr>
          <a:xfrm>
            <a:off x="457200" y="4983480"/>
            <a:ext cx="7312320" cy="27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Vier tragende Säulen der Architektur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8"/>
          <p:cNvSpPr/>
          <p:nvPr/>
        </p:nvSpPr>
        <p:spPr>
          <a:xfrm>
            <a:off x="457200" y="5349240"/>
            <a:ext cx="2603160" cy="95724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101520" dist="37674" dir="8100000" algn="bl" rotWithShape="0">
              <a:srgbClr val="1E2761">
                <a:alpha val="12157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8"/>
          <p:cNvSpPr/>
          <p:nvPr/>
        </p:nvSpPr>
        <p:spPr>
          <a:xfrm>
            <a:off x="621720" y="5568840"/>
            <a:ext cx="500040" cy="500040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6" name="Google Shape;356;p1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7240" y="5634000"/>
            <a:ext cx="369360" cy="36936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18"/>
          <p:cNvSpPr/>
          <p:nvPr/>
        </p:nvSpPr>
        <p:spPr>
          <a:xfrm>
            <a:off x="1234440" y="5349240"/>
            <a:ext cx="1688760" cy="95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Funktionale Eignung</a:t>
            </a:r>
            <a:endParaRPr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8"/>
          <p:cNvSpPr/>
          <p:nvPr/>
        </p:nvSpPr>
        <p:spPr>
          <a:xfrm>
            <a:off x="8812450" y="5354228"/>
            <a:ext cx="2603100" cy="95730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101520" dist="37674" dir="8100000" algn="bl" rotWithShape="0">
              <a:srgbClr val="1E2761">
                <a:alpha val="12157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8"/>
          <p:cNvSpPr/>
          <p:nvPr/>
        </p:nvSpPr>
        <p:spPr>
          <a:xfrm>
            <a:off x="8990795" y="5593538"/>
            <a:ext cx="500100" cy="500100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8"/>
          <p:cNvSpPr/>
          <p:nvPr/>
        </p:nvSpPr>
        <p:spPr>
          <a:xfrm>
            <a:off x="9589690" y="5368575"/>
            <a:ext cx="1688700" cy="9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Einfachheit</a:t>
            </a:r>
            <a:endParaRPr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8"/>
          <p:cNvSpPr/>
          <p:nvPr/>
        </p:nvSpPr>
        <p:spPr>
          <a:xfrm>
            <a:off x="3246290" y="5354212"/>
            <a:ext cx="2603100" cy="95730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101520" dist="37674" dir="8100000" algn="bl" rotWithShape="0">
              <a:srgbClr val="1E2761">
                <a:alpha val="12157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8"/>
          <p:cNvSpPr/>
          <p:nvPr/>
        </p:nvSpPr>
        <p:spPr>
          <a:xfrm>
            <a:off x="3410810" y="5573812"/>
            <a:ext cx="500100" cy="500100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3" name="Google Shape;363;p18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76330" y="5638972"/>
            <a:ext cx="369360" cy="36936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18"/>
          <p:cNvSpPr/>
          <p:nvPr/>
        </p:nvSpPr>
        <p:spPr>
          <a:xfrm>
            <a:off x="4023530" y="5354212"/>
            <a:ext cx="1688700" cy="9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Wartbarkeit</a:t>
            </a:r>
            <a:endParaRPr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8"/>
          <p:cNvSpPr/>
          <p:nvPr/>
        </p:nvSpPr>
        <p:spPr>
          <a:xfrm>
            <a:off x="6032532" y="5354212"/>
            <a:ext cx="2603100" cy="95730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101520" dist="37674" dir="8100000" algn="bl" rotWithShape="0">
              <a:srgbClr val="1E2761">
                <a:alpha val="12157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8"/>
          <p:cNvSpPr/>
          <p:nvPr/>
        </p:nvSpPr>
        <p:spPr>
          <a:xfrm>
            <a:off x="6197052" y="5573812"/>
            <a:ext cx="500100" cy="500100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7" name="Google Shape;367;p18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62572" y="5638972"/>
            <a:ext cx="369360" cy="36936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18"/>
          <p:cNvSpPr/>
          <p:nvPr/>
        </p:nvSpPr>
        <p:spPr>
          <a:xfrm>
            <a:off x="6809772" y="5354212"/>
            <a:ext cx="1688700" cy="9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Sicherheit (DSGVO)</a:t>
            </a:r>
            <a:endParaRPr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8"/>
          <p:cNvSpPr/>
          <p:nvPr/>
        </p:nvSpPr>
        <p:spPr>
          <a:xfrm>
            <a:off x="457200" y="6528960"/>
            <a:ext cx="7312320" cy="25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FH_MA Modernisierung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8"/>
          <p:cNvSpPr/>
          <p:nvPr/>
        </p:nvSpPr>
        <p:spPr>
          <a:xfrm>
            <a:off x="11368800" y="6528960"/>
            <a:ext cx="362880" cy="25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1" name="Google Shape;371;p18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041770" y="5650455"/>
            <a:ext cx="398160" cy="398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19"/>
          <p:cNvSpPr/>
          <p:nvPr/>
        </p:nvSpPr>
        <p:spPr>
          <a:xfrm>
            <a:off x="457200" y="381000"/>
            <a:ext cx="304800" cy="666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9"/>
          <p:cNvSpPr/>
          <p:nvPr/>
        </p:nvSpPr>
        <p:spPr>
          <a:xfrm>
            <a:off x="457200" y="514350"/>
            <a:ext cx="304800" cy="666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19"/>
          <p:cNvSpPr/>
          <p:nvPr/>
        </p:nvSpPr>
        <p:spPr>
          <a:xfrm>
            <a:off x="457200" y="647700"/>
            <a:ext cx="304800" cy="666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19"/>
          <p:cNvSpPr txBox="1"/>
          <p:nvPr/>
        </p:nvSpPr>
        <p:spPr>
          <a:xfrm>
            <a:off x="952500" y="428625"/>
            <a:ext cx="8220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ADR-001 · ARCHITEKTURENTSCHEIDUNG</a:t>
            </a:r>
            <a:endParaRPr sz="1250" b="1">
              <a:solidFill>
                <a:srgbClr val="D4A01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9"/>
          <p:cNvSpPr txBox="1"/>
          <p:nvPr/>
        </p:nvSpPr>
        <p:spPr>
          <a:xfrm>
            <a:off x="457200" y="762000"/>
            <a:ext cx="107823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Architekturstil: 3-Tier Monolith statt Fat-Client</a:t>
            </a:r>
            <a:endParaRPr sz="3000" b="1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386" name="Google Shape;386;p19"/>
          <p:cNvGrpSpPr/>
          <p:nvPr/>
        </p:nvGrpSpPr>
        <p:grpSpPr>
          <a:xfrm>
            <a:off x="1333500" y="1619250"/>
            <a:ext cx="2381400" cy="914400"/>
            <a:chOff x="1333500" y="1619250"/>
            <a:chExt cx="2381400" cy="914400"/>
          </a:xfrm>
        </p:grpSpPr>
        <p:pic>
          <p:nvPicPr>
            <p:cNvPr id="387" name="Google Shape;387;p1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33500" y="1619250"/>
              <a:ext cx="2381400" cy="91440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sp>
          <p:nvSpPr>
            <p:cNvPr id="388" name="Google Shape;388;p19"/>
            <p:cNvSpPr/>
            <p:nvPr/>
          </p:nvSpPr>
          <p:spPr>
            <a:xfrm>
              <a:off x="1581150" y="1847850"/>
              <a:ext cx="457200" cy="457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19"/>
            <p:cNvSpPr txBox="1"/>
            <p:nvPr/>
          </p:nvSpPr>
          <p:spPr>
            <a:xfrm>
              <a:off x="2190750" y="1619250"/>
              <a:ext cx="1333500" cy="91440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Client (Browser)</a:t>
              </a:r>
              <a:endParaRPr sz="15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0" name="Google Shape;390;p19"/>
          <p:cNvGrpSpPr/>
          <p:nvPr/>
        </p:nvGrpSpPr>
        <p:grpSpPr>
          <a:xfrm>
            <a:off x="3810000" y="1762125"/>
            <a:ext cx="1047900" cy="362100"/>
            <a:chOff x="3810000" y="1762125"/>
            <a:chExt cx="1047900" cy="362100"/>
          </a:xfrm>
        </p:grpSpPr>
        <p:pic>
          <p:nvPicPr>
            <p:cNvPr id="391" name="Google Shape;391;p19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810000" y="2062163"/>
              <a:ext cx="1047900" cy="28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2" name="Google Shape;392;p19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781550" y="2028825"/>
              <a:ext cx="76200" cy="95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3" name="Google Shape;393;p19"/>
            <p:cNvSpPr txBox="1"/>
            <p:nvPr/>
          </p:nvSpPr>
          <p:spPr>
            <a:xfrm>
              <a:off x="3810000" y="1762125"/>
              <a:ext cx="10479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1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HTTPS</a:t>
              </a:r>
              <a:endParaRPr sz="1050" b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1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+ WebSocket</a:t>
              </a:r>
              <a:endParaRPr sz="1050" b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4" name="Google Shape;394;p19"/>
          <p:cNvGrpSpPr/>
          <p:nvPr/>
        </p:nvGrpSpPr>
        <p:grpSpPr>
          <a:xfrm>
            <a:off x="4905375" y="1619250"/>
            <a:ext cx="2381400" cy="914400"/>
            <a:chOff x="4905375" y="1619250"/>
            <a:chExt cx="2381400" cy="914400"/>
          </a:xfrm>
        </p:grpSpPr>
        <p:pic>
          <p:nvPicPr>
            <p:cNvPr id="395" name="Google Shape;395;p19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905375" y="1619250"/>
              <a:ext cx="2381400" cy="914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6" name="Google Shape;396;p19"/>
            <p:cNvSpPr/>
            <p:nvPr/>
          </p:nvSpPr>
          <p:spPr>
            <a:xfrm>
              <a:off x="5153025" y="1847850"/>
              <a:ext cx="457200" cy="457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19"/>
            <p:cNvSpPr txBox="1"/>
            <p:nvPr/>
          </p:nvSpPr>
          <p:spPr>
            <a:xfrm>
              <a:off x="5762625" y="1619250"/>
              <a:ext cx="1333500" cy="91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Frontend + Backend</a:t>
              </a:r>
              <a:endParaRPr sz="15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8" name="Google Shape;398;p19"/>
          <p:cNvGrpSpPr/>
          <p:nvPr/>
        </p:nvGrpSpPr>
        <p:grpSpPr>
          <a:xfrm>
            <a:off x="7381875" y="1762125"/>
            <a:ext cx="1047900" cy="362100"/>
            <a:chOff x="7381875" y="1762125"/>
            <a:chExt cx="1047900" cy="362100"/>
          </a:xfrm>
        </p:grpSpPr>
        <p:pic>
          <p:nvPicPr>
            <p:cNvPr id="399" name="Google Shape;399;p19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381875" y="2062163"/>
              <a:ext cx="1047900" cy="28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0" name="Google Shape;400;p19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8353425" y="2028825"/>
              <a:ext cx="76200" cy="95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1" name="Google Shape;401;p19"/>
            <p:cNvSpPr txBox="1"/>
            <p:nvPr/>
          </p:nvSpPr>
          <p:spPr>
            <a:xfrm>
              <a:off x="7381875" y="1762125"/>
              <a:ext cx="10479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1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JDBC</a:t>
              </a:r>
              <a:endParaRPr sz="1050" b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2" name="Google Shape;402;p19"/>
          <p:cNvGrpSpPr/>
          <p:nvPr/>
        </p:nvGrpSpPr>
        <p:grpSpPr>
          <a:xfrm>
            <a:off x="8477250" y="1619250"/>
            <a:ext cx="2381400" cy="914400"/>
            <a:chOff x="8477250" y="1619250"/>
            <a:chExt cx="2381400" cy="914400"/>
          </a:xfrm>
        </p:grpSpPr>
        <p:pic>
          <p:nvPicPr>
            <p:cNvPr id="403" name="Google Shape;403;p1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477250" y="1619250"/>
              <a:ext cx="2381400" cy="914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4" name="Google Shape;404;p19"/>
            <p:cNvSpPr/>
            <p:nvPr/>
          </p:nvSpPr>
          <p:spPr>
            <a:xfrm>
              <a:off x="8724900" y="1847850"/>
              <a:ext cx="457200" cy="457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19"/>
            <p:cNvSpPr txBox="1"/>
            <p:nvPr/>
          </p:nvSpPr>
          <p:spPr>
            <a:xfrm>
              <a:off x="9334500" y="1619250"/>
              <a:ext cx="1333500" cy="91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Datenbank</a:t>
              </a:r>
              <a:endParaRPr sz="15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6" name="Google Shape;406;p19"/>
          <p:cNvSpPr txBox="1"/>
          <p:nvPr/>
        </p:nvSpPr>
        <p:spPr>
          <a:xfrm>
            <a:off x="1333500" y="2647950"/>
            <a:ext cx="9525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i="1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Präsentation → Anwendungslogik → Daten</a:t>
            </a:r>
            <a:endParaRPr sz="1300" i="1">
              <a:solidFill>
                <a:srgbClr val="6B76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7" name="Google Shape;407;p19"/>
          <p:cNvGrpSpPr/>
          <p:nvPr/>
        </p:nvGrpSpPr>
        <p:grpSpPr>
          <a:xfrm>
            <a:off x="1333500" y="3095625"/>
            <a:ext cx="9525000" cy="438300"/>
            <a:chOff x="1333500" y="3095625"/>
            <a:chExt cx="9525000" cy="438300"/>
          </a:xfrm>
        </p:grpSpPr>
        <p:sp>
          <p:nvSpPr>
            <p:cNvPr id="408" name="Google Shape;408;p19"/>
            <p:cNvSpPr/>
            <p:nvPr/>
          </p:nvSpPr>
          <p:spPr>
            <a:xfrm>
              <a:off x="1333500" y="3095625"/>
              <a:ext cx="9525000" cy="438300"/>
            </a:xfrm>
            <a:prstGeom prst="roundRect">
              <a:avLst>
                <a:gd name="adj" fmla="val 13043"/>
              </a:avLst>
            </a:prstGeom>
            <a:solidFill>
              <a:srgbClr val="1E276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19"/>
            <p:cNvSpPr/>
            <p:nvPr/>
          </p:nvSpPr>
          <p:spPr>
            <a:xfrm>
              <a:off x="7810500" y="3095625"/>
              <a:ext cx="3048000" cy="438300"/>
            </a:xfrm>
            <a:prstGeom prst="roundRect">
              <a:avLst>
                <a:gd name="adj" fmla="val 13043"/>
              </a:avLst>
            </a:prstGeom>
            <a:solidFill>
              <a:srgbClr val="1C729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19"/>
            <p:cNvSpPr/>
            <p:nvPr/>
          </p:nvSpPr>
          <p:spPr>
            <a:xfrm>
              <a:off x="7762875" y="3095625"/>
              <a:ext cx="95400" cy="438300"/>
            </a:xfrm>
            <a:prstGeom prst="rect">
              <a:avLst/>
            </a:prstGeom>
            <a:solidFill>
              <a:srgbClr val="1C729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19"/>
            <p:cNvSpPr txBox="1"/>
            <p:nvPr/>
          </p:nvSpPr>
          <p:spPr>
            <a:xfrm>
              <a:off x="1524000" y="3095625"/>
              <a:ext cx="2667000" cy="43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Aspekt</a:t>
              </a:r>
              <a:endParaRPr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412;p19"/>
            <p:cNvSpPr txBox="1"/>
            <p:nvPr/>
          </p:nvSpPr>
          <p:spPr>
            <a:xfrm>
              <a:off x="4381500" y="3095625"/>
              <a:ext cx="3238500" cy="43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Fat Client (2-Tier)</a:t>
              </a:r>
              <a:endParaRPr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" name="Google Shape;413;p19"/>
            <p:cNvSpPr txBox="1"/>
            <p:nvPr/>
          </p:nvSpPr>
          <p:spPr>
            <a:xfrm>
              <a:off x="8001000" y="3095625"/>
              <a:ext cx="2667000" cy="43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3-Tier</a:t>
              </a:r>
              <a:endParaRPr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4" name="Google Shape;414;p19"/>
          <p:cNvGrpSpPr/>
          <p:nvPr/>
        </p:nvGrpSpPr>
        <p:grpSpPr>
          <a:xfrm>
            <a:off x="1333500" y="3581400"/>
            <a:ext cx="9525000" cy="609600"/>
            <a:chOff x="1333500" y="3581400"/>
            <a:chExt cx="9525000" cy="609600"/>
          </a:xfrm>
        </p:grpSpPr>
        <p:sp>
          <p:nvSpPr>
            <p:cNvPr id="415" name="Google Shape;415;p19"/>
            <p:cNvSpPr/>
            <p:nvPr/>
          </p:nvSpPr>
          <p:spPr>
            <a:xfrm>
              <a:off x="1333500" y="3581400"/>
              <a:ext cx="9525000" cy="609600"/>
            </a:xfrm>
            <a:prstGeom prst="roundRect">
              <a:avLst>
                <a:gd name="adj" fmla="val 9375"/>
              </a:avLst>
            </a:prstGeom>
            <a:solidFill>
              <a:srgbClr val="FFFFFF"/>
            </a:solidFill>
            <a:ln w="9525" cap="flat" cmpd="sng">
              <a:solidFill>
                <a:srgbClr val="E1E7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19"/>
            <p:cNvSpPr txBox="1"/>
            <p:nvPr/>
          </p:nvSpPr>
          <p:spPr>
            <a:xfrm>
              <a:off x="1524000" y="3581400"/>
              <a:ext cx="26670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Client-Deployment</a:t>
              </a:r>
              <a:endParaRPr sz="1200" b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" name="Google Shape;417;p19"/>
            <p:cNvSpPr txBox="1"/>
            <p:nvPr/>
          </p:nvSpPr>
          <p:spPr>
            <a:xfrm>
              <a:off x="4381500" y="3581400"/>
              <a:ext cx="32385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 b="1">
                  <a:solidFill>
                    <a:srgbClr val="E06666"/>
                  </a:solidFill>
                  <a:latin typeface="Calibri"/>
                  <a:ea typeface="Calibri"/>
                  <a:cs typeface="Calibri"/>
                  <a:sym typeface="Calibri"/>
                </a:rPr>
                <a:t>❌</a:t>
              </a:r>
              <a:r>
                <a:rPr lang="en-US" sz="1150">
                  <a:solidFill>
                    <a:srgbClr val="3A4457"/>
                  </a:solidFill>
                  <a:latin typeface="Calibri"/>
                  <a:ea typeface="Calibri"/>
                  <a:cs typeface="Calibri"/>
                  <a:sym typeface="Calibri"/>
                </a:rPr>
                <a:t> Installation pro PC</a:t>
              </a:r>
              <a:endParaRPr sz="1150">
                <a:solidFill>
                  <a:srgbClr val="3A445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" name="Google Shape;418;p19"/>
            <p:cNvSpPr txBox="1"/>
            <p:nvPr/>
          </p:nvSpPr>
          <p:spPr>
            <a:xfrm>
              <a:off x="8001000" y="3581400"/>
              <a:ext cx="26670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 b="1">
                  <a:solidFill>
                    <a:srgbClr val="6AA84F"/>
                  </a:solidFill>
                  <a:latin typeface="Calibri"/>
                  <a:ea typeface="Calibri"/>
                  <a:cs typeface="Calibri"/>
                  <a:sym typeface="Calibri"/>
                </a:rPr>
                <a:t>✓</a:t>
              </a:r>
              <a:r>
                <a:rPr lang="en-US" sz="1150">
                  <a:solidFill>
                    <a:srgbClr val="3A4457"/>
                  </a:solidFill>
                  <a:latin typeface="Calibri"/>
                  <a:ea typeface="Calibri"/>
                  <a:cs typeface="Calibri"/>
                  <a:sym typeface="Calibri"/>
                </a:rPr>
                <a:t> einfach über Browser erreichbar</a:t>
              </a:r>
              <a:endParaRPr sz="1150">
                <a:solidFill>
                  <a:srgbClr val="3A445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9" name="Google Shape;419;p19"/>
          <p:cNvGrpSpPr/>
          <p:nvPr/>
        </p:nvGrpSpPr>
        <p:grpSpPr>
          <a:xfrm>
            <a:off x="1333500" y="4238625"/>
            <a:ext cx="9525000" cy="609600"/>
            <a:chOff x="1333500" y="4238625"/>
            <a:chExt cx="9525000" cy="609600"/>
          </a:xfrm>
        </p:grpSpPr>
        <p:sp>
          <p:nvSpPr>
            <p:cNvPr id="420" name="Google Shape;420;p19"/>
            <p:cNvSpPr/>
            <p:nvPr/>
          </p:nvSpPr>
          <p:spPr>
            <a:xfrm>
              <a:off x="1333500" y="4238625"/>
              <a:ext cx="9525000" cy="609600"/>
            </a:xfrm>
            <a:prstGeom prst="roundRect">
              <a:avLst>
                <a:gd name="adj" fmla="val 9375"/>
              </a:avLst>
            </a:prstGeom>
            <a:solidFill>
              <a:srgbClr val="FFFFFF"/>
            </a:solidFill>
            <a:ln w="9525" cap="flat" cmpd="sng">
              <a:solidFill>
                <a:srgbClr val="E1E7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19"/>
            <p:cNvSpPr txBox="1"/>
            <p:nvPr/>
          </p:nvSpPr>
          <p:spPr>
            <a:xfrm>
              <a:off x="1524000" y="4238625"/>
              <a:ext cx="26670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Sicherheit</a:t>
              </a:r>
              <a:endParaRPr sz="1200" b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p19"/>
            <p:cNvSpPr txBox="1"/>
            <p:nvPr/>
          </p:nvSpPr>
          <p:spPr>
            <a:xfrm>
              <a:off x="4381500" y="4238625"/>
              <a:ext cx="32385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 b="1">
                  <a:solidFill>
                    <a:srgbClr val="E06666"/>
                  </a:solidFill>
                  <a:latin typeface="Calibri"/>
                  <a:ea typeface="Calibri"/>
                  <a:cs typeface="Calibri"/>
                  <a:sym typeface="Calibri"/>
                </a:rPr>
                <a:t>❌</a:t>
              </a:r>
              <a:r>
                <a:rPr lang="en-US" sz="1150">
                  <a:solidFill>
                    <a:srgbClr val="3A4457"/>
                  </a:solidFill>
                  <a:latin typeface="Calibri"/>
                  <a:ea typeface="Calibri"/>
                  <a:cs typeface="Calibri"/>
                  <a:sym typeface="Calibri"/>
                </a:rPr>
                <a:t> DB-Credentials am Client</a:t>
              </a:r>
              <a:endParaRPr sz="1150">
                <a:solidFill>
                  <a:srgbClr val="3A445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423;p19"/>
            <p:cNvSpPr txBox="1"/>
            <p:nvPr/>
          </p:nvSpPr>
          <p:spPr>
            <a:xfrm>
              <a:off x="8001000" y="4238625"/>
              <a:ext cx="26670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 b="1">
                  <a:solidFill>
                    <a:srgbClr val="6AA84F"/>
                  </a:solidFill>
                  <a:latin typeface="Calibri"/>
                  <a:ea typeface="Calibri"/>
                  <a:cs typeface="Calibri"/>
                  <a:sym typeface="Calibri"/>
                </a:rPr>
                <a:t>✓</a:t>
              </a:r>
              <a:r>
                <a:rPr lang="en-US" sz="1150">
                  <a:solidFill>
                    <a:srgbClr val="3A4457"/>
                  </a:solidFill>
                  <a:latin typeface="Calibri"/>
                  <a:ea typeface="Calibri"/>
                  <a:cs typeface="Calibri"/>
                  <a:sym typeface="Calibri"/>
                </a:rPr>
                <a:t> zentrale Sicherheitsbarriere</a:t>
              </a:r>
              <a:endParaRPr sz="1150">
                <a:solidFill>
                  <a:srgbClr val="3A445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4" name="Google Shape;424;p19"/>
          <p:cNvGrpSpPr/>
          <p:nvPr/>
        </p:nvGrpSpPr>
        <p:grpSpPr>
          <a:xfrm>
            <a:off x="1333500" y="4895850"/>
            <a:ext cx="9525000" cy="609600"/>
            <a:chOff x="1333500" y="4895850"/>
            <a:chExt cx="9525000" cy="609600"/>
          </a:xfrm>
        </p:grpSpPr>
        <p:sp>
          <p:nvSpPr>
            <p:cNvPr id="425" name="Google Shape;425;p19"/>
            <p:cNvSpPr/>
            <p:nvPr/>
          </p:nvSpPr>
          <p:spPr>
            <a:xfrm>
              <a:off x="1333500" y="4895850"/>
              <a:ext cx="9525000" cy="609600"/>
            </a:xfrm>
            <a:prstGeom prst="roundRect">
              <a:avLst>
                <a:gd name="adj" fmla="val 9375"/>
              </a:avLst>
            </a:prstGeom>
            <a:solidFill>
              <a:srgbClr val="FFFFFF"/>
            </a:solidFill>
            <a:ln w="9525" cap="flat" cmpd="sng">
              <a:solidFill>
                <a:srgbClr val="E1E7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19"/>
            <p:cNvSpPr txBox="1"/>
            <p:nvPr/>
          </p:nvSpPr>
          <p:spPr>
            <a:xfrm>
              <a:off x="1524000" y="4895850"/>
              <a:ext cx="26670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Betriebskomplexität</a:t>
              </a:r>
              <a:endParaRPr sz="1200" b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" name="Google Shape;427;p19"/>
            <p:cNvSpPr txBox="1"/>
            <p:nvPr/>
          </p:nvSpPr>
          <p:spPr>
            <a:xfrm>
              <a:off x="4381500" y="4895850"/>
              <a:ext cx="32385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 b="1">
                  <a:solidFill>
                    <a:srgbClr val="6AA84F"/>
                  </a:solidFill>
                  <a:latin typeface="Calibri"/>
                  <a:ea typeface="Calibri"/>
                  <a:cs typeface="Calibri"/>
                  <a:sym typeface="Calibri"/>
                </a:rPr>
                <a:t>✓</a:t>
              </a:r>
              <a:r>
                <a:rPr lang="en-US" sz="1150">
                  <a:solidFill>
                    <a:srgbClr val="3A4457"/>
                  </a:solidFill>
                  <a:latin typeface="Calibri"/>
                  <a:ea typeface="Calibri"/>
                  <a:cs typeface="Calibri"/>
                  <a:sym typeface="Calibri"/>
                </a:rPr>
                <a:t> einfach</a:t>
              </a:r>
              <a:endParaRPr sz="1150">
                <a:solidFill>
                  <a:srgbClr val="3A445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" name="Google Shape;428;p19"/>
            <p:cNvSpPr txBox="1"/>
            <p:nvPr/>
          </p:nvSpPr>
          <p:spPr>
            <a:xfrm>
              <a:off x="8001000" y="4895850"/>
              <a:ext cx="26670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 b="1">
                  <a:solidFill>
                    <a:srgbClr val="6AA84F"/>
                  </a:solidFill>
                  <a:latin typeface="Calibri"/>
                  <a:ea typeface="Calibri"/>
                  <a:cs typeface="Calibri"/>
                  <a:sym typeface="Calibri"/>
                </a:rPr>
                <a:t>✓</a:t>
              </a:r>
              <a:r>
                <a:rPr lang="en-US" sz="1150">
                  <a:solidFill>
                    <a:srgbClr val="3A4457"/>
                  </a:solidFill>
                  <a:latin typeface="Calibri"/>
                  <a:ea typeface="Calibri"/>
                  <a:cs typeface="Calibri"/>
                  <a:sym typeface="Calibri"/>
                </a:rPr>
                <a:t> ein Server, beherrschbar</a:t>
              </a:r>
              <a:endParaRPr sz="1150">
                <a:solidFill>
                  <a:srgbClr val="3A445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9" name="Google Shape;429;p19"/>
          <p:cNvGrpSpPr/>
          <p:nvPr/>
        </p:nvGrpSpPr>
        <p:grpSpPr>
          <a:xfrm>
            <a:off x="1333500" y="5553075"/>
            <a:ext cx="9525000" cy="609600"/>
            <a:chOff x="1333500" y="5553075"/>
            <a:chExt cx="9525000" cy="609600"/>
          </a:xfrm>
        </p:grpSpPr>
        <p:sp>
          <p:nvSpPr>
            <p:cNvPr id="430" name="Google Shape;430;p19"/>
            <p:cNvSpPr/>
            <p:nvPr/>
          </p:nvSpPr>
          <p:spPr>
            <a:xfrm>
              <a:off x="1333500" y="5553075"/>
              <a:ext cx="9525000" cy="609600"/>
            </a:xfrm>
            <a:prstGeom prst="roundRect">
              <a:avLst>
                <a:gd name="adj" fmla="val 9375"/>
              </a:avLst>
            </a:prstGeom>
            <a:solidFill>
              <a:srgbClr val="FFFFFF"/>
            </a:solidFill>
            <a:ln w="9525" cap="flat" cmpd="sng">
              <a:solidFill>
                <a:srgbClr val="E1E7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19"/>
            <p:cNvSpPr txBox="1"/>
            <p:nvPr/>
          </p:nvSpPr>
          <p:spPr>
            <a:xfrm>
              <a:off x="1524000" y="5553075"/>
              <a:ext cx="26670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Passend für kleines Team</a:t>
              </a:r>
              <a:endParaRPr sz="1200" b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" name="Google Shape;432;p19"/>
            <p:cNvSpPr txBox="1"/>
            <p:nvPr/>
          </p:nvSpPr>
          <p:spPr>
            <a:xfrm>
              <a:off x="4381500" y="5553075"/>
              <a:ext cx="32385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 b="1">
                  <a:solidFill>
                    <a:srgbClr val="F1C232"/>
                  </a:solidFill>
                  <a:latin typeface="Calibri"/>
                  <a:ea typeface="Calibri"/>
                  <a:cs typeface="Calibri"/>
                  <a:sym typeface="Calibri"/>
                </a:rPr>
                <a:t>⚠️</a:t>
              </a:r>
              <a:r>
                <a:rPr lang="en-US" sz="1150">
                  <a:solidFill>
                    <a:srgbClr val="3A4457"/>
                  </a:solidFill>
                  <a:latin typeface="Calibri"/>
                  <a:ea typeface="Calibri"/>
                  <a:cs typeface="Calibri"/>
                  <a:sym typeface="Calibri"/>
                </a:rPr>
                <a:t> Wartung, Modernisierung und</a:t>
              </a:r>
              <a:endParaRPr sz="1150">
                <a:solidFill>
                  <a:srgbClr val="3A4457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4765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3A4457"/>
                  </a:solidFill>
                  <a:latin typeface="Calibri"/>
                  <a:ea typeface="Calibri"/>
                  <a:cs typeface="Calibri"/>
                  <a:sym typeface="Calibri"/>
                </a:rPr>
                <a:t>Erweiterung problematisch</a:t>
              </a:r>
              <a:endParaRPr sz="1150">
                <a:solidFill>
                  <a:srgbClr val="3A445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" name="Google Shape;433;p19"/>
            <p:cNvSpPr txBox="1"/>
            <p:nvPr/>
          </p:nvSpPr>
          <p:spPr>
            <a:xfrm>
              <a:off x="8001000" y="5553075"/>
              <a:ext cx="26670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 b="1">
                  <a:solidFill>
                    <a:srgbClr val="6AA84F"/>
                  </a:solidFill>
                  <a:latin typeface="Calibri"/>
                  <a:ea typeface="Calibri"/>
                  <a:cs typeface="Calibri"/>
                  <a:sym typeface="Calibri"/>
                </a:rPr>
                <a:t>✓</a:t>
              </a:r>
              <a:r>
                <a:rPr lang="en-US" sz="1150">
                  <a:solidFill>
                    <a:srgbClr val="3A4457"/>
                  </a:solidFill>
                  <a:latin typeface="Calibri"/>
                  <a:ea typeface="Calibri"/>
                  <a:cs typeface="Calibri"/>
                  <a:sym typeface="Calibri"/>
                </a:rPr>
                <a:t> optimaler Kompromiss</a:t>
              </a:r>
              <a:endParaRPr sz="1150">
                <a:solidFill>
                  <a:srgbClr val="3A445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4" name="Google Shape;434;p19"/>
          <p:cNvSpPr txBox="1"/>
          <p:nvPr/>
        </p:nvSpPr>
        <p:spPr>
          <a:xfrm>
            <a:off x="457200" y="6524625"/>
            <a:ext cx="73056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FH_MA Modernisierung</a:t>
            </a:r>
            <a:endParaRPr sz="900">
              <a:solidFill>
                <a:srgbClr val="6B76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5" name="Google Shape;435;p19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227553" y="1924354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19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651874" y="1924355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19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803224" y="1926001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19"/>
          <p:cNvSpPr/>
          <p:nvPr/>
        </p:nvSpPr>
        <p:spPr>
          <a:xfrm>
            <a:off x="11368800" y="6528960"/>
            <a:ext cx="363000" cy="2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0"/>
          <p:cNvSpPr/>
          <p:nvPr/>
        </p:nvSpPr>
        <p:spPr>
          <a:xfrm>
            <a:off x="457200" y="384120"/>
            <a:ext cx="308160" cy="65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0000" tIns="23750" rIns="90000" bIns="237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0"/>
          <p:cNvSpPr/>
          <p:nvPr/>
        </p:nvSpPr>
        <p:spPr>
          <a:xfrm>
            <a:off x="457200" y="521280"/>
            <a:ext cx="308160" cy="658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txBody>
          <a:bodyPr spcFirstLastPara="1" wrap="square" lIns="90000" tIns="23750" rIns="90000" bIns="237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0"/>
          <p:cNvSpPr/>
          <p:nvPr/>
        </p:nvSpPr>
        <p:spPr>
          <a:xfrm>
            <a:off x="457200" y="658440"/>
            <a:ext cx="308160" cy="658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0000" tIns="23750" rIns="90000" bIns="237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0"/>
          <p:cNvSpPr/>
          <p:nvPr/>
        </p:nvSpPr>
        <p:spPr>
          <a:xfrm>
            <a:off x="960120" y="429840"/>
            <a:ext cx="8226720" cy="27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ADR-002 · ARCHITEKTURENTSCHEIDUNG</a:t>
            </a:r>
            <a:endParaRPr sz="12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0"/>
          <p:cNvSpPr/>
          <p:nvPr/>
        </p:nvSpPr>
        <p:spPr>
          <a:xfrm>
            <a:off x="457200" y="766440"/>
            <a:ext cx="10787040" cy="6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Tech-Stack Backend: Spring Boot 4 · Java 25</a:t>
            </a:r>
            <a:endParaRPr sz="3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0"/>
          <p:cNvSpPr/>
          <p:nvPr/>
        </p:nvSpPr>
        <p:spPr>
          <a:xfrm>
            <a:off x="6129720" y="1744200"/>
            <a:ext cx="5392080" cy="27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Warum Spring Boot?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0" name="Google Shape;450;p2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22160" y="2207160"/>
            <a:ext cx="253080" cy="253080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20"/>
          <p:cNvSpPr/>
          <p:nvPr/>
        </p:nvSpPr>
        <p:spPr>
          <a:xfrm>
            <a:off x="6469560" y="2197440"/>
            <a:ext cx="5026320" cy="23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Office-Dokumente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0"/>
          <p:cNvSpPr/>
          <p:nvPr/>
        </p:nvSpPr>
        <p:spPr>
          <a:xfrm>
            <a:off x="6469560" y="2363040"/>
            <a:ext cx="5026320" cy="381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4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Apache POI / docx4j als ausgereiftestes Open-Source-Ökosystem 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3" name="Google Shape;453;p2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86160" y="2848320"/>
            <a:ext cx="253080" cy="25308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20"/>
          <p:cNvSpPr/>
          <p:nvPr/>
        </p:nvSpPr>
        <p:spPr>
          <a:xfrm>
            <a:off x="6469560" y="2802600"/>
            <a:ext cx="5026320" cy="23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Bestehende Logik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0"/>
          <p:cNvSpPr/>
          <p:nvPr/>
        </p:nvSpPr>
        <p:spPr>
          <a:xfrm>
            <a:off x="6469560" y="2968560"/>
            <a:ext cx="5026320" cy="381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4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Legacy-System bereits in Java – direkter Wissenstransfer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6" name="Google Shape;456;p2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86160" y="3525480"/>
            <a:ext cx="253080" cy="25308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20"/>
          <p:cNvSpPr/>
          <p:nvPr/>
        </p:nvSpPr>
        <p:spPr>
          <a:xfrm>
            <a:off x="6469560" y="3515760"/>
            <a:ext cx="5026320" cy="23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Sicherheits-Framework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0"/>
          <p:cNvSpPr/>
          <p:nvPr/>
        </p:nvSpPr>
        <p:spPr>
          <a:xfrm>
            <a:off x="6469560" y="3681720"/>
            <a:ext cx="5026320" cy="381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4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Spring Security 7: JWT/BCrypt/RBAC, produktionserprobt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9" name="Google Shape;459;p2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86160" y="4203000"/>
            <a:ext cx="253080" cy="253080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20"/>
          <p:cNvSpPr/>
          <p:nvPr/>
        </p:nvSpPr>
        <p:spPr>
          <a:xfrm>
            <a:off x="6469560" y="4193280"/>
            <a:ext cx="5026320" cy="23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Langlebigkeit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0"/>
          <p:cNvSpPr/>
          <p:nvPr/>
        </p:nvSpPr>
        <p:spPr>
          <a:xfrm>
            <a:off x="6469560" y="4358880"/>
            <a:ext cx="5026320" cy="381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4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Java 25 LTS-Support bis mind. 2030 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0"/>
          <p:cNvSpPr/>
          <p:nvPr/>
        </p:nvSpPr>
        <p:spPr>
          <a:xfrm>
            <a:off x="457200" y="5506920"/>
            <a:ext cx="1780200" cy="56412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 cap="flat" cmpd="sng">
            <a:solidFill>
              <a:srgbClr val="E1E7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3" name="Google Shape;463;p2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7000" y="5635080"/>
            <a:ext cx="308160" cy="308160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20"/>
          <p:cNvSpPr/>
          <p:nvPr/>
        </p:nvSpPr>
        <p:spPr>
          <a:xfrm>
            <a:off x="932760" y="5506920"/>
            <a:ext cx="1231560" cy="564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Spring Boot</a:t>
            </a: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0"/>
          <p:cNvSpPr/>
          <p:nvPr/>
        </p:nvSpPr>
        <p:spPr>
          <a:xfrm>
            <a:off x="2331720" y="5506920"/>
            <a:ext cx="1780200" cy="56412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 cap="flat" cmpd="sng">
            <a:solidFill>
              <a:srgbClr val="E1E7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6" name="Google Shape;466;p20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441520" y="5635080"/>
            <a:ext cx="308160" cy="308160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20"/>
          <p:cNvSpPr/>
          <p:nvPr/>
        </p:nvSpPr>
        <p:spPr>
          <a:xfrm>
            <a:off x="2807280" y="5506920"/>
            <a:ext cx="1231560" cy="564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Java 25</a:t>
            </a: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0"/>
          <p:cNvSpPr/>
          <p:nvPr/>
        </p:nvSpPr>
        <p:spPr>
          <a:xfrm>
            <a:off x="4206240" y="5506920"/>
            <a:ext cx="1780200" cy="56412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 cap="flat" cmpd="sng">
            <a:solidFill>
              <a:srgbClr val="E1E7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9" name="Google Shape;469;p20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16040" y="5635080"/>
            <a:ext cx="308160" cy="308160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20"/>
          <p:cNvSpPr/>
          <p:nvPr/>
        </p:nvSpPr>
        <p:spPr>
          <a:xfrm>
            <a:off x="4681800" y="5506920"/>
            <a:ext cx="1231560" cy="564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Spring Security</a:t>
            </a: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0"/>
          <p:cNvSpPr/>
          <p:nvPr/>
        </p:nvSpPr>
        <p:spPr>
          <a:xfrm>
            <a:off x="6083280" y="5506920"/>
            <a:ext cx="1780200" cy="56412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 cap="flat" cmpd="sng">
            <a:solidFill>
              <a:srgbClr val="E1E7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2" name="Google Shape;472;p20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193080" y="5635080"/>
            <a:ext cx="308160" cy="308160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20"/>
          <p:cNvSpPr/>
          <p:nvPr/>
        </p:nvSpPr>
        <p:spPr>
          <a:xfrm>
            <a:off x="6558840" y="5506920"/>
            <a:ext cx="1231560" cy="564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PostgreSQL</a:t>
            </a: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0"/>
          <p:cNvSpPr/>
          <p:nvPr/>
        </p:nvSpPr>
        <p:spPr>
          <a:xfrm>
            <a:off x="7957800" y="5506920"/>
            <a:ext cx="1780200" cy="56412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 cap="flat" cmpd="sng">
            <a:solidFill>
              <a:srgbClr val="E1E7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5" name="Google Shape;475;p20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067600" y="5635080"/>
            <a:ext cx="308160" cy="308160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20"/>
          <p:cNvSpPr/>
          <p:nvPr/>
        </p:nvSpPr>
        <p:spPr>
          <a:xfrm>
            <a:off x="8433360" y="5506920"/>
            <a:ext cx="1231560" cy="564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Maven</a:t>
            </a: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0"/>
          <p:cNvSpPr/>
          <p:nvPr/>
        </p:nvSpPr>
        <p:spPr>
          <a:xfrm>
            <a:off x="457200" y="6528960"/>
            <a:ext cx="7312320" cy="25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FH_MA Modernisierung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0"/>
          <p:cNvSpPr/>
          <p:nvPr/>
        </p:nvSpPr>
        <p:spPr>
          <a:xfrm>
            <a:off x="11368800" y="6528960"/>
            <a:ext cx="362880" cy="25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0"/>
          <p:cNvSpPr/>
          <p:nvPr/>
        </p:nvSpPr>
        <p:spPr>
          <a:xfrm>
            <a:off x="685325" y="1754000"/>
            <a:ext cx="1552200" cy="706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Spring+Vaadin</a:t>
            </a:r>
            <a:endParaRPr b="1"/>
          </a:p>
        </p:txBody>
      </p:sp>
      <p:sp>
        <p:nvSpPr>
          <p:cNvPr id="480" name="Google Shape;480;p20"/>
          <p:cNvSpPr/>
          <p:nvPr/>
        </p:nvSpPr>
        <p:spPr>
          <a:xfrm>
            <a:off x="685325" y="2460250"/>
            <a:ext cx="1552200" cy="706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9"/>
              </a:rPr>
              <a:t>ASP.NET</a:t>
            </a:r>
            <a:r>
              <a:rPr lang="en-US"/>
              <a:t> Core</a:t>
            </a:r>
            <a:endParaRPr/>
          </a:p>
        </p:txBody>
      </p:sp>
      <p:sp>
        <p:nvSpPr>
          <p:cNvPr id="481" name="Google Shape;481;p20"/>
          <p:cNvSpPr/>
          <p:nvPr/>
        </p:nvSpPr>
        <p:spPr>
          <a:xfrm>
            <a:off x="685325" y="3166263"/>
            <a:ext cx="1552200" cy="706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Django</a:t>
            </a:r>
            <a:endParaRPr/>
          </a:p>
        </p:txBody>
      </p:sp>
      <p:sp>
        <p:nvSpPr>
          <p:cNvPr id="482" name="Google Shape;482;p20"/>
          <p:cNvSpPr/>
          <p:nvPr/>
        </p:nvSpPr>
        <p:spPr>
          <a:xfrm>
            <a:off x="2357400" y="2592700"/>
            <a:ext cx="476400" cy="441300"/>
          </a:xfrm>
          <a:prstGeom prst="mathMultiply">
            <a:avLst>
              <a:gd name="adj1" fmla="val 23520"/>
            </a:avLst>
          </a:prstGeom>
          <a:solidFill>
            <a:srgbClr val="D43F3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20"/>
          <p:cNvSpPr/>
          <p:nvPr/>
        </p:nvSpPr>
        <p:spPr>
          <a:xfrm>
            <a:off x="2357400" y="3298713"/>
            <a:ext cx="476400" cy="441300"/>
          </a:xfrm>
          <a:prstGeom prst="mathMultiply">
            <a:avLst>
              <a:gd name="adj1" fmla="val 23520"/>
            </a:avLst>
          </a:prstGeom>
          <a:solidFill>
            <a:srgbClr val="D43F3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20"/>
          <p:cNvSpPr/>
          <p:nvPr/>
        </p:nvSpPr>
        <p:spPr>
          <a:xfrm rot="-2505218">
            <a:off x="2376109" y="1852328"/>
            <a:ext cx="618084" cy="291715"/>
          </a:xfrm>
          <a:prstGeom prst="corner">
            <a:avLst>
              <a:gd name="adj1" fmla="val 50000"/>
              <a:gd name="adj2" fmla="val 50000"/>
            </a:avLst>
          </a:prstGeom>
          <a:solidFill>
            <a:schemeClr val="accent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85" name="Google Shape;485;p20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00500" y="1683625"/>
            <a:ext cx="5712840" cy="3322080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20"/>
          <p:cNvSpPr/>
          <p:nvPr/>
        </p:nvSpPr>
        <p:spPr>
          <a:xfrm>
            <a:off x="1812075" y="4158475"/>
            <a:ext cx="174300" cy="186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21"/>
          <p:cNvSpPr/>
          <p:nvPr/>
        </p:nvSpPr>
        <p:spPr>
          <a:xfrm>
            <a:off x="457200" y="384120"/>
            <a:ext cx="308160" cy="65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0000" tIns="23750" rIns="90000" bIns="237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1"/>
          <p:cNvSpPr/>
          <p:nvPr/>
        </p:nvSpPr>
        <p:spPr>
          <a:xfrm>
            <a:off x="457200" y="521280"/>
            <a:ext cx="308160" cy="658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txBody>
          <a:bodyPr spcFirstLastPara="1" wrap="square" lIns="90000" tIns="23750" rIns="90000" bIns="237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1"/>
          <p:cNvSpPr/>
          <p:nvPr/>
        </p:nvSpPr>
        <p:spPr>
          <a:xfrm>
            <a:off x="457200" y="658440"/>
            <a:ext cx="308160" cy="658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0000" tIns="23750" rIns="90000" bIns="237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1"/>
          <p:cNvSpPr/>
          <p:nvPr/>
        </p:nvSpPr>
        <p:spPr>
          <a:xfrm>
            <a:off x="960120" y="429840"/>
            <a:ext cx="8226720" cy="27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ADR-003 · ARCHITEKTURENTSCHEIDUNG</a:t>
            </a:r>
            <a:endParaRPr sz="12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1"/>
          <p:cNvSpPr/>
          <p:nvPr/>
        </p:nvSpPr>
        <p:spPr>
          <a:xfrm>
            <a:off x="457200" y="766440"/>
            <a:ext cx="10787040" cy="6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Tech-Stack Frontend: Vaadin (Full-Stack Java)</a:t>
            </a:r>
            <a:endParaRPr sz="3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1"/>
          <p:cNvSpPr/>
          <p:nvPr/>
        </p:nvSpPr>
        <p:spPr>
          <a:xfrm>
            <a:off x="6309360" y="1544760"/>
            <a:ext cx="5392080" cy="27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Warum Vaadin?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7" name="Google Shape;497;p2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09360" y="1982520"/>
            <a:ext cx="253080" cy="253080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21"/>
          <p:cNvSpPr/>
          <p:nvPr/>
        </p:nvSpPr>
        <p:spPr>
          <a:xfrm>
            <a:off x="6656760" y="1960695"/>
            <a:ext cx="50262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Wiederverwendbarkeit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1"/>
          <p:cNvSpPr/>
          <p:nvPr/>
        </p:nvSpPr>
        <p:spPr>
          <a:xfrm>
            <a:off x="6656760" y="2174400"/>
            <a:ext cx="5026320" cy="381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4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Wiederverwendung von Services, Datenzugriff &amp; Security der Desktopanwendung (35%)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0" name="Google Shape;500;p2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09360" y="2695680"/>
            <a:ext cx="253080" cy="253080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21"/>
          <p:cNvSpPr/>
          <p:nvPr/>
        </p:nvSpPr>
        <p:spPr>
          <a:xfrm>
            <a:off x="6656760" y="2673855"/>
            <a:ext cx="50262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UI-Komponenten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1"/>
          <p:cNvSpPr/>
          <p:nvPr/>
        </p:nvSpPr>
        <p:spPr>
          <a:xfrm>
            <a:off x="6656760" y="2887920"/>
            <a:ext cx="5026320" cy="381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4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Formulare, Tabellen &amp; Dialoge "out of the box", wenig Boilerplate-Code (25%)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3" name="Google Shape;503;p2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09360" y="3408840"/>
            <a:ext cx="253080" cy="25308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21"/>
          <p:cNvSpPr/>
          <p:nvPr/>
        </p:nvSpPr>
        <p:spPr>
          <a:xfrm>
            <a:off x="6656760" y="3398963"/>
            <a:ext cx="50262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Sicherheitsintegration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1"/>
          <p:cNvSpPr/>
          <p:nvPr/>
        </p:nvSpPr>
        <p:spPr>
          <a:xfrm>
            <a:off x="6656760" y="3624975"/>
            <a:ext cx="5026200" cy="3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4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Nahtlose Anbindung an Spring Security aus ADR-002 (20%)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6" name="Google Shape;506;p2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09360" y="4122360"/>
            <a:ext cx="253080" cy="25308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21"/>
          <p:cNvSpPr/>
          <p:nvPr/>
        </p:nvSpPr>
        <p:spPr>
          <a:xfrm>
            <a:off x="6656760" y="4124431"/>
            <a:ext cx="50262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Geringere Komplexität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1"/>
          <p:cNvSpPr/>
          <p:nvPr/>
        </p:nvSpPr>
        <p:spPr>
          <a:xfrm>
            <a:off x="6656760" y="4326188"/>
            <a:ext cx="5026200" cy="3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4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Kein REST notwendig – weniger Schnittstellen als Angular/React/Next.js (20%)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1"/>
          <p:cNvSpPr/>
          <p:nvPr/>
        </p:nvSpPr>
        <p:spPr>
          <a:xfrm>
            <a:off x="457200" y="5506920"/>
            <a:ext cx="1780200" cy="56412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 cap="flat" cmpd="sng">
            <a:solidFill>
              <a:srgbClr val="E1E7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0" name="Google Shape;510;p2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7000" y="5635080"/>
            <a:ext cx="308160" cy="308160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21"/>
          <p:cNvSpPr/>
          <p:nvPr/>
        </p:nvSpPr>
        <p:spPr>
          <a:xfrm>
            <a:off x="932760" y="5506920"/>
            <a:ext cx="1231560" cy="564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Vaadin</a:t>
            </a: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21"/>
          <p:cNvSpPr/>
          <p:nvPr/>
        </p:nvSpPr>
        <p:spPr>
          <a:xfrm>
            <a:off x="2331720" y="5506920"/>
            <a:ext cx="1780200" cy="56412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 cap="flat" cmpd="sng">
            <a:solidFill>
              <a:srgbClr val="E1E7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3" name="Google Shape;513;p2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441520" y="5635080"/>
            <a:ext cx="308160" cy="308160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21"/>
          <p:cNvSpPr/>
          <p:nvPr/>
        </p:nvSpPr>
        <p:spPr>
          <a:xfrm>
            <a:off x="2807280" y="5506920"/>
            <a:ext cx="1231560" cy="564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Vaadin Flow</a:t>
            </a: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1"/>
          <p:cNvSpPr/>
          <p:nvPr/>
        </p:nvSpPr>
        <p:spPr>
          <a:xfrm>
            <a:off x="4206240" y="5506920"/>
            <a:ext cx="1780200" cy="56412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 cap="flat" cmpd="sng">
            <a:solidFill>
              <a:srgbClr val="E1E7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6" name="Google Shape;516;p21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16040" y="5635080"/>
            <a:ext cx="308160" cy="308160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21"/>
          <p:cNvSpPr/>
          <p:nvPr/>
        </p:nvSpPr>
        <p:spPr>
          <a:xfrm>
            <a:off x="4681800" y="5506920"/>
            <a:ext cx="1231560" cy="564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Vaadin Grid</a:t>
            </a: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1"/>
          <p:cNvSpPr/>
          <p:nvPr/>
        </p:nvSpPr>
        <p:spPr>
          <a:xfrm>
            <a:off x="6080760" y="5506920"/>
            <a:ext cx="1780200" cy="56412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 cap="flat" cmpd="sng">
            <a:solidFill>
              <a:srgbClr val="E1E7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9" name="Google Shape;519;p21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190560" y="5635080"/>
            <a:ext cx="308160" cy="308160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21"/>
          <p:cNvSpPr/>
          <p:nvPr/>
        </p:nvSpPr>
        <p:spPr>
          <a:xfrm>
            <a:off x="6556320" y="5506920"/>
            <a:ext cx="1231560" cy="564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Spring Boot (integriert)</a:t>
            </a: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1"/>
          <p:cNvSpPr/>
          <p:nvPr/>
        </p:nvSpPr>
        <p:spPr>
          <a:xfrm>
            <a:off x="7955280" y="5506920"/>
            <a:ext cx="1780200" cy="56412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 cap="flat" cmpd="sng">
            <a:solidFill>
              <a:srgbClr val="E1E7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2" name="Google Shape;522;p21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065080" y="5635080"/>
            <a:ext cx="308160" cy="308160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21"/>
          <p:cNvSpPr/>
          <p:nvPr/>
        </p:nvSpPr>
        <p:spPr>
          <a:xfrm>
            <a:off x="8430840" y="5506920"/>
            <a:ext cx="1231560" cy="564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Spring Security</a:t>
            </a: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1"/>
          <p:cNvSpPr/>
          <p:nvPr/>
        </p:nvSpPr>
        <p:spPr>
          <a:xfrm>
            <a:off x="9829800" y="5506920"/>
            <a:ext cx="1780200" cy="56412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 cap="flat" cmpd="sng">
            <a:solidFill>
              <a:srgbClr val="E1E7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5" name="Google Shape;525;p21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939600" y="5635080"/>
            <a:ext cx="308160" cy="30816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21"/>
          <p:cNvSpPr/>
          <p:nvPr/>
        </p:nvSpPr>
        <p:spPr>
          <a:xfrm>
            <a:off x="10305360" y="5506920"/>
            <a:ext cx="1231560" cy="564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Java 25</a:t>
            </a: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1"/>
          <p:cNvSpPr/>
          <p:nvPr/>
        </p:nvSpPr>
        <p:spPr>
          <a:xfrm>
            <a:off x="457200" y="6528960"/>
            <a:ext cx="7312320" cy="25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FH_MA Modernisierung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1"/>
          <p:cNvSpPr/>
          <p:nvPr/>
        </p:nvSpPr>
        <p:spPr>
          <a:xfrm>
            <a:off x="11368800" y="6528960"/>
            <a:ext cx="362880" cy="25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9" name="Google Shape;529;p21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28600" y="1600200"/>
            <a:ext cx="5712840" cy="3322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22"/>
          <p:cNvSpPr/>
          <p:nvPr/>
        </p:nvSpPr>
        <p:spPr>
          <a:xfrm>
            <a:off x="457200" y="384120"/>
            <a:ext cx="308160" cy="65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0000" tIns="23750" rIns="90000" bIns="237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2"/>
          <p:cNvSpPr/>
          <p:nvPr/>
        </p:nvSpPr>
        <p:spPr>
          <a:xfrm>
            <a:off x="457200" y="521280"/>
            <a:ext cx="308160" cy="658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txBody>
          <a:bodyPr spcFirstLastPara="1" wrap="square" lIns="90000" tIns="23750" rIns="90000" bIns="237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2"/>
          <p:cNvSpPr/>
          <p:nvPr/>
        </p:nvSpPr>
        <p:spPr>
          <a:xfrm>
            <a:off x="457200" y="658440"/>
            <a:ext cx="308160" cy="658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0000" tIns="23750" rIns="90000" bIns="237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2"/>
          <p:cNvSpPr/>
          <p:nvPr/>
        </p:nvSpPr>
        <p:spPr>
          <a:xfrm>
            <a:off x="960120" y="429840"/>
            <a:ext cx="8226720" cy="27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ADR-004 · ARCHITEKTURENTSCHEIDUNG</a:t>
            </a:r>
            <a:endParaRPr sz="12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2"/>
          <p:cNvSpPr/>
          <p:nvPr/>
        </p:nvSpPr>
        <p:spPr>
          <a:xfrm>
            <a:off x="457200" y="766440"/>
            <a:ext cx="10787040" cy="6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Backup-Strategie: pgBackRest &amp; 3-2-1-Regel</a:t>
            </a:r>
            <a:endParaRPr sz="3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2"/>
          <p:cNvSpPr/>
          <p:nvPr/>
        </p:nvSpPr>
        <p:spPr>
          <a:xfrm>
            <a:off x="548640" y="1554480"/>
            <a:ext cx="6306480" cy="4294800"/>
          </a:xfrm>
          <a:prstGeom prst="rect">
            <a:avLst/>
          </a:prstGeom>
          <a:solidFill>
            <a:srgbClr val="FFFFFF"/>
          </a:solidFill>
          <a:ln w="15875" cap="flat" cmpd="sng">
            <a:solidFill>
              <a:srgbClr val="E1E7F0"/>
            </a:solidFill>
            <a:prstDash val="solid"/>
            <a:round/>
            <a:headEnd type="none" w="sm" len="sm"/>
            <a:tailEnd type="none" w="sm" len="sm"/>
          </a:ln>
          <a:effectLst>
            <a:outerShdw blurRad="63360" dist="25455" dir="8100000" algn="bl" rotWithShape="0">
              <a:srgbClr val="1E2761">
                <a:alpha val="7843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2"/>
          <p:cNvSpPr/>
          <p:nvPr/>
        </p:nvSpPr>
        <p:spPr>
          <a:xfrm>
            <a:off x="822960" y="1737360"/>
            <a:ext cx="5757840" cy="27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Automatisierter Backup-Fl</a:t>
            </a:r>
            <a:r>
              <a:rPr lang="en-US" b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ow</a:t>
            </a:r>
            <a:endParaRPr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2"/>
          <p:cNvSpPr/>
          <p:nvPr/>
        </p:nvSpPr>
        <p:spPr>
          <a:xfrm>
            <a:off x="2103120" y="2121480"/>
            <a:ext cx="3197520" cy="5000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2"/>
          <p:cNvSpPr/>
          <p:nvPr/>
        </p:nvSpPr>
        <p:spPr>
          <a:xfrm>
            <a:off x="2240280" y="2189880"/>
            <a:ext cx="362880" cy="36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4" name="Google Shape;544;p2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7800" y="2237400"/>
            <a:ext cx="267840" cy="267840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22"/>
          <p:cNvSpPr/>
          <p:nvPr/>
        </p:nvSpPr>
        <p:spPr>
          <a:xfrm>
            <a:off x="2697480" y="2121480"/>
            <a:ext cx="2740320" cy="50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PostgreSQL (frauenhaus)</a:t>
            </a:r>
            <a:endParaRPr sz="12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6" name="Google Shape;546;p22"/>
          <p:cNvCxnSpPr/>
          <p:nvPr/>
        </p:nvCxnSpPr>
        <p:spPr>
          <a:xfrm>
            <a:off x="3703320" y="2615760"/>
            <a:ext cx="360" cy="255960"/>
          </a:xfrm>
          <a:prstGeom prst="straightConnector1">
            <a:avLst/>
          </a:prstGeom>
          <a:noFill/>
          <a:ln w="25400" cap="flat" cmpd="sng">
            <a:solidFill>
              <a:srgbClr val="1E276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47" name="Google Shape;547;p22"/>
          <p:cNvSpPr/>
          <p:nvPr/>
        </p:nvSpPr>
        <p:spPr>
          <a:xfrm>
            <a:off x="822960" y="2926080"/>
            <a:ext cx="5757840" cy="141624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101520" dist="37674" dir="8100000" algn="bl" rotWithShape="0">
              <a:srgbClr val="1E2761">
                <a:alpha val="12157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2"/>
          <p:cNvSpPr/>
          <p:nvPr/>
        </p:nvSpPr>
        <p:spPr>
          <a:xfrm>
            <a:off x="1005840" y="2963880"/>
            <a:ext cx="5392080" cy="27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pgBackRest</a:t>
            </a:r>
            <a:endParaRPr sz="13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9" name="Google Shape;549;p2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560" y="3292920"/>
            <a:ext cx="253080" cy="25308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22"/>
          <p:cNvSpPr/>
          <p:nvPr/>
        </p:nvSpPr>
        <p:spPr>
          <a:xfrm>
            <a:off x="1463040" y="3265560"/>
            <a:ext cx="4934880" cy="30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Vollbackup sonntags 02:00 Uhr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1" name="Google Shape;551;p2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51560" y="3640320"/>
            <a:ext cx="253080" cy="253080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22"/>
          <p:cNvSpPr/>
          <p:nvPr/>
        </p:nvSpPr>
        <p:spPr>
          <a:xfrm>
            <a:off x="1463040" y="3612960"/>
            <a:ext cx="4934880" cy="30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Differenziell Mo–Sa 02:00 Uhr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3" name="Google Shape;553;p2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51560" y="3988080"/>
            <a:ext cx="253080" cy="253080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22"/>
          <p:cNvSpPr/>
          <p:nvPr/>
        </p:nvSpPr>
        <p:spPr>
          <a:xfrm>
            <a:off x="1463040" y="3960360"/>
            <a:ext cx="4934880" cy="30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AES-256 verschlüsselt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5" name="Google Shape;555;p22"/>
          <p:cNvCxnSpPr/>
          <p:nvPr/>
        </p:nvCxnSpPr>
        <p:spPr>
          <a:xfrm>
            <a:off x="2468880" y="4370760"/>
            <a:ext cx="360" cy="274320"/>
          </a:xfrm>
          <a:prstGeom prst="straightConnector1">
            <a:avLst/>
          </a:prstGeom>
          <a:noFill/>
          <a:ln w="25400" cap="flat" cmpd="sng">
            <a:solidFill>
              <a:srgbClr val="1E276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56" name="Google Shape;556;p22"/>
          <p:cNvCxnSpPr/>
          <p:nvPr/>
        </p:nvCxnSpPr>
        <p:spPr>
          <a:xfrm>
            <a:off x="4937760" y="4370760"/>
            <a:ext cx="360" cy="274320"/>
          </a:xfrm>
          <a:prstGeom prst="straightConnector1">
            <a:avLst/>
          </a:prstGeom>
          <a:noFill/>
          <a:ln w="25400" cap="flat" cmpd="sng">
            <a:solidFill>
              <a:srgbClr val="1E276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57" name="Google Shape;557;p22"/>
          <p:cNvSpPr/>
          <p:nvPr/>
        </p:nvSpPr>
        <p:spPr>
          <a:xfrm>
            <a:off x="822960" y="4663440"/>
            <a:ext cx="2740320" cy="820080"/>
          </a:xfrm>
          <a:prstGeom prst="rect">
            <a:avLst/>
          </a:prstGeom>
          <a:solidFill>
            <a:srgbClr val="1C7293"/>
          </a:solidFill>
          <a:ln>
            <a:noFill/>
          </a:ln>
          <a:effectLst>
            <a:outerShdw blurRad="101520" dist="37674" dir="8100000" algn="bl" rotWithShape="0">
              <a:srgbClr val="1E2761">
                <a:alpha val="10196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2"/>
          <p:cNvSpPr/>
          <p:nvPr/>
        </p:nvSpPr>
        <p:spPr>
          <a:xfrm>
            <a:off x="987480" y="4800600"/>
            <a:ext cx="362880" cy="36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9" name="Google Shape;559;p22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35000" y="4848120"/>
            <a:ext cx="267840" cy="267840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22"/>
          <p:cNvSpPr/>
          <p:nvPr/>
        </p:nvSpPr>
        <p:spPr>
          <a:xfrm>
            <a:off x="1444680" y="4663440"/>
            <a:ext cx="2100240" cy="82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9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repo1 – lokal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9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(getrenntes Volume)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2"/>
          <p:cNvSpPr/>
          <p:nvPr/>
        </p:nvSpPr>
        <p:spPr>
          <a:xfrm>
            <a:off x="3840480" y="4663440"/>
            <a:ext cx="2740320" cy="820080"/>
          </a:xfrm>
          <a:prstGeom prst="rect">
            <a:avLst/>
          </a:prstGeom>
          <a:solidFill>
            <a:srgbClr val="D4A017"/>
          </a:solidFill>
          <a:ln>
            <a:noFill/>
          </a:ln>
          <a:effectLst>
            <a:outerShdw blurRad="101520" dist="37674" dir="8100000" algn="bl" rotWithShape="0">
              <a:srgbClr val="1E2761">
                <a:alpha val="10196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2"/>
          <p:cNvSpPr/>
          <p:nvPr/>
        </p:nvSpPr>
        <p:spPr>
          <a:xfrm>
            <a:off x="4005000" y="4800600"/>
            <a:ext cx="362880" cy="36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3" name="Google Shape;563;p22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052520" y="4848120"/>
            <a:ext cx="267840" cy="267840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p22"/>
          <p:cNvSpPr/>
          <p:nvPr/>
        </p:nvSpPr>
        <p:spPr>
          <a:xfrm>
            <a:off x="4462200" y="4663440"/>
            <a:ext cx="2100240" cy="82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9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41B45"/>
                </a:solidFill>
                <a:latin typeface="Calibri"/>
                <a:ea typeface="Calibri"/>
                <a:cs typeface="Calibri"/>
                <a:sym typeface="Calibri"/>
              </a:rPr>
              <a:t>repo2 – extern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9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41B45"/>
                </a:solidFill>
                <a:latin typeface="Calibri"/>
                <a:ea typeface="Calibri"/>
                <a:cs typeface="Calibri"/>
                <a:sym typeface="Calibri"/>
              </a:rPr>
              <a:t>(USB-Rotation, 2. Standort)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2"/>
          <p:cNvSpPr/>
          <p:nvPr/>
        </p:nvSpPr>
        <p:spPr>
          <a:xfrm>
            <a:off x="822960" y="5623560"/>
            <a:ext cx="5757840" cy="31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61111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2"/>
          <p:cNvSpPr/>
          <p:nvPr/>
        </p:nvSpPr>
        <p:spPr>
          <a:xfrm>
            <a:off x="7132320" y="2130480"/>
            <a:ext cx="4569120" cy="27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Warum nicht pg_dump / manuell?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7" name="Google Shape;567;p22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132320" y="2604240"/>
            <a:ext cx="234720" cy="23472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22"/>
          <p:cNvSpPr/>
          <p:nvPr/>
        </p:nvSpPr>
        <p:spPr>
          <a:xfrm>
            <a:off x="7479720" y="2459520"/>
            <a:ext cx="4294800" cy="54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3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A4457"/>
                </a:solidFill>
                <a:latin typeface="Calibri"/>
                <a:ea typeface="Calibri"/>
                <a:cs typeface="Calibri"/>
                <a:sym typeface="Calibri"/>
              </a:rPr>
              <a:t>Manuelles Skript (IST-Zustand): kein Zeitplan, abhängig von menschlicher Disziplin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9" name="Google Shape;569;p22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132320" y="3317400"/>
            <a:ext cx="234720" cy="234720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p22"/>
          <p:cNvSpPr/>
          <p:nvPr/>
        </p:nvSpPr>
        <p:spPr>
          <a:xfrm>
            <a:off x="7479720" y="3173040"/>
            <a:ext cx="4294800" cy="54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3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A4457"/>
                </a:solidFill>
                <a:latin typeface="Calibri"/>
                <a:ea typeface="Calibri"/>
                <a:cs typeface="Calibri"/>
                <a:sym typeface="Calibri"/>
              </a:rPr>
              <a:t>pg_dump bietet kein Point-in-Time-Recovery – nur letzter Dump-Zeitpunkt wiederherstellbar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1" name="Google Shape;571;p22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132320" y="4066560"/>
            <a:ext cx="234720" cy="23472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22"/>
          <p:cNvSpPr/>
          <p:nvPr/>
        </p:nvSpPr>
        <p:spPr>
          <a:xfrm>
            <a:off x="7479720" y="3886200"/>
            <a:ext cx="4294800" cy="54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3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A4457"/>
                </a:solidFill>
                <a:latin typeface="Calibri"/>
                <a:ea typeface="Calibri"/>
                <a:cs typeface="Calibri"/>
                <a:sym typeface="Calibri"/>
              </a:rPr>
              <a:t>pg_dump wächst linear mit der DB-Größe, keine inkrementellen Backups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3" name="Google Shape;573;p22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132320" y="4744080"/>
            <a:ext cx="234720" cy="234720"/>
          </a:xfrm>
          <a:prstGeom prst="rect">
            <a:avLst/>
          </a:prstGeom>
          <a:noFill/>
          <a:ln>
            <a:noFill/>
          </a:ln>
        </p:spPr>
      </p:pic>
      <p:sp>
        <p:nvSpPr>
          <p:cNvPr id="574" name="Google Shape;574;p22"/>
          <p:cNvSpPr/>
          <p:nvPr/>
        </p:nvSpPr>
        <p:spPr>
          <a:xfrm>
            <a:off x="7479720" y="4599360"/>
            <a:ext cx="4294800" cy="54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3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A4457"/>
                </a:solidFill>
                <a:latin typeface="Calibri"/>
                <a:ea typeface="Calibri"/>
                <a:cs typeface="Calibri"/>
                <a:sym typeface="Calibri"/>
              </a:rPr>
              <a:t>pgBackRest: native Verschlüsselung, Kompression &amp; Retention-Verwaltung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2"/>
          <p:cNvSpPr/>
          <p:nvPr/>
        </p:nvSpPr>
        <p:spPr>
          <a:xfrm>
            <a:off x="457200" y="6528960"/>
            <a:ext cx="7312320" cy="25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FH_MA Modernisierung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2"/>
          <p:cNvSpPr/>
          <p:nvPr/>
        </p:nvSpPr>
        <p:spPr>
          <a:xfrm>
            <a:off x="11368800" y="6528960"/>
            <a:ext cx="362880" cy="25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23"/>
          <p:cNvSpPr/>
          <p:nvPr/>
        </p:nvSpPr>
        <p:spPr>
          <a:xfrm>
            <a:off x="457200" y="384120"/>
            <a:ext cx="309900" cy="678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0000" tIns="23750" rIns="90000" bIns="237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23"/>
          <p:cNvSpPr/>
          <p:nvPr/>
        </p:nvSpPr>
        <p:spPr>
          <a:xfrm>
            <a:off x="457200" y="521280"/>
            <a:ext cx="309900" cy="678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txBody>
          <a:bodyPr spcFirstLastPara="1" wrap="square" lIns="90000" tIns="23750" rIns="90000" bIns="237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23"/>
          <p:cNvSpPr/>
          <p:nvPr/>
        </p:nvSpPr>
        <p:spPr>
          <a:xfrm>
            <a:off x="457200" y="658440"/>
            <a:ext cx="309900" cy="678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0000" tIns="23750" rIns="90000" bIns="237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3"/>
          <p:cNvSpPr/>
          <p:nvPr/>
        </p:nvSpPr>
        <p:spPr>
          <a:xfrm>
            <a:off x="960120" y="429840"/>
            <a:ext cx="8228400" cy="2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ADR-00</a:t>
            </a:r>
            <a:r>
              <a:rPr lang="en-US" sz="1250" b="1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lang="en-US" sz="1250" b="1" i="0" u="none" strike="noStrike" cap="non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 · ARCHITEKTURENTSCHEIDUNG</a:t>
            </a:r>
            <a:endParaRPr sz="12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3"/>
          <p:cNvSpPr/>
          <p:nvPr/>
        </p:nvSpPr>
        <p:spPr>
          <a:xfrm>
            <a:off x="457200" y="658440"/>
            <a:ext cx="10788900" cy="6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Authentifizierung &amp; RBAC: </a:t>
            </a:r>
            <a:r>
              <a:rPr lang="en-US" sz="3000" b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Session</a:t>
            </a: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-</a:t>
            </a:r>
            <a:r>
              <a:rPr lang="en-US" sz="3000" b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Based</a:t>
            </a: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 + BCrypt</a:t>
            </a:r>
            <a:endParaRPr sz="3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23"/>
          <p:cNvSpPr/>
          <p:nvPr/>
        </p:nvSpPr>
        <p:spPr>
          <a:xfrm>
            <a:off x="457200" y="6528960"/>
            <a:ext cx="7314000" cy="2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FH_MA Modernisierung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3"/>
          <p:cNvSpPr/>
          <p:nvPr/>
        </p:nvSpPr>
        <p:spPr>
          <a:xfrm>
            <a:off x="11368800" y="6528960"/>
            <a:ext cx="364800" cy="2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3"/>
          <p:cNvSpPr/>
          <p:nvPr/>
        </p:nvSpPr>
        <p:spPr>
          <a:xfrm>
            <a:off x="6309350" y="1508750"/>
            <a:ext cx="5394000" cy="2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Warum </a:t>
            </a:r>
            <a:r>
              <a:rPr lang="en-US" sz="2000" b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Session Based Auth</a:t>
            </a:r>
            <a:r>
              <a:rPr lang="en-US" sz="20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0" name="Google Shape;590;p2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09350" y="2183362"/>
            <a:ext cx="254880" cy="257198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23"/>
          <p:cNvSpPr/>
          <p:nvPr/>
        </p:nvSpPr>
        <p:spPr>
          <a:xfrm>
            <a:off x="6656750" y="2173069"/>
            <a:ext cx="50280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Sicherheit (NFR-1)</a:t>
            </a:r>
            <a:endParaRPr sz="1300" b="1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3"/>
          <p:cNvSpPr/>
          <p:nvPr/>
        </p:nvSpPr>
        <p:spPr>
          <a:xfrm>
            <a:off x="6656750" y="2412830"/>
            <a:ext cx="5028000" cy="3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11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Hoch durch BCrypt-Hashing und verschlüsselte HTTPS-Verbindung; erfüllt DSGVO-Anforderungen für sensible Daten.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3" name="Google Shape;593;p2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09350" y="2903008"/>
            <a:ext cx="254880" cy="257198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23"/>
          <p:cNvSpPr/>
          <p:nvPr/>
        </p:nvSpPr>
        <p:spPr>
          <a:xfrm>
            <a:off x="6656750" y="2880768"/>
            <a:ext cx="50280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Implementierungsaufwand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3"/>
          <p:cNvSpPr/>
          <p:nvPr/>
        </p:nvSpPr>
        <p:spPr>
          <a:xfrm>
            <a:off x="6656750" y="3096997"/>
            <a:ext cx="5028000" cy="3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11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Gering; Session-Based Auth ist einfach zu implementieren dank Spring Boot Security.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6" name="Google Shape;596;p2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09350" y="3622655"/>
            <a:ext cx="254880" cy="257198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p23"/>
          <p:cNvSpPr/>
          <p:nvPr/>
        </p:nvSpPr>
        <p:spPr>
          <a:xfrm>
            <a:off x="6656750" y="3600415"/>
            <a:ext cx="50280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Komplexität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3"/>
          <p:cNvSpPr/>
          <p:nvPr/>
        </p:nvSpPr>
        <p:spPr>
          <a:xfrm>
            <a:off x="6656750" y="3840539"/>
            <a:ext cx="5028000" cy="3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21157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Niedrig; Da das System ausschließlich lokal genutzt wird, entfällt der Overhead einer aufwendigen Token-Verwaltung (z.B. JWT Refresh-Tokens).</a:t>
            </a:r>
            <a:endParaRPr sz="1100">
              <a:solidFill>
                <a:srgbClr val="6B76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9" name="Google Shape;599;p2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09350" y="4342665"/>
            <a:ext cx="254880" cy="257198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p23"/>
          <p:cNvSpPr/>
          <p:nvPr/>
        </p:nvSpPr>
        <p:spPr>
          <a:xfrm>
            <a:off x="6656750" y="4296529"/>
            <a:ext cx="50280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Anpassbarkeit / Rollen (FR-1.2)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23"/>
          <p:cNvSpPr/>
          <p:nvPr/>
        </p:nvSpPr>
        <p:spPr>
          <a:xfrm>
            <a:off x="6656750" y="4536290"/>
            <a:ext cx="5028000" cy="3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21157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Zweckmäßig für zwei definierte Rollen (ADMIN, SACHBEARBEITUNG); ausreichend für den kleinen Nutzerkreis (Vereinsmitglieder).</a:t>
            </a:r>
            <a:endParaRPr sz="1100">
              <a:solidFill>
                <a:srgbClr val="6B76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2" name="Google Shape;602;p2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18650" y="5108840"/>
            <a:ext cx="254880" cy="257198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23"/>
          <p:cNvSpPr/>
          <p:nvPr/>
        </p:nvSpPr>
        <p:spPr>
          <a:xfrm>
            <a:off x="6666050" y="5098547"/>
            <a:ext cx="50280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Architektur-Konformität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23"/>
          <p:cNvSpPr/>
          <p:nvPr/>
        </p:nvSpPr>
        <p:spPr>
          <a:xfrm>
            <a:off x="6666050" y="5302465"/>
            <a:ext cx="5028000" cy="3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11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Passt ideal zur On-Premises-Strategie (ADR-006) und zur 3-Tier-Architektur (ADR-001).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5" name="Google Shape;605;p23" title="mermaid-diagram-178453412126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7100" y="1449840"/>
            <a:ext cx="4835306" cy="4926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24"/>
          <p:cNvSpPr/>
          <p:nvPr/>
        </p:nvSpPr>
        <p:spPr>
          <a:xfrm>
            <a:off x="457200" y="384120"/>
            <a:ext cx="308160" cy="65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0000" tIns="23750" rIns="90000" bIns="237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24"/>
          <p:cNvSpPr/>
          <p:nvPr/>
        </p:nvSpPr>
        <p:spPr>
          <a:xfrm>
            <a:off x="457200" y="521280"/>
            <a:ext cx="308160" cy="658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txBody>
          <a:bodyPr spcFirstLastPara="1" wrap="square" lIns="90000" tIns="23750" rIns="90000" bIns="237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24"/>
          <p:cNvSpPr/>
          <p:nvPr/>
        </p:nvSpPr>
        <p:spPr>
          <a:xfrm>
            <a:off x="457200" y="658440"/>
            <a:ext cx="308160" cy="658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0000" tIns="23750" rIns="90000" bIns="237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24"/>
          <p:cNvSpPr/>
          <p:nvPr/>
        </p:nvSpPr>
        <p:spPr>
          <a:xfrm>
            <a:off x="960120" y="429840"/>
            <a:ext cx="8226720" cy="27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ADR-006 · ARCHITEKTURENTSCHEIDUNG</a:t>
            </a:r>
            <a:endParaRPr sz="12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24"/>
          <p:cNvSpPr/>
          <p:nvPr/>
        </p:nvSpPr>
        <p:spPr>
          <a:xfrm>
            <a:off x="457200" y="766440"/>
            <a:ext cx="10787040" cy="6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Deployment: On-Premises statt Cloud</a:t>
            </a:r>
            <a:endParaRPr sz="3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24"/>
          <p:cNvSpPr/>
          <p:nvPr/>
        </p:nvSpPr>
        <p:spPr>
          <a:xfrm>
            <a:off x="548640" y="1554480"/>
            <a:ext cx="6306480" cy="4388040"/>
          </a:xfrm>
          <a:prstGeom prst="rect">
            <a:avLst/>
          </a:prstGeom>
          <a:solidFill>
            <a:srgbClr val="FFFFFF"/>
          </a:solidFill>
          <a:ln w="15875" cap="flat" cmpd="sng">
            <a:solidFill>
              <a:srgbClr val="E1E7F0"/>
            </a:solidFill>
            <a:prstDash val="solid"/>
            <a:round/>
            <a:headEnd type="none" w="sm" len="sm"/>
            <a:tailEnd type="none" w="sm" len="sm"/>
          </a:ln>
          <a:effectLst>
            <a:outerShdw blurRad="63360" dist="25455" dir="8100000" algn="bl" rotWithShape="0">
              <a:srgbClr val="1E2761">
                <a:alpha val="7843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4"/>
          <p:cNvSpPr/>
          <p:nvPr/>
        </p:nvSpPr>
        <p:spPr>
          <a:xfrm>
            <a:off x="822960" y="1737360"/>
            <a:ext cx="5757840" cy="27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Vereinsbüro – physisch geschützter Raum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24"/>
          <p:cNvSpPr/>
          <p:nvPr/>
        </p:nvSpPr>
        <p:spPr>
          <a:xfrm>
            <a:off x="822960" y="2148840"/>
            <a:ext cx="5757840" cy="246600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101520" dist="37674" dir="8100000" algn="bl" rotWithShape="0">
              <a:srgbClr val="1E2761">
                <a:alpha val="12157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24"/>
          <p:cNvSpPr/>
          <p:nvPr/>
        </p:nvSpPr>
        <p:spPr>
          <a:xfrm>
            <a:off x="1005840" y="2267640"/>
            <a:ext cx="5392080" cy="27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Server mit Containern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0" name="Google Shape;620;p2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1560" y="2678040"/>
            <a:ext cx="271440" cy="271440"/>
          </a:xfrm>
          <a:prstGeom prst="rect">
            <a:avLst/>
          </a:prstGeom>
          <a:noFill/>
          <a:ln>
            <a:noFill/>
          </a:ln>
        </p:spPr>
      </p:pic>
      <p:sp>
        <p:nvSpPr>
          <p:cNvPr id="621" name="Google Shape;621;p24"/>
          <p:cNvSpPr/>
          <p:nvPr/>
        </p:nvSpPr>
        <p:spPr>
          <a:xfrm>
            <a:off x="1463040" y="2641320"/>
            <a:ext cx="4934880" cy="344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Spring Boot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2" name="Google Shape;622;p2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560" y="3245040"/>
            <a:ext cx="271440" cy="271440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24"/>
          <p:cNvSpPr/>
          <p:nvPr/>
        </p:nvSpPr>
        <p:spPr>
          <a:xfrm>
            <a:off x="1463040" y="3208320"/>
            <a:ext cx="4934880" cy="344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PostgreSQL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4" name="Google Shape;624;p2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51560" y="3812040"/>
            <a:ext cx="271440" cy="27144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24"/>
          <p:cNvSpPr/>
          <p:nvPr/>
        </p:nvSpPr>
        <p:spPr>
          <a:xfrm>
            <a:off x="1463040" y="3775320"/>
            <a:ext cx="4934880" cy="344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Verschlüsselte Backups (lokal + USB)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6" name="Google Shape;626;p24"/>
          <p:cNvCxnSpPr/>
          <p:nvPr/>
        </p:nvCxnSpPr>
        <p:spPr>
          <a:xfrm flipH="1">
            <a:off x="3676680" y="4636440"/>
            <a:ext cx="9360" cy="666720"/>
          </a:xfrm>
          <a:prstGeom prst="straightConnector1">
            <a:avLst/>
          </a:prstGeom>
          <a:noFill/>
          <a:ln w="25400" cap="flat" cmpd="sng">
            <a:solidFill>
              <a:srgbClr val="1E276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627" name="Google Shape;627;p24"/>
          <p:cNvSpPr/>
          <p:nvPr/>
        </p:nvSpPr>
        <p:spPr>
          <a:xfrm rot="155400">
            <a:off x="2466720" y="4780440"/>
            <a:ext cx="2466000" cy="216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24"/>
          <p:cNvSpPr/>
          <p:nvPr/>
        </p:nvSpPr>
        <p:spPr>
          <a:xfrm>
            <a:off x="822960" y="4782240"/>
            <a:ext cx="5757840" cy="21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1" u="none" strike="noStrike" cap="non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LAN – kein Internetzugang nötig</a:t>
            </a: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24"/>
          <p:cNvSpPr/>
          <p:nvPr/>
        </p:nvSpPr>
        <p:spPr>
          <a:xfrm>
            <a:off x="2240275" y="5303524"/>
            <a:ext cx="2923200" cy="5001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24"/>
          <p:cNvSpPr/>
          <p:nvPr/>
        </p:nvSpPr>
        <p:spPr>
          <a:xfrm>
            <a:off x="2377440" y="5373355"/>
            <a:ext cx="363000" cy="363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1" name="Google Shape;631;p24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424960" y="5420875"/>
            <a:ext cx="267840" cy="26784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24"/>
          <p:cNvSpPr/>
          <p:nvPr/>
        </p:nvSpPr>
        <p:spPr>
          <a:xfrm>
            <a:off x="2880350" y="5303525"/>
            <a:ext cx="21918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Clients (Browser im LAN)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24"/>
          <p:cNvSpPr/>
          <p:nvPr/>
        </p:nvSpPr>
        <p:spPr>
          <a:xfrm>
            <a:off x="7132320" y="1878480"/>
            <a:ext cx="4569120" cy="27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Warum kein Cloud-Hosting?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4" name="Google Shape;634;p24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132320" y="2424240"/>
            <a:ext cx="234720" cy="234720"/>
          </a:xfrm>
          <a:prstGeom prst="rect">
            <a:avLst/>
          </a:prstGeom>
          <a:noFill/>
          <a:ln>
            <a:noFill/>
          </a:ln>
        </p:spPr>
      </p:pic>
      <p:sp>
        <p:nvSpPr>
          <p:cNvPr id="635" name="Google Shape;635;p24"/>
          <p:cNvSpPr/>
          <p:nvPr/>
        </p:nvSpPr>
        <p:spPr>
          <a:xfrm>
            <a:off x="7479720" y="2303415"/>
            <a:ext cx="42948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82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A4457"/>
                </a:solidFill>
                <a:latin typeface="Calibri"/>
                <a:ea typeface="Calibri"/>
                <a:cs typeface="Calibri"/>
                <a:sym typeface="Calibri"/>
              </a:rPr>
              <a:t>Höchst sensible Daten (Art. 9 DSGVO) – physische Datenhoheit bleibt beim Verein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6" name="Google Shape;636;p24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132320" y="3146040"/>
            <a:ext cx="234720" cy="234720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24"/>
          <p:cNvSpPr/>
          <p:nvPr/>
        </p:nvSpPr>
        <p:spPr>
          <a:xfrm>
            <a:off x="7479720" y="3001320"/>
            <a:ext cx="4294800" cy="50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82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A4457"/>
                </a:solidFill>
                <a:latin typeface="Calibri"/>
                <a:ea typeface="Calibri"/>
                <a:cs typeface="Calibri"/>
                <a:sym typeface="Calibri"/>
              </a:rPr>
              <a:t>Kein Auftragsverarbeiter, kein Drittlandtransfer, keine AVV nötig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8" name="Google Shape;638;p24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132320" y="3831840"/>
            <a:ext cx="234720" cy="23472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24"/>
          <p:cNvSpPr/>
          <p:nvPr/>
        </p:nvSpPr>
        <p:spPr>
          <a:xfrm>
            <a:off x="7479720" y="3687120"/>
            <a:ext cx="4294800" cy="50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82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A4457"/>
                </a:solidFill>
                <a:latin typeface="Calibri"/>
                <a:ea typeface="Calibri"/>
                <a:cs typeface="Calibri"/>
                <a:sym typeface="Calibri"/>
              </a:rPr>
              <a:t>Kein Internet-Zugriffspunkt → minimale Angriffsfläche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0" name="Google Shape;640;p24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132320" y="4517640"/>
            <a:ext cx="234720" cy="234720"/>
          </a:xfrm>
          <a:prstGeom prst="rect">
            <a:avLst/>
          </a:prstGeom>
          <a:noFill/>
          <a:ln>
            <a:noFill/>
          </a:ln>
        </p:spPr>
      </p:pic>
      <p:sp>
        <p:nvSpPr>
          <p:cNvPr id="641" name="Google Shape;641;p24"/>
          <p:cNvSpPr/>
          <p:nvPr/>
        </p:nvSpPr>
        <p:spPr>
          <a:xfrm>
            <a:off x="7479720" y="4372920"/>
            <a:ext cx="4294800" cy="50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82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A4457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-US" sz="1100" b="0" i="0" u="none" strike="noStrike" cap="none">
                <a:solidFill>
                  <a:srgbClr val="3A4457"/>
                </a:solidFill>
                <a:latin typeface="Calibri"/>
                <a:ea typeface="Calibri"/>
                <a:cs typeface="Calibri"/>
                <a:sym typeface="Calibri"/>
              </a:rPr>
              <a:t>leiner Verein ohne IT-Personal – keine laufenden Cloud-Kosten tragbar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24"/>
          <p:cNvSpPr/>
          <p:nvPr/>
        </p:nvSpPr>
        <p:spPr>
          <a:xfrm>
            <a:off x="457200" y="6528960"/>
            <a:ext cx="7312320" cy="25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FH_MA Modernisierung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24"/>
          <p:cNvSpPr/>
          <p:nvPr/>
        </p:nvSpPr>
        <p:spPr>
          <a:xfrm>
            <a:off x="11368800" y="6528960"/>
            <a:ext cx="362880" cy="25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25"/>
          <p:cNvSpPr/>
          <p:nvPr/>
        </p:nvSpPr>
        <p:spPr>
          <a:xfrm>
            <a:off x="457200" y="384120"/>
            <a:ext cx="309900" cy="678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0000" tIns="23750" rIns="90000" bIns="237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25"/>
          <p:cNvSpPr/>
          <p:nvPr/>
        </p:nvSpPr>
        <p:spPr>
          <a:xfrm>
            <a:off x="457200" y="521280"/>
            <a:ext cx="309900" cy="678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txBody>
          <a:bodyPr spcFirstLastPara="1" wrap="square" lIns="90000" tIns="23750" rIns="90000" bIns="237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25"/>
          <p:cNvSpPr/>
          <p:nvPr/>
        </p:nvSpPr>
        <p:spPr>
          <a:xfrm>
            <a:off x="457200" y="658440"/>
            <a:ext cx="309900" cy="678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0000" tIns="23750" rIns="90000" bIns="237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25"/>
          <p:cNvSpPr/>
          <p:nvPr/>
        </p:nvSpPr>
        <p:spPr>
          <a:xfrm>
            <a:off x="960120" y="429840"/>
            <a:ext cx="8228400" cy="2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FINALE ARCHITEKTUR</a:t>
            </a:r>
            <a:endParaRPr sz="12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25"/>
          <p:cNvSpPr/>
          <p:nvPr/>
        </p:nvSpPr>
        <p:spPr>
          <a:xfrm>
            <a:off x="457200" y="658440"/>
            <a:ext cx="10788900" cy="6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Komponenten &amp; Beziehungen im Überblick</a:t>
            </a:r>
            <a:endParaRPr sz="3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25"/>
          <p:cNvSpPr/>
          <p:nvPr/>
        </p:nvSpPr>
        <p:spPr>
          <a:xfrm>
            <a:off x="457200" y="6528960"/>
            <a:ext cx="7314000" cy="2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FH_MA Modernisierung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25"/>
          <p:cNvSpPr/>
          <p:nvPr/>
        </p:nvSpPr>
        <p:spPr>
          <a:xfrm>
            <a:off x="11368800" y="6528960"/>
            <a:ext cx="364800" cy="2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6" name="Google Shape;65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55078"/>
            <a:ext cx="11887201" cy="4916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26"/>
          <p:cNvSpPr/>
          <p:nvPr/>
        </p:nvSpPr>
        <p:spPr>
          <a:xfrm>
            <a:off x="457200" y="383760"/>
            <a:ext cx="308160" cy="66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26"/>
          <p:cNvSpPr/>
          <p:nvPr/>
        </p:nvSpPr>
        <p:spPr>
          <a:xfrm>
            <a:off x="457200" y="520920"/>
            <a:ext cx="308160" cy="662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26"/>
          <p:cNvSpPr/>
          <p:nvPr/>
        </p:nvSpPr>
        <p:spPr>
          <a:xfrm>
            <a:off x="457200" y="658080"/>
            <a:ext cx="308160" cy="662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26"/>
          <p:cNvSpPr/>
          <p:nvPr/>
        </p:nvSpPr>
        <p:spPr>
          <a:xfrm>
            <a:off x="960120" y="429480"/>
            <a:ext cx="8226360" cy="271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FAZIT &amp; SYSTEM-VERGLEICH: BUILD-METRIKEN</a:t>
            </a:r>
            <a:endParaRPr sz="12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26"/>
          <p:cNvSpPr/>
          <p:nvPr/>
        </p:nvSpPr>
        <p:spPr>
          <a:xfrm>
            <a:off x="457200" y="658080"/>
            <a:ext cx="10786680" cy="63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IST-Zustand (Altes System) vs. Neuer Prototyp</a:t>
            </a:r>
            <a:endParaRPr sz="3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70" name="Google Shape;670;p26"/>
          <p:cNvGrpSpPr/>
          <p:nvPr/>
        </p:nvGrpSpPr>
        <p:grpSpPr>
          <a:xfrm>
            <a:off x="457200" y="1380960"/>
            <a:ext cx="11276280" cy="379440"/>
            <a:chOff x="457200" y="1380960"/>
            <a:chExt cx="11276280" cy="379440"/>
          </a:xfrm>
        </p:grpSpPr>
        <p:sp>
          <p:nvSpPr>
            <p:cNvPr id="671" name="Google Shape;671;p26"/>
            <p:cNvSpPr/>
            <p:nvPr/>
          </p:nvSpPr>
          <p:spPr>
            <a:xfrm>
              <a:off x="457200" y="1380960"/>
              <a:ext cx="2665440" cy="379440"/>
            </a:xfrm>
            <a:prstGeom prst="rect">
              <a:avLst/>
            </a:prstGeom>
            <a:solidFill>
              <a:srgbClr val="1E276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2" name="Google Shape;672;p26"/>
            <p:cNvSpPr/>
            <p:nvPr/>
          </p:nvSpPr>
          <p:spPr>
            <a:xfrm>
              <a:off x="552600" y="1380960"/>
              <a:ext cx="2475000" cy="3794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Metrik (Werkzeug)</a:t>
              </a:r>
              <a:endParaRPr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3" name="Google Shape;673;p26"/>
            <p:cNvSpPr/>
            <p:nvPr/>
          </p:nvSpPr>
          <p:spPr>
            <a:xfrm>
              <a:off x="3143160" y="1380960"/>
              <a:ext cx="2951640" cy="379440"/>
            </a:xfrm>
            <a:prstGeom prst="rect">
              <a:avLst/>
            </a:prstGeom>
            <a:solidFill>
              <a:srgbClr val="1E276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4" name="Google Shape;674;p26"/>
            <p:cNvSpPr/>
            <p:nvPr/>
          </p:nvSpPr>
          <p:spPr>
            <a:xfrm>
              <a:off x="3238560" y="1380960"/>
              <a:ext cx="2760840" cy="3794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IST-Zustand (SOLL)</a:t>
              </a:r>
              <a:endParaRPr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" name="Google Shape;675;p26"/>
            <p:cNvSpPr/>
            <p:nvPr/>
          </p:nvSpPr>
          <p:spPr>
            <a:xfrm>
              <a:off x="6114960" y="1380960"/>
              <a:ext cx="1713240" cy="379440"/>
            </a:xfrm>
            <a:prstGeom prst="rect">
              <a:avLst/>
            </a:prstGeom>
            <a:solidFill>
              <a:srgbClr val="1E276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6" name="Google Shape;676;p26"/>
            <p:cNvSpPr/>
            <p:nvPr/>
          </p:nvSpPr>
          <p:spPr>
            <a:xfrm>
              <a:off x="6114960" y="1380960"/>
              <a:ext cx="1713240" cy="3794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Neuer Prototyp (SOLL)</a:t>
              </a:r>
              <a:endParaRPr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7" name="Google Shape;677;p26"/>
            <p:cNvSpPr/>
            <p:nvPr/>
          </p:nvSpPr>
          <p:spPr>
            <a:xfrm>
              <a:off x="7848720" y="1380960"/>
              <a:ext cx="3884760" cy="379440"/>
            </a:xfrm>
            <a:prstGeom prst="rect">
              <a:avLst/>
            </a:prstGeom>
            <a:solidFill>
              <a:srgbClr val="1E276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8" name="Google Shape;678;p26"/>
            <p:cNvSpPr/>
            <p:nvPr/>
          </p:nvSpPr>
          <p:spPr>
            <a:xfrm>
              <a:off x="7943760" y="1380960"/>
              <a:ext cx="3694320" cy="3794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Zielsetzung</a:t>
              </a:r>
              <a:endParaRPr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79" name="Google Shape;679;p26"/>
          <p:cNvGrpSpPr/>
          <p:nvPr/>
        </p:nvGrpSpPr>
        <p:grpSpPr>
          <a:xfrm>
            <a:off x="457200" y="1781280"/>
            <a:ext cx="11276280" cy="398880"/>
            <a:chOff x="457200" y="1781280"/>
            <a:chExt cx="11276280" cy="398880"/>
          </a:xfrm>
        </p:grpSpPr>
        <p:sp>
          <p:nvSpPr>
            <p:cNvPr id="680" name="Google Shape;680;p26"/>
            <p:cNvSpPr/>
            <p:nvPr/>
          </p:nvSpPr>
          <p:spPr>
            <a:xfrm>
              <a:off x="457200" y="1781280"/>
              <a:ext cx="11276280" cy="3988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1" name="Google Shape;681;p26"/>
            <p:cNvSpPr/>
            <p:nvPr/>
          </p:nvSpPr>
          <p:spPr>
            <a:xfrm>
              <a:off x="552600" y="1781280"/>
              <a:ext cx="2475000" cy="398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 i="0" u="none" strike="noStrike" cap="none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LCOM (CK)</a:t>
              </a:r>
              <a:endPara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2" name="Google Shape;682;p26"/>
            <p:cNvSpPr/>
            <p:nvPr/>
          </p:nvSpPr>
          <p:spPr>
            <a:xfrm>
              <a:off x="3238560" y="1781280"/>
              <a:ext cx="2760840" cy="398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u="none" strike="noStrike" cap="none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&gt; 10 Klassen kritisch (≥ 30)</a:t>
              </a:r>
              <a:endPara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3" name="Google Shape;683;p26"/>
            <p:cNvSpPr/>
            <p:nvPr/>
          </p:nvSpPr>
          <p:spPr>
            <a:xfrm>
              <a:off x="6210360" y="1781280"/>
              <a:ext cx="1617840" cy="398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r>
                <a:rPr lang="en-US" sz="1100" b="0" i="0" u="none" strike="noStrike" cap="none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 Klassen kritisch (≥ 30)</a:t>
              </a:r>
              <a:endPara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4" name="Google Shape;684;p26"/>
            <p:cNvSpPr/>
            <p:nvPr/>
          </p:nvSpPr>
          <p:spPr>
            <a:xfrm>
              <a:off x="7943760" y="1781280"/>
              <a:ext cx="3694320" cy="398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u="none" strike="noStrike" cap="none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Verbesserung der Kohäsion</a:t>
              </a:r>
              <a:endPara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85" name="Google Shape;685;p26"/>
          <p:cNvGrpSpPr/>
          <p:nvPr/>
        </p:nvGrpSpPr>
        <p:grpSpPr>
          <a:xfrm>
            <a:off x="457200" y="2200320"/>
            <a:ext cx="11276280" cy="398880"/>
            <a:chOff x="457200" y="2200320"/>
            <a:chExt cx="11276280" cy="398880"/>
          </a:xfrm>
        </p:grpSpPr>
        <p:sp>
          <p:nvSpPr>
            <p:cNvPr id="686" name="Google Shape;686;p26"/>
            <p:cNvSpPr/>
            <p:nvPr/>
          </p:nvSpPr>
          <p:spPr>
            <a:xfrm>
              <a:off x="457200" y="2200320"/>
              <a:ext cx="11276280" cy="398880"/>
            </a:xfrm>
            <a:prstGeom prst="rect">
              <a:avLst/>
            </a:prstGeom>
            <a:solidFill>
              <a:srgbClr val="EBF0F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7" name="Google Shape;687;p26"/>
            <p:cNvSpPr/>
            <p:nvPr/>
          </p:nvSpPr>
          <p:spPr>
            <a:xfrm>
              <a:off x="552600" y="2200320"/>
              <a:ext cx="2475000" cy="398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 i="0" u="none" strike="noStrike" cap="none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CBO (CK)</a:t>
              </a:r>
              <a:endPara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8" name="Google Shape;688;p26"/>
            <p:cNvSpPr/>
            <p:nvPr/>
          </p:nvSpPr>
          <p:spPr>
            <a:xfrm>
              <a:off x="3238560" y="2200320"/>
              <a:ext cx="2760840" cy="398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u="none" strike="noStrike" cap="none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&gt; 50 Klassen kritisch (≥ 5)</a:t>
              </a:r>
              <a:endPara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9" name="Google Shape;689;p26"/>
            <p:cNvSpPr/>
            <p:nvPr/>
          </p:nvSpPr>
          <p:spPr>
            <a:xfrm>
              <a:off x="6210360" y="2200320"/>
              <a:ext cx="1617840" cy="398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59</a:t>
              </a:r>
              <a:r>
                <a:rPr lang="en-US" sz="1100" b="0" i="0" u="none" strike="noStrike" cap="none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 Klassen kritisch (≥ 5)</a:t>
              </a:r>
              <a:endPara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0" name="Google Shape;690;p26"/>
            <p:cNvSpPr/>
            <p:nvPr/>
          </p:nvSpPr>
          <p:spPr>
            <a:xfrm>
              <a:off x="7943760" y="2200320"/>
              <a:ext cx="3694320" cy="398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u="none" strike="noStrike" cap="none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Reduktion der Kopplung</a:t>
              </a:r>
              <a:endPara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91" name="Google Shape;691;p26"/>
          <p:cNvGrpSpPr/>
          <p:nvPr/>
        </p:nvGrpSpPr>
        <p:grpSpPr>
          <a:xfrm>
            <a:off x="457200" y="2619360"/>
            <a:ext cx="11276280" cy="398880"/>
            <a:chOff x="457200" y="2619360"/>
            <a:chExt cx="11276280" cy="398880"/>
          </a:xfrm>
        </p:grpSpPr>
        <p:sp>
          <p:nvSpPr>
            <p:cNvPr id="692" name="Google Shape;692;p26"/>
            <p:cNvSpPr/>
            <p:nvPr/>
          </p:nvSpPr>
          <p:spPr>
            <a:xfrm>
              <a:off x="457200" y="2619360"/>
              <a:ext cx="11276280" cy="3988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3" name="Google Shape;693;p26"/>
            <p:cNvSpPr/>
            <p:nvPr/>
          </p:nvSpPr>
          <p:spPr>
            <a:xfrm>
              <a:off x="552600" y="2619360"/>
              <a:ext cx="2475000" cy="398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 i="0" u="none" strike="noStrike" cap="none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RFC (CK)</a:t>
              </a:r>
              <a:endPara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4" name="Google Shape;694;p26"/>
            <p:cNvSpPr/>
            <p:nvPr/>
          </p:nvSpPr>
          <p:spPr>
            <a:xfrm>
              <a:off x="3238560" y="2619360"/>
              <a:ext cx="2760840" cy="398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u="none" strike="noStrike" cap="none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25 Klassen kritisch (&gt; 30)</a:t>
              </a:r>
              <a:endPara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5" name="Google Shape;695;p26"/>
            <p:cNvSpPr/>
            <p:nvPr/>
          </p:nvSpPr>
          <p:spPr>
            <a:xfrm>
              <a:off x="6210360" y="2619360"/>
              <a:ext cx="1617840" cy="398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15</a:t>
              </a:r>
              <a:r>
                <a:rPr lang="en-US" sz="1100" b="0" i="0" u="none" strike="noStrike" cap="none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 Klassen kritisch (&gt; 30)</a:t>
              </a:r>
              <a:endPara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6" name="Google Shape;696;p26"/>
            <p:cNvSpPr/>
            <p:nvPr/>
          </p:nvSpPr>
          <p:spPr>
            <a:xfrm>
              <a:off x="7943760" y="2619360"/>
              <a:ext cx="3694320" cy="398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u="none" strike="noStrike" cap="none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Klarere Verantwortlichkeiten</a:t>
              </a:r>
              <a:endPara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97" name="Google Shape;697;p26"/>
          <p:cNvGrpSpPr/>
          <p:nvPr/>
        </p:nvGrpSpPr>
        <p:grpSpPr>
          <a:xfrm>
            <a:off x="457200" y="3038400"/>
            <a:ext cx="11276280" cy="398880"/>
            <a:chOff x="457200" y="3038400"/>
            <a:chExt cx="11276280" cy="398880"/>
          </a:xfrm>
        </p:grpSpPr>
        <p:sp>
          <p:nvSpPr>
            <p:cNvPr id="698" name="Google Shape;698;p26"/>
            <p:cNvSpPr/>
            <p:nvPr/>
          </p:nvSpPr>
          <p:spPr>
            <a:xfrm>
              <a:off x="457200" y="3038400"/>
              <a:ext cx="11276280" cy="398880"/>
            </a:xfrm>
            <a:prstGeom prst="rect">
              <a:avLst/>
            </a:prstGeom>
            <a:solidFill>
              <a:srgbClr val="EBF0F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9" name="Google Shape;699;p26"/>
            <p:cNvSpPr/>
            <p:nvPr/>
          </p:nvSpPr>
          <p:spPr>
            <a:xfrm>
              <a:off x="552600" y="3038400"/>
              <a:ext cx="2475000" cy="398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 i="0" u="none" strike="noStrike" cap="none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Cyclomatic Complexity (CK)</a:t>
              </a:r>
              <a:endPara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0" name="Google Shape;700;p26"/>
            <p:cNvSpPr/>
            <p:nvPr/>
          </p:nvSpPr>
          <p:spPr>
            <a:xfrm>
              <a:off x="3238560" y="3038400"/>
              <a:ext cx="2760840" cy="398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u="none" strike="noStrike" cap="none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Gesamt 1.268 (viele &gt; 20)</a:t>
              </a:r>
              <a:endPara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1" name="Google Shape;701;p26"/>
            <p:cNvSpPr/>
            <p:nvPr/>
          </p:nvSpPr>
          <p:spPr>
            <a:xfrm>
              <a:off x="6210360" y="3038400"/>
              <a:ext cx="1617840" cy="398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u="none" strike="noStrike" cap="none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Gesamt </a:t>
              </a:r>
              <a:r>
                <a:rPr lang="en-US" sz="11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997 </a:t>
              </a:r>
              <a:r>
                <a:rPr lang="en-US" sz="1100" b="0" i="0" u="none" strike="noStrike" cap="none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 (</a:t>
              </a:r>
              <a:r>
                <a:rPr lang="en-US" sz="11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16</a:t>
              </a:r>
              <a:r>
                <a:rPr lang="en-US" sz="1100" b="0" i="0" u="none" strike="noStrike" cap="none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 &gt; 20)</a:t>
              </a:r>
              <a:endPara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2" name="Google Shape;702;p26"/>
            <p:cNvSpPr/>
            <p:nvPr/>
          </p:nvSpPr>
          <p:spPr>
            <a:xfrm>
              <a:off x="7943760" y="3038400"/>
              <a:ext cx="3694320" cy="398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u="none" strike="noStrike" cap="none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Reduktion der Komplexität</a:t>
              </a:r>
              <a:endPara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03" name="Google Shape;703;p26"/>
          <p:cNvGrpSpPr/>
          <p:nvPr/>
        </p:nvGrpSpPr>
        <p:grpSpPr>
          <a:xfrm>
            <a:off x="457200" y="3457440"/>
            <a:ext cx="11276280" cy="398880"/>
            <a:chOff x="457200" y="3457440"/>
            <a:chExt cx="11276280" cy="398880"/>
          </a:xfrm>
        </p:grpSpPr>
        <p:sp>
          <p:nvSpPr>
            <p:cNvPr id="704" name="Google Shape;704;p26"/>
            <p:cNvSpPr/>
            <p:nvPr/>
          </p:nvSpPr>
          <p:spPr>
            <a:xfrm>
              <a:off x="457200" y="3457440"/>
              <a:ext cx="11276280" cy="3988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5" name="Google Shape;705;p26"/>
            <p:cNvSpPr/>
            <p:nvPr/>
          </p:nvSpPr>
          <p:spPr>
            <a:xfrm>
              <a:off x="552600" y="3457440"/>
              <a:ext cx="2475000" cy="398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 i="0" u="none" strike="noStrike" cap="none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Maintainability (SonarQube)</a:t>
              </a:r>
              <a:endPara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6" name="Google Shape;706;p26"/>
            <p:cNvSpPr/>
            <p:nvPr/>
          </p:nvSpPr>
          <p:spPr>
            <a:xfrm>
              <a:off x="3238560" y="3457440"/>
              <a:ext cx="2760840" cy="398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u="none" strike="noStrike" cap="none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A (Gut)</a:t>
              </a:r>
              <a:endPara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7" name="Google Shape;707;p26"/>
            <p:cNvSpPr/>
            <p:nvPr/>
          </p:nvSpPr>
          <p:spPr>
            <a:xfrm>
              <a:off x="6210360" y="3457440"/>
              <a:ext cx="1617840" cy="398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u="none" strike="noStrike" cap="none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A (Gut)</a:t>
              </a:r>
              <a:endPara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8" name="Google Shape;708;p26"/>
            <p:cNvSpPr/>
            <p:nvPr/>
          </p:nvSpPr>
          <p:spPr>
            <a:xfrm>
              <a:off x="7943760" y="3457440"/>
              <a:ext cx="3694320" cy="398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u="none" strike="noStrike" cap="none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Rating beibehalten</a:t>
              </a:r>
              <a:endPara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09" name="Google Shape;709;p26"/>
          <p:cNvGrpSpPr/>
          <p:nvPr/>
        </p:nvGrpSpPr>
        <p:grpSpPr>
          <a:xfrm>
            <a:off x="457200" y="3876840"/>
            <a:ext cx="11276280" cy="398880"/>
            <a:chOff x="457200" y="3876840"/>
            <a:chExt cx="11276280" cy="398880"/>
          </a:xfrm>
        </p:grpSpPr>
        <p:sp>
          <p:nvSpPr>
            <p:cNvPr id="710" name="Google Shape;710;p26"/>
            <p:cNvSpPr/>
            <p:nvPr/>
          </p:nvSpPr>
          <p:spPr>
            <a:xfrm>
              <a:off x="457200" y="3876840"/>
              <a:ext cx="11276280" cy="398880"/>
            </a:xfrm>
            <a:prstGeom prst="rect">
              <a:avLst/>
            </a:prstGeom>
            <a:solidFill>
              <a:srgbClr val="EBF0F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1" name="Google Shape;711;p26"/>
            <p:cNvSpPr/>
            <p:nvPr/>
          </p:nvSpPr>
          <p:spPr>
            <a:xfrm>
              <a:off x="552600" y="3876840"/>
              <a:ext cx="2475000" cy="398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 i="0" u="none" strike="noStrike" cap="none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Security Rating (SonarQube)</a:t>
              </a:r>
              <a:endPara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2" name="Google Shape;712;p26"/>
            <p:cNvSpPr/>
            <p:nvPr/>
          </p:nvSpPr>
          <p:spPr>
            <a:xfrm>
              <a:off x="3238560" y="3876840"/>
              <a:ext cx="2760840" cy="398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 i="0" u="none" strike="noStrike" cap="none">
                  <a:solidFill>
                    <a:srgbClr val="D43F3F"/>
                  </a:solidFill>
                  <a:latin typeface="Calibri"/>
                  <a:ea typeface="Calibri"/>
                  <a:cs typeface="Calibri"/>
                  <a:sym typeface="Calibri"/>
                </a:rPr>
                <a:t>E (Kritisch)</a:t>
              </a:r>
              <a:endPara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3" name="Google Shape;713;p26"/>
            <p:cNvSpPr/>
            <p:nvPr/>
          </p:nvSpPr>
          <p:spPr>
            <a:xfrm>
              <a:off x="6210360" y="3876840"/>
              <a:ext cx="1617840" cy="398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A (Gut)</a:t>
              </a:r>
              <a:r>
                <a:rPr lang="en-US" sz="1100" b="0" i="0" u="none" strike="noStrike" cap="none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4" name="Google Shape;714;p26"/>
            <p:cNvSpPr/>
            <p:nvPr/>
          </p:nvSpPr>
          <p:spPr>
            <a:xfrm>
              <a:off x="7943760" y="3876840"/>
              <a:ext cx="3694320" cy="398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Rating beibehalten</a:t>
              </a:r>
              <a:endPara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15" name="Google Shape;715;p26"/>
          <p:cNvGrpSpPr/>
          <p:nvPr/>
        </p:nvGrpSpPr>
        <p:grpSpPr>
          <a:xfrm>
            <a:off x="457200" y="4295880"/>
            <a:ext cx="11276280" cy="398880"/>
            <a:chOff x="457200" y="4295880"/>
            <a:chExt cx="11276280" cy="398880"/>
          </a:xfrm>
        </p:grpSpPr>
        <p:sp>
          <p:nvSpPr>
            <p:cNvPr id="716" name="Google Shape;716;p26"/>
            <p:cNvSpPr/>
            <p:nvPr/>
          </p:nvSpPr>
          <p:spPr>
            <a:xfrm>
              <a:off x="457200" y="4295880"/>
              <a:ext cx="11276280" cy="3988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7" name="Google Shape;717;p26"/>
            <p:cNvSpPr/>
            <p:nvPr/>
          </p:nvSpPr>
          <p:spPr>
            <a:xfrm>
              <a:off x="552600" y="4295880"/>
              <a:ext cx="2475000" cy="398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 i="0" u="none" strike="noStrike" cap="none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Vulnerabilities (SonarQube)</a:t>
              </a:r>
              <a:endPara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8" name="Google Shape;718;p26"/>
            <p:cNvSpPr/>
            <p:nvPr/>
          </p:nvSpPr>
          <p:spPr>
            <a:xfrm>
              <a:off x="3238560" y="4295880"/>
              <a:ext cx="2760840" cy="398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 i="0" u="none" strike="noStrike" cap="none">
                  <a:solidFill>
                    <a:srgbClr val="D43F3F"/>
                  </a:solidFill>
                  <a:latin typeface="Calibri"/>
                  <a:ea typeface="Calibri"/>
                  <a:cs typeface="Calibri"/>
                  <a:sym typeface="Calibri"/>
                </a:rPr>
                <a:t>1 (Kritisch)</a:t>
              </a:r>
              <a:endPara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9" name="Google Shape;719;p26"/>
            <p:cNvSpPr/>
            <p:nvPr/>
          </p:nvSpPr>
          <p:spPr>
            <a:xfrm>
              <a:off x="6210360" y="4295880"/>
              <a:ext cx="1617840" cy="398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0" name="Google Shape;720;p26"/>
            <p:cNvSpPr/>
            <p:nvPr/>
          </p:nvSpPr>
          <p:spPr>
            <a:xfrm>
              <a:off x="7943760" y="4295880"/>
              <a:ext cx="3694320" cy="398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Rating beibehalten</a:t>
              </a:r>
              <a:endPara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1" name="Google Shape;721;p26"/>
          <p:cNvGrpSpPr/>
          <p:nvPr/>
        </p:nvGrpSpPr>
        <p:grpSpPr>
          <a:xfrm>
            <a:off x="457200" y="4714920"/>
            <a:ext cx="11276280" cy="398880"/>
            <a:chOff x="457200" y="4714920"/>
            <a:chExt cx="11276280" cy="398880"/>
          </a:xfrm>
        </p:grpSpPr>
        <p:sp>
          <p:nvSpPr>
            <p:cNvPr id="722" name="Google Shape;722;p26"/>
            <p:cNvSpPr/>
            <p:nvPr/>
          </p:nvSpPr>
          <p:spPr>
            <a:xfrm>
              <a:off x="457200" y="4714920"/>
              <a:ext cx="11276280" cy="398880"/>
            </a:xfrm>
            <a:prstGeom prst="rect">
              <a:avLst/>
            </a:prstGeom>
            <a:solidFill>
              <a:srgbClr val="EBF0F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3" name="Google Shape;723;p26"/>
            <p:cNvSpPr/>
            <p:nvPr/>
          </p:nvSpPr>
          <p:spPr>
            <a:xfrm>
              <a:off x="552600" y="4714920"/>
              <a:ext cx="2475000" cy="398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 i="0" u="none" strike="noStrike" cap="none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Security Hotspots (SonarQube)</a:t>
              </a:r>
              <a:endPara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4" name="Google Shape;724;p26"/>
            <p:cNvSpPr/>
            <p:nvPr/>
          </p:nvSpPr>
          <p:spPr>
            <a:xfrm>
              <a:off x="3238560" y="4714920"/>
              <a:ext cx="2760840" cy="398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u="none" strike="noStrike" cap="none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151</a:t>
              </a:r>
              <a:endPara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5" name="Google Shape;725;p26"/>
            <p:cNvSpPr/>
            <p:nvPr/>
          </p:nvSpPr>
          <p:spPr>
            <a:xfrm>
              <a:off x="6210360" y="4714920"/>
              <a:ext cx="1617840" cy="398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u="none" strike="noStrike" cap="none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6" name="Google Shape;726;p26"/>
            <p:cNvSpPr/>
            <p:nvPr/>
          </p:nvSpPr>
          <p:spPr>
            <a:xfrm>
              <a:off x="7943760" y="4714920"/>
              <a:ext cx="3694320" cy="398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u="none" strike="noStrike" cap="none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Systematische Prüfung</a:t>
              </a:r>
              <a:endPara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7" name="Google Shape;727;p26"/>
          <p:cNvGrpSpPr/>
          <p:nvPr/>
        </p:nvGrpSpPr>
        <p:grpSpPr>
          <a:xfrm>
            <a:off x="452520" y="5281560"/>
            <a:ext cx="11285640" cy="1055880"/>
            <a:chOff x="452520" y="5281560"/>
            <a:chExt cx="11285640" cy="1055880"/>
          </a:xfrm>
        </p:grpSpPr>
        <p:pic>
          <p:nvPicPr>
            <p:cNvPr id="728" name="Google Shape;728;p2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52520" y="5281560"/>
              <a:ext cx="11285640" cy="10558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9" name="Google Shape;729;p26"/>
            <p:cNvSpPr/>
            <p:nvPr/>
          </p:nvSpPr>
          <p:spPr>
            <a:xfrm>
              <a:off x="647640" y="5381640"/>
              <a:ext cx="10895040" cy="8560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50" b="1" i="0" u="none" strike="noStrike" cap="none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Fazit:</a:t>
              </a:r>
              <a:r>
                <a:rPr lang="en-US" sz="1450" b="0" i="0" u="none" strike="noStrike" cap="none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 Die Baseline des alten Systems zeigt erheblichen Refaktorisierungsbedarf bei Kopplung, Kohäsion und Sicherheit. Durch die Erhebung der Metriken auf dem neuen Prototyp wird der direkte Erfolg der Architektur-Verbesserungen messbar und man kann eine iterative Verbesserung anstreben.</a:t>
              </a:r>
              <a:endParaRPr sz="145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30" name="Google Shape;730;p26"/>
          <p:cNvSpPr/>
          <p:nvPr/>
        </p:nvSpPr>
        <p:spPr>
          <a:xfrm>
            <a:off x="457200" y="6528600"/>
            <a:ext cx="7311960" cy="25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FH_MA Modernisierung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26"/>
          <p:cNvSpPr/>
          <p:nvPr/>
        </p:nvSpPr>
        <p:spPr>
          <a:xfrm>
            <a:off x="11368800" y="6528960"/>
            <a:ext cx="363000" cy="2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27"/>
          <p:cNvSpPr/>
          <p:nvPr/>
        </p:nvSpPr>
        <p:spPr>
          <a:xfrm>
            <a:off x="640080" y="2651760"/>
            <a:ext cx="253200" cy="7743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27"/>
          <p:cNvSpPr/>
          <p:nvPr/>
        </p:nvSpPr>
        <p:spPr>
          <a:xfrm>
            <a:off x="1097280" y="2651760"/>
            <a:ext cx="253200" cy="6099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27"/>
          <p:cNvSpPr/>
          <p:nvPr/>
        </p:nvSpPr>
        <p:spPr>
          <a:xfrm>
            <a:off x="1554480" y="2651760"/>
            <a:ext cx="253200" cy="4452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27"/>
          <p:cNvSpPr/>
          <p:nvPr/>
        </p:nvSpPr>
        <p:spPr>
          <a:xfrm>
            <a:off x="640080" y="3657600"/>
            <a:ext cx="9141000" cy="7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Demo</a:t>
            </a:r>
            <a:endParaRPr sz="3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28"/>
          <p:cNvSpPr/>
          <p:nvPr/>
        </p:nvSpPr>
        <p:spPr>
          <a:xfrm>
            <a:off x="640080" y="2651760"/>
            <a:ext cx="253080" cy="7743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28"/>
          <p:cNvSpPr/>
          <p:nvPr/>
        </p:nvSpPr>
        <p:spPr>
          <a:xfrm>
            <a:off x="1097280" y="2651760"/>
            <a:ext cx="253080" cy="6098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28"/>
          <p:cNvSpPr/>
          <p:nvPr/>
        </p:nvSpPr>
        <p:spPr>
          <a:xfrm>
            <a:off x="1554480" y="2651760"/>
            <a:ext cx="253080" cy="4453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28"/>
          <p:cNvSpPr/>
          <p:nvPr/>
        </p:nvSpPr>
        <p:spPr>
          <a:xfrm>
            <a:off x="640080" y="3657600"/>
            <a:ext cx="9141120" cy="72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Danke für Eure Aufmerksamkeit</a:t>
            </a:r>
            <a:endParaRPr sz="3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28"/>
          <p:cNvSpPr/>
          <p:nvPr/>
        </p:nvSpPr>
        <p:spPr>
          <a:xfrm>
            <a:off x="640080" y="4343400"/>
            <a:ext cx="8226720" cy="36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Fragen zur Architektur oder den ADRs?</a:t>
            </a: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28"/>
          <p:cNvSpPr/>
          <p:nvPr/>
        </p:nvSpPr>
        <p:spPr>
          <a:xfrm>
            <a:off x="640080" y="6126480"/>
            <a:ext cx="9141120" cy="27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8FB3E0"/>
                </a:solidFill>
                <a:latin typeface="Calibri"/>
                <a:ea typeface="Calibri"/>
                <a:cs typeface="Calibri"/>
                <a:sym typeface="Calibri"/>
              </a:rPr>
              <a:t>Referenzen: 03-architektur/01-requirements.md · 03-architektur/adrs/001–006</a:t>
            </a:r>
            <a:endParaRPr sz="1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2925fcb9-5f0a-4d2f-a75f-4baac0d45eed}" enabled="1" method="Privileged" siteId="{00963855-d4d7-4b1b-81ba-6607a092c38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1352</Words>
  <Application>Microsoft Office PowerPoint</Application>
  <PresentationFormat>Breitbild</PresentationFormat>
  <Paragraphs>324</Paragraphs>
  <Slides>17</Slides>
  <Notes>17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3</vt:i4>
      </vt:variant>
      <vt:variant>
        <vt:lpstr>Folientitel</vt:lpstr>
      </vt:variant>
      <vt:variant>
        <vt:i4>17</vt:i4>
      </vt:variant>
    </vt:vector>
  </HeadingPairs>
  <TitlesOfParts>
    <vt:vector size="24" baseType="lpstr">
      <vt:lpstr>Arial</vt:lpstr>
      <vt:lpstr>Calibri</vt:lpstr>
      <vt:lpstr>Cambria</vt:lpstr>
      <vt:lpstr>Noto Sans Symbols</vt:lpstr>
      <vt:lpstr>Office Theme</vt:lpstr>
      <vt:lpstr>Office Theme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Faller. Paul-Louis</cp:lastModifiedBy>
  <cp:revision>1</cp:revision>
  <dcterms:modified xsi:type="dcterms:W3CDTF">2026-08-15T18:40:19Z</dcterms:modified>
</cp:coreProperties>
</file>